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chart>
    <c:plotArea>
      <c:scatterChart>
        <c:scatterStyle val="smoothMarker"/>
        <c:varyColors val="0"/>
        <c:ser>
          <c:idx val="0"/>
          <c:order val="0"/>
          <c:tx>
            <c:strRef>
              <c:f>Sheet1!$B$1</c:f>
              <c:strCache>
                <c:ptCount val="1"/>
                <c:pt idx="0">
                  <c:v>Tanker and tanker</c:v>
                </c:pt>
              </c:strCache>
            </c:strRef>
          </c:tx>
          <c:spPr>
            <a:ln w="28575">
              <a:solidFill>
                <a:srgbClr val="1FA7B8"/>
              </a:solidFill>
            </a:ln>
          </c:spPr>
          <c:marker>
            <c:symbol val="none"/>
          </c:marker>
          <c:xVal>
            <c:numRef>
              <c:f>Sheet1!$A$2:$A$50</c:f>
              <c:numCache>
                <c:formatCode>General</c:formatCode>
                <c:ptCount val="49"/>
                <c:pt idx="0">
                  <c:v>0.0</c:v>
                </c:pt>
                <c:pt idx="1">
                  <c:v>0.25</c:v>
                </c:pt>
                <c:pt idx="2">
                  <c:v>0.5</c:v>
                </c:pt>
                <c:pt idx="3">
                  <c:v>0.75</c:v>
                </c:pt>
                <c:pt idx="4">
                  <c:v>1.0</c:v>
                </c:pt>
                <c:pt idx="5">
                  <c:v>1.25</c:v>
                </c:pt>
                <c:pt idx="6">
                  <c:v>1.5</c:v>
                </c:pt>
                <c:pt idx="7">
                  <c:v>1.75</c:v>
                </c:pt>
                <c:pt idx="8">
                  <c:v>2.0</c:v>
                </c:pt>
                <c:pt idx="9">
                  <c:v>2.25</c:v>
                </c:pt>
                <c:pt idx="10">
                  <c:v>2.5</c:v>
                </c:pt>
                <c:pt idx="11">
                  <c:v>2.75</c:v>
                </c:pt>
                <c:pt idx="12">
                  <c:v>3.0</c:v>
                </c:pt>
                <c:pt idx="13">
                  <c:v>3.25</c:v>
                </c:pt>
                <c:pt idx="14">
                  <c:v>3.5</c:v>
                </c:pt>
                <c:pt idx="15">
                  <c:v>3.75</c:v>
                </c:pt>
                <c:pt idx="16">
                  <c:v>4.0</c:v>
                </c:pt>
                <c:pt idx="17">
                  <c:v>4.25</c:v>
                </c:pt>
                <c:pt idx="18">
                  <c:v>4.5</c:v>
                </c:pt>
                <c:pt idx="19">
                  <c:v>4.75</c:v>
                </c:pt>
                <c:pt idx="20">
                  <c:v>5.0</c:v>
                </c:pt>
                <c:pt idx="21">
                  <c:v>5.25</c:v>
                </c:pt>
                <c:pt idx="22">
                  <c:v>5.5</c:v>
                </c:pt>
                <c:pt idx="23">
                  <c:v>5.75</c:v>
                </c:pt>
                <c:pt idx="24">
                  <c:v>6.0</c:v>
                </c:pt>
                <c:pt idx="25">
                  <c:v>6.25</c:v>
                </c:pt>
                <c:pt idx="26">
                  <c:v>6.5</c:v>
                </c:pt>
                <c:pt idx="27">
                  <c:v>6.75</c:v>
                </c:pt>
                <c:pt idx="28">
                  <c:v>7.0</c:v>
                </c:pt>
                <c:pt idx="29">
                  <c:v>7.25</c:v>
                </c:pt>
                <c:pt idx="30">
                  <c:v>7.5</c:v>
                </c:pt>
                <c:pt idx="31">
                  <c:v>7.75</c:v>
                </c:pt>
                <c:pt idx="32">
                  <c:v>8.0</c:v>
                </c:pt>
                <c:pt idx="33">
                  <c:v>8.25</c:v>
                </c:pt>
                <c:pt idx="34">
                  <c:v>8.5</c:v>
                </c:pt>
                <c:pt idx="35">
                  <c:v>8.75</c:v>
                </c:pt>
                <c:pt idx="36">
                  <c:v>9.0</c:v>
                </c:pt>
                <c:pt idx="37">
                  <c:v>9.25</c:v>
                </c:pt>
                <c:pt idx="38">
                  <c:v>9.5</c:v>
                </c:pt>
                <c:pt idx="39">
                  <c:v>9.75</c:v>
                </c:pt>
                <c:pt idx="40">
                  <c:v>10.0</c:v>
                </c:pt>
                <c:pt idx="41">
                  <c:v>10.25</c:v>
                </c:pt>
                <c:pt idx="42">
                  <c:v>10.5</c:v>
                </c:pt>
                <c:pt idx="43">
                  <c:v>10.75</c:v>
                </c:pt>
                <c:pt idx="44">
                  <c:v>11.0</c:v>
                </c:pt>
                <c:pt idx="45">
                  <c:v>11.25</c:v>
                </c:pt>
                <c:pt idx="46">
                  <c:v>11.5</c:v>
                </c:pt>
                <c:pt idx="47">
                  <c:v>11.75</c:v>
                </c:pt>
                <c:pt idx="48">
                  <c:v>12.0</c:v>
                </c:pt>
              </c:numCache>
            </c:numRef>
          </c:xVal>
          <c:yVal>
            <c:numRef>
              <c:f>Sheet1!$B$2:$B$50</c:f>
              <c:numCache>
                <c:formatCode>General</c:formatCode>
                <c:ptCount val="49"/>
                <c:pt idx="0">
                  <c:v>2.5</c:v>
                </c:pt>
                <c:pt idx="1">
                  <c:v>2.946</c:v>
                </c:pt>
                <c:pt idx="2">
                  <c:v>3.311</c:v>
                </c:pt>
                <c:pt idx="3">
                  <c:v>3.619</c:v>
                </c:pt>
                <c:pt idx="4">
                  <c:v>3.886</c:v>
                </c:pt>
                <c:pt idx="5">
                  <c:v>4.122</c:v>
                </c:pt>
                <c:pt idx="6">
                  <c:v>4.333</c:v>
                </c:pt>
                <c:pt idx="7">
                  <c:v>4.523</c:v>
                </c:pt>
                <c:pt idx="8">
                  <c:v>4.697</c:v>
                </c:pt>
                <c:pt idx="9">
                  <c:v>4.857</c:v>
                </c:pt>
                <c:pt idx="10">
                  <c:v>5.006</c:v>
                </c:pt>
                <c:pt idx="11">
                  <c:v>5.144</c:v>
                </c:pt>
                <c:pt idx="12">
                  <c:v>5.273</c:v>
                </c:pt>
                <c:pt idx="13">
                  <c:v>5.394</c:v>
                </c:pt>
                <c:pt idx="14">
                  <c:v>5.508</c:v>
                </c:pt>
                <c:pt idx="15">
                  <c:v>5.616</c:v>
                </c:pt>
                <c:pt idx="16">
                  <c:v>5.719</c:v>
                </c:pt>
                <c:pt idx="17">
                  <c:v>5.816</c:v>
                </c:pt>
                <c:pt idx="18">
                  <c:v>5.909</c:v>
                </c:pt>
                <c:pt idx="19">
                  <c:v>5.998</c:v>
                </c:pt>
                <c:pt idx="20">
                  <c:v>6.084</c:v>
                </c:pt>
                <c:pt idx="21">
                  <c:v>6.165</c:v>
                </c:pt>
                <c:pt idx="22">
                  <c:v>6.244</c:v>
                </c:pt>
                <c:pt idx="23">
                  <c:v>6.319</c:v>
                </c:pt>
                <c:pt idx="24">
                  <c:v>6.392</c:v>
                </c:pt>
                <c:pt idx="25">
                  <c:v>6.462</c:v>
                </c:pt>
                <c:pt idx="26">
                  <c:v>6.53</c:v>
                </c:pt>
                <c:pt idx="27">
                  <c:v>6.595</c:v>
                </c:pt>
                <c:pt idx="28">
                  <c:v>6.659</c:v>
                </c:pt>
                <c:pt idx="29">
                  <c:v>6.72</c:v>
                </c:pt>
                <c:pt idx="30">
                  <c:v>6.78</c:v>
                </c:pt>
                <c:pt idx="31">
                  <c:v>6.838</c:v>
                </c:pt>
                <c:pt idx="32">
                  <c:v>6.894</c:v>
                </c:pt>
                <c:pt idx="33">
                  <c:v>6.949</c:v>
                </c:pt>
                <c:pt idx="34">
                  <c:v>7.003</c:v>
                </c:pt>
                <c:pt idx="35">
                  <c:v>7.055</c:v>
                </c:pt>
                <c:pt idx="36">
                  <c:v>7.105</c:v>
                </c:pt>
                <c:pt idx="37">
                  <c:v>7.155</c:v>
                </c:pt>
                <c:pt idx="38">
                  <c:v>7.203</c:v>
                </c:pt>
                <c:pt idx="39">
                  <c:v>7.25</c:v>
                </c:pt>
                <c:pt idx="40">
                  <c:v>7.296</c:v>
                </c:pt>
                <c:pt idx="41">
                  <c:v>7.341</c:v>
                </c:pt>
                <c:pt idx="42">
                  <c:v>7.385</c:v>
                </c:pt>
                <c:pt idx="43">
                  <c:v>7.428</c:v>
                </c:pt>
                <c:pt idx="44">
                  <c:v>7.47</c:v>
                </c:pt>
                <c:pt idx="45">
                  <c:v>7.511</c:v>
                </c:pt>
                <c:pt idx="46">
                  <c:v>7.551</c:v>
                </c:pt>
                <c:pt idx="47">
                  <c:v>7.591</c:v>
                </c:pt>
                <c:pt idx="48">
                  <c:v>7.63</c:v>
                </c:pt>
              </c:numCache>
            </c:numRef>
          </c:yVal>
          <c:smooth val="0"/>
        </c:ser>
        <c:ser>
          <c:idx val="1"/>
          <c:order val="1"/>
          <c:tx>
            <c:strRef>
              <c:f>Sheet1!$B$52</c:f>
              <c:strCache>
                <c:ptCount val="1"/>
                <c:pt idx="0">
                  <c:v>Cargo and cargo</c:v>
                </c:pt>
              </c:strCache>
            </c:strRef>
          </c:tx>
          <c:spPr>
            <a:ln w="28575">
              <a:solidFill>
                <a:srgbClr val="C4A35A"/>
              </a:solidFill>
            </a:ln>
          </c:spPr>
          <c:marker>
            <c:symbol val="none"/>
          </c:marker>
          <c:xVal>
            <c:numRef>
              <c:f>Sheet1!$A$53:$A$101</c:f>
              <c:numCache>
                <c:formatCode>General</c:formatCode>
                <c:ptCount val="49"/>
                <c:pt idx="0">
                  <c:v>0.0</c:v>
                </c:pt>
                <c:pt idx="1">
                  <c:v>0.25</c:v>
                </c:pt>
                <c:pt idx="2">
                  <c:v>0.5</c:v>
                </c:pt>
                <c:pt idx="3">
                  <c:v>0.75</c:v>
                </c:pt>
                <c:pt idx="4">
                  <c:v>1.0</c:v>
                </c:pt>
                <c:pt idx="5">
                  <c:v>1.25</c:v>
                </c:pt>
                <c:pt idx="6">
                  <c:v>1.5</c:v>
                </c:pt>
                <c:pt idx="7">
                  <c:v>1.75</c:v>
                </c:pt>
                <c:pt idx="8">
                  <c:v>2.0</c:v>
                </c:pt>
                <c:pt idx="9">
                  <c:v>2.25</c:v>
                </c:pt>
                <c:pt idx="10">
                  <c:v>2.5</c:v>
                </c:pt>
                <c:pt idx="11">
                  <c:v>2.75</c:v>
                </c:pt>
                <c:pt idx="12">
                  <c:v>3.0</c:v>
                </c:pt>
                <c:pt idx="13">
                  <c:v>3.25</c:v>
                </c:pt>
                <c:pt idx="14">
                  <c:v>3.5</c:v>
                </c:pt>
                <c:pt idx="15">
                  <c:v>3.75</c:v>
                </c:pt>
                <c:pt idx="16">
                  <c:v>4.0</c:v>
                </c:pt>
                <c:pt idx="17">
                  <c:v>4.25</c:v>
                </c:pt>
                <c:pt idx="18">
                  <c:v>4.5</c:v>
                </c:pt>
                <c:pt idx="19">
                  <c:v>4.75</c:v>
                </c:pt>
                <c:pt idx="20">
                  <c:v>5.0</c:v>
                </c:pt>
                <c:pt idx="21">
                  <c:v>5.25</c:v>
                </c:pt>
                <c:pt idx="22">
                  <c:v>5.5</c:v>
                </c:pt>
                <c:pt idx="23">
                  <c:v>5.75</c:v>
                </c:pt>
                <c:pt idx="24">
                  <c:v>6.0</c:v>
                </c:pt>
                <c:pt idx="25">
                  <c:v>6.25</c:v>
                </c:pt>
                <c:pt idx="26">
                  <c:v>6.5</c:v>
                </c:pt>
                <c:pt idx="27">
                  <c:v>6.75</c:v>
                </c:pt>
                <c:pt idx="28">
                  <c:v>7.0</c:v>
                </c:pt>
                <c:pt idx="29">
                  <c:v>7.25</c:v>
                </c:pt>
                <c:pt idx="30">
                  <c:v>7.5</c:v>
                </c:pt>
                <c:pt idx="31">
                  <c:v>7.75</c:v>
                </c:pt>
                <c:pt idx="32">
                  <c:v>8.0</c:v>
                </c:pt>
                <c:pt idx="33">
                  <c:v>8.25</c:v>
                </c:pt>
                <c:pt idx="34">
                  <c:v>8.5</c:v>
                </c:pt>
                <c:pt idx="35">
                  <c:v>8.75</c:v>
                </c:pt>
                <c:pt idx="36">
                  <c:v>9.0</c:v>
                </c:pt>
                <c:pt idx="37">
                  <c:v>9.25</c:v>
                </c:pt>
                <c:pt idx="38">
                  <c:v>9.5</c:v>
                </c:pt>
                <c:pt idx="39">
                  <c:v>9.75</c:v>
                </c:pt>
                <c:pt idx="40">
                  <c:v>10.0</c:v>
                </c:pt>
                <c:pt idx="41">
                  <c:v>10.25</c:v>
                </c:pt>
                <c:pt idx="42">
                  <c:v>10.5</c:v>
                </c:pt>
                <c:pt idx="43">
                  <c:v>10.75</c:v>
                </c:pt>
                <c:pt idx="44">
                  <c:v>11.0</c:v>
                </c:pt>
                <c:pt idx="45">
                  <c:v>11.25</c:v>
                </c:pt>
                <c:pt idx="46">
                  <c:v>11.5</c:v>
                </c:pt>
                <c:pt idx="47">
                  <c:v>11.75</c:v>
                </c:pt>
                <c:pt idx="48">
                  <c:v>12.0</c:v>
                </c:pt>
              </c:numCache>
            </c:numRef>
          </c:xVal>
          <c:yVal>
            <c:numRef>
              <c:f>Sheet1!$B$53:$B$101</c:f>
              <c:numCache>
                <c:formatCode>General</c:formatCode>
                <c:ptCount val="49"/>
                <c:pt idx="0">
                  <c:v>1.75</c:v>
                </c:pt>
                <c:pt idx="1">
                  <c:v>2.196</c:v>
                </c:pt>
                <c:pt idx="2">
                  <c:v>2.561</c:v>
                </c:pt>
                <c:pt idx="3">
                  <c:v>2.869</c:v>
                </c:pt>
                <c:pt idx="4">
                  <c:v>3.136</c:v>
                </c:pt>
                <c:pt idx="5">
                  <c:v>3.372</c:v>
                </c:pt>
                <c:pt idx="6">
                  <c:v>3.583</c:v>
                </c:pt>
                <c:pt idx="7">
                  <c:v>3.773</c:v>
                </c:pt>
                <c:pt idx="8">
                  <c:v>3.947</c:v>
                </c:pt>
                <c:pt idx="9">
                  <c:v>4.107</c:v>
                </c:pt>
                <c:pt idx="10">
                  <c:v>4.256</c:v>
                </c:pt>
                <c:pt idx="11">
                  <c:v>4.394</c:v>
                </c:pt>
                <c:pt idx="12">
                  <c:v>4.523</c:v>
                </c:pt>
                <c:pt idx="13">
                  <c:v>4.644</c:v>
                </c:pt>
                <c:pt idx="14">
                  <c:v>4.758</c:v>
                </c:pt>
                <c:pt idx="15">
                  <c:v>4.866</c:v>
                </c:pt>
                <c:pt idx="16">
                  <c:v>4.969</c:v>
                </c:pt>
                <c:pt idx="17">
                  <c:v>5.066</c:v>
                </c:pt>
                <c:pt idx="18">
                  <c:v>5.159</c:v>
                </c:pt>
                <c:pt idx="19">
                  <c:v>5.248</c:v>
                </c:pt>
                <c:pt idx="20">
                  <c:v>5.334</c:v>
                </c:pt>
                <c:pt idx="21">
                  <c:v>5.415</c:v>
                </c:pt>
                <c:pt idx="22">
                  <c:v>5.494</c:v>
                </c:pt>
                <c:pt idx="23">
                  <c:v>5.569</c:v>
                </c:pt>
                <c:pt idx="24">
                  <c:v>5.642</c:v>
                </c:pt>
                <c:pt idx="25">
                  <c:v>5.712</c:v>
                </c:pt>
                <c:pt idx="26">
                  <c:v>5.78</c:v>
                </c:pt>
                <c:pt idx="27">
                  <c:v>5.845</c:v>
                </c:pt>
                <c:pt idx="28">
                  <c:v>5.909</c:v>
                </c:pt>
                <c:pt idx="29">
                  <c:v>5.97</c:v>
                </c:pt>
                <c:pt idx="30">
                  <c:v>6.03</c:v>
                </c:pt>
                <c:pt idx="31">
                  <c:v>6.088</c:v>
                </c:pt>
                <c:pt idx="32">
                  <c:v>6.144</c:v>
                </c:pt>
                <c:pt idx="33">
                  <c:v>6.199</c:v>
                </c:pt>
                <c:pt idx="34">
                  <c:v>6.253</c:v>
                </c:pt>
                <c:pt idx="35">
                  <c:v>6.305</c:v>
                </c:pt>
                <c:pt idx="36">
                  <c:v>6.355</c:v>
                </c:pt>
                <c:pt idx="37">
                  <c:v>6.405</c:v>
                </c:pt>
                <c:pt idx="38">
                  <c:v>6.453</c:v>
                </c:pt>
                <c:pt idx="39">
                  <c:v>6.5</c:v>
                </c:pt>
                <c:pt idx="40">
                  <c:v>6.546</c:v>
                </c:pt>
                <c:pt idx="41">
                  <c:v>6.591</c:v>
                </c:pt>
                <c:pt idx="42">
                  <c:v>6.635</c:v>
                </c:pt>
                <c:pt idx="43">
                  <c:v>6.678</c:v>
                </c:pt>
                <c:pt idx="44">
                  <c:v>6.72</c:v>
                </c:pt>
                <c:pt idx="45">
                  <c:v>6.761</c:v>
                </c:pt>
                <c:pt idx="46">
                  <c:v>6.801</c:v>
                </c:pt>
                <c:pt idx="47">
                  <c:v>6.841</c:v>
                </c:pt>
                <c:pt idx="48">
                  <c:v>6.88</c:v>
                </c:pt>
              </c:numCache>
            </c:numRef>
          </c:yVal>
          <c:smooth val="0"/>
        </c:ser>
        <c:ser>
          <c:idx val="2"/>
          <c:order val="2"/>
          <c:tx>
            <c:strRef>
              <c:f>Sheet1!$B$103</c:f>
              <c:strCache>
                <c:ptCount val="1"/>
                <c:pt idx="0">
                  <c:v>Cargo and tanker</c:v>
                </c:pt>
              </c:strCache>
            </c:strRef>
          </c:tx>
          <c:spPr>
            <a:ln w="28575">
              <a:solidFill>
                <a:srgbClr val="0A1628"/>
              </a:solidFill>
            </a:ln>
          </c:spPr>
          <c:marker>
            <c:symbol val="none"/>
          </c:marker>
          <c:xVal>
            <c:numRef>
              <c:f>Sheet1!$A$104:$A$152</c:f>
              <c:numCache>
                <c:formatCode>General</c:formatCode>
                <c:ptCount val="49"/>
                <c:pt idx="0">
                  <c:v>0.0</c:v>
                </c:pt>
                <c:pt idx="1">
                  <c:v>0.25</c:v>
                </c:pt>
                <c:pt idx="2">
                  <c:v>0.5</c:v>
                </c:pt>
                <c:pt idx="3">
                  <c:v>0.75</c:v>
                </c:pt>
                <c:pt idx="4">
                  <c:v>1.0</c:v>
                </c:pt>
                <c:pt idx="5">
                  <c:v>1.25</c:v>
                </c:pt>
                <c:pt idx="6">
                  <c:v>1.5</c:v>
                </c:pt>
                <c:pt idx="7">
                  <c:v>1.75</c:v>
                </c:pt>
                <c:pt idx="8">
                  <c:v>2.0</c:v>
                </c:pt>
                <c:pt idx="9">
                  <c:v>2.25</c:v>
                </c:pt>
                <c:pt idx="10">
                  <c:v>2.5</c:v>
                </c:pt>
                <c:pt idx="11">
                  <c:v>2.75</c:v>
                </c:pt>
                <c:pt idx="12">
                  <c:v>3.0</c:v>
                </c:pt>
                <c:pt idx="13">
                  <c:v>3.25</c:v>
                </c:pt>
                <c:pt idx="14">
                  <c:v>3.5</c:v>
                </c:pt>
                <c:pt idx="15">
                  <c:v>3.75</c:v>
                </c:pt>
                <c:pt idx="16">
                  <c:v>4.0</c:v>
                </c:pt>
                <c:pt idx="17">
                  <c:v>4.25</c:v>
                </c:pt>
                <c:pt idx="18">
                  <c:v>4.5</c:v>
                </c:pt>
                <c:pt idx="19">
                  <c:v>4.75</c:v>
                </c:pt>
                <c:pt idx="20">
                  <c:v>5.0</c:v>
                </c:pt>
                <c:pt idx="21">
                  <c:v>5.25</c:v>
                </c:pt>
                <c:pt idx="22">
                  <c:v>5.5</c:v>
                </c:pt>
                <c:pt idx="23">
                  <c:v>5.75</c:v>
                </c:pt>
                <c:pt idx="24">
                  <c:v>6.0</c:v>
                </c:pt>
                <c:pt idx="25">
                  <c:v>6.25</c:v>
                </c:pt>
                <c:pt idx="26">
                  <c:v>6.5</c:v>
                </c:pt>
                <c:pt idx="27">
                  <c:v>6.75</c:v>
                </c:pt>
                <c:pt idx="28">
                  <c:v>7.0</c:v>
                </c:pt>
                <c:pt idx="29">
                  <c:v>7.25</c:v>
                </c:pt>
                <c:pt idx="30">
                  <c:v>7.5</c:v>
                </c:pt>
                <c:pt idx="31">
                  <c:v>7.75</c:v>
                </c:pt>
                <c:pt idx="32">
                  <c:v>8.0</c:v>
                </c:pt>
                <c:pt idx="33">
                  <c:v>8.25</c:v>
                </c:pt>
                <c:pt idx="34">
                  <c:v>8.5</c:v>
                </c:pt>
                <c:pt idx="35">
                  <c:v>8.75</c:v>
                </c:pt>
                <c:pt idx="36">
                  <c:v>9.0</c:v>
                </c:pt>
                <c:pt idx="37">
                  <c:v>9.25</c:v>
                </c:pt>
                <c:pt idx="38">
                  <c:v>9.5</c:v>
                </c:pt>
                <c:pt idx="39">
                  <c:v>9.75</c:v>
                </c:pt>
                <c:pt idx="40">
                  <c:v>10.0</c:v>
                </c:pt>
                <c:pt idx="41">
                  <c:v>10.25</c:v>
                </c:pt>
                <c:pt idx="42">
                  <c:v>10.5</c:v>
                </c:pt>
                <c:pt idx="43">
                  <c:v>10.75</c:v>
                </c:pt>
                <c:pt idx="44">
                  <c:v>11.0</c:v>
                </c:pt>
                <c:pt idx="45">
                  <c:v>11.25</c:v>
                </c:pt>
                <c:pt idx="46">
                  <c:v>11.5</c:v>
                </c:pt>
                <c:pt idx="47">
                  <c:v>11.75</c:v>
                </c:pt>
                <c:pt idx="48">
                  <c:v>12.0</c:v>
                </c:pt>
              </c:numCache>
            </c:numRef>
          </c:xVal>
          <c:yVal>
            <c:numRef>
              <c:f>Sheet1!$B$104:$B$152</c:f>
              <c:numCache>
                <c:formatCode>General</c:formatCode>
                <c:ptCount val="49"/>
                <c:pt idx="0">
                  <c:v>1.0</c:v>
                </c:pt>
                <c:pt idx="1">
                  <c:v>1.446</c:v>
                </c:pt>
                <c:pt idx="2">
                  <c:v>1.811</c:v>
                </c:pt>
                <c:pt idx="3">
                  <c:v>2.119</c:v>
                </c:pt>
                <c:pt idx="4">
                  <c:v>2.386</c:v>
                </c:pt>
                <c:pt idx="5">
                  <c:v>2.622</c:v>
                </c:pt>
                <c:pt idx="6">
                  <c:v>2.833</c:v>
                </c:pt>
                <c:pt idx="7">
                  <c:v>3.023</c:v>
                </c:pt>
                <c:pt idx="8">
                  <c:v>3.197</c:v>
                </c:pt>
                <c:pt idx="9">
                  <c:v>3.357</c:v>
                </c:pt>
                <c:pt idx="10">
                  <c:v>3.506</c:v>
                </c:pt>
                <c:pt idx="11">
                  <c:v>3.644</c:v>
                </c:pt>
                <c:pt idx="12">
                  <c:v>3.773</c:v>
                </c:pt>
                <c:pt idx="13">
                  <c:v>3.894</c:v>
                </c:pt>
                <c:pt idx="14">
                  <c:v>4.008</c:v>
                </c:pt>
                <c:pt idx="15">
                  <c:v>4.116</c:v>
                </c:pt>
                <c:pt idx="16">
                  <c:v>4.219</c:v>
                </c:pt>
                <c:pt idx="17">
                  <c:v>4.316</c:v>
                </c:pt>
                <c:pt idx="18">
                  <c:v>4.409</c:v>
                </c:pt>
                <c:pt idx="19">
                  <c:v>4.498</c:v>
                </c:pt>
                <c:pt idx="20">
                  <c:v>4.584</c:v>
                </c:pt>
                <c:pt idx="21">
                  <c:v>4.665</c:v>
                </c:pt>
                <c:pt idx="22">
                  <c:v>4.744</c:v>
                </c:pt>
                <c:pt idx="23">
                  <c:v>4.819</c:v>
                </c:pt>
                <c:pt idx="24">
                  <c:v>4.892</c:v>
                </c:pt>
                <c:pt idx="25">
                  <c:v>4.962</c:v>
                </c:pt>
                <c:pt idx="26">
                  <c:v>5.03</c:v>
                </c:pt>
                <c:pt idx="27">
                  <c:v>5.095</c:v>
                </c:pt>
                <c:pt idx="28">
                  <c:v>5.159</c:v>
                </c:pt>
                <c:pt idx="29">
                  <c:v>5.22</c:v>
                </c:pt>
                <c:pt idx="30">
                  <c:v>5.28</c:v>
                </c:pt>
                <c:pt idx="31">
                  <c:v>5.338</c:v>
                </c:pt>
                <c:pt idx="32">
                  <c:v>5.394</c:v>
                </c:pt>
                <c:pt idx="33">
                  <c:v>5.449</c:v>
                </c:pt>
                <c:pt idx="34">
                  <c:v>5.503</c:v>
                </c:pt>
                <c:pt idx="35">
                  <c:v>5.555</c:v>
                </c:pt>
                <c:pt idx="36">
                  <c:v>5.605</c:v>
                </c:pt>
                <c:pt idx="37">
                  <c:v>5.655</c:v>
                </c:pt>
                <c:pt idx="38">
                  <c:v>5.703</c:v>
                </c:pt>
                <c:pt idx="39">
                  <c:v>5.75</c:v>
                </c:pt>
                <c:pt idx="40">
                  <c:v>5.796</c:v>
                </c:pt>
                <c:pt idx="41">
                  <c:v>5.841</c:v>
                </c:pt>
                <c:pt idx="42">
                  <c:v>5.885</c:v>
                </c:pt>
                <c:pt idx="43">
                  <c:v>5.928</c:v>
                </c:pt>
                <c:pt idx="44">
                  <c:v>5.97</c:v>
                </c:pt>
                <c:pt idx="45">
                  <c:v>6.011</c:v>
                </c:pt>
                <c:pt idx="46">
                  <c:v>6.051</c:v>
                </c:pt>
                <c:pt idx="47">
                  <c:v>6.091</c:v>
                </c:pt>
                <c:pt idx="48">
                  <c:v>6.13</c:v>
                </c:pt>
              </c:numCache>
            </c:numRef>
          </c:yVal>
          <c:smooth val="0"/>
        </c:ser>
        <c:ser>
          <c:idx val="3"/>
          <c:order val="3"/>
          <c:tx>
            <c:strRef>
              <c:f>Sheet1!$B$154</c:f>
              <c:strCache>
                <c:ptCount val="1"/>
                <c:pt idx="0">
                  <c:v>Review threshold (4.5)</c:v>
                </c:pt>
              </c:strCache>
            </c:strRef>
          </c:tx>
          <c:spPr>
            <a:ln w="19050">
              <a:solidFill>
                <a:srgbClr val="C24B4B"/>
              </a:solidFill>
              <a:prstDash val="dash"/>
            </a:ln>
          </c:spPr>
          <c:marker>
            <c:symbol val="none"/>
          </c:marker>
          <c:xVal>
            <c:numRef>
              <c:f>Sheet1!$A$155:$A$156</c:f>
              <c:numCache>
                <c:formatCode>General</c:formatCode>
                <c:ptCount val="2"/>
                <c:pt idx="0">
                  <c:v>0</c:v>
                </c:pt>
                <c:pt idx="1">
                  <c:v>12</c:v>
                </c:pt>
              </c:numCache>
            </c:numRef>
          </c:xVal>
          <c:yVal>
            <c:numRef>
              <c:f>Sheet1!$B$155:$B$156</c:f>
              <c:numCache>
                <c:formatCode>General</c:formatCode>
                <c:ptCount val="2"/>
                <c:pt idx="0">
                  <c:v>4.5</c:v>
                </c:pt>
                <c:pt idx="1">
                  <c:v>4.5</c:v>
                </c:pt>
              </c:numCache>
            </c:numRef>
          </c:yVal>
          <c:smooth val="0"/>
        </c:ser>
        <c:axId val="-2128940872"/>
        <c:axId val="-2129643912"/>
      </c:scatterChart>
      <c:valAx>
        <c:axId val="-2128940872"/>
        <c:scaling>
          <c:orientation val="minMax"/>
          <c:max val="12.0"/>
          <c:min val="0.0"/>
        </c:scaling>
        <c:delete val="0"/>
        <c:axPos val="b"/>
        <c:title>
          <c:tx>
            <c:rich>
              <a:bodyPr/>
              <a:lstStyle/>
              <a:p>
                <a:r>
                  <a:rPr sz="1100" b="0">
                    <a:solidFill>
                      <a:srgbClr val="5C6874"/>
                    </a:solidFill>
                  </a:rPr>
                  <a:t>Hours alongside</a:t>
                </a:r>
              </a:p>
            </c:rich>
          </c:tx>
          <c:layout/>
          <c:overlay val="0"/>
        </c:title>
        <c:numFmt formatCode="General" sourceLinked="1"/>
        <c:majorTickMark val="out"/>
        <c:minorTickMark val="none"/>
        <c:tickLblPos val="nextTo"/>
        <c:spPr>
          <a:ln>
            <a:solidFill>
              <a:srgbClr val="E3DDD2"/>
            </a:solidFill>
          </a:ln>
        </c:spPr>
        <c:txPr>
          <a:bodyPr/>
          <a:lstStyle/>
          <a:p>
            <a:pPr>
              <a:defRPr sz="1000">
                <a:solidFill>
                  <a:srgbClr val="5C6874"/>
                </a:solidFill>
              </a:defRPr>
            </a:pPr>
          </a:p>
        </c:txPr>
        <c:crossAx val="-2129643912"/>
        <c:crosses val="autoZero"/>
        <c:crossBetween val="midCat"/>
        <c:majorUnit val="2.0"/>
      </c:valAx>
      <c:valAx>
        <c:axId val="-2129643912"/>
        <c:scaling>
          <c:orientation val="minMax"/>
          <c:max val="8.0"/>
          <c:min val="0.0"/>
        </c:scaling>
        <c:delete val="0"/>
        <c:axPos val="l"/>
        <c:majorGridlines>
          <c:spPr>
            <a:ln>
              <a:solidFill>
                <a:srgbClr val="E3DDD2"/>
              </a:solidFill>
            </a:ln>
          </c:spPr>
        </c:majorGridlines>
        <c:title>
          <c:tx>
            <c:rich>
              <a:bodyPr/>
              <a:lstStyle/>
              <a:p>
                <a:r>
                  <a:rPr sz="1100" b="0">
                    <a:solidFill>
                      <a:srgbClr val="5C6874"/>
                    </a:solidFill>
                  </a:rPr>
                  <a:t>Suspicion score</a:t>
                </a:r>
              </a:p>
            </c:rich>
          </c:tx>
          <c:layout/>
          <c:overlay val="0"/>
        </c:title>
        <c:numFmt formatCode="General" sourceLinked="1"/>
        <c:majorTickMark val="out"/>
        <c:minorTickMark val="none"/>
        <c:tickLblPos val="nextTo"/>
        <c:spPr>
          <a:ln>
            <a:solidFill>
              <a:srgbClr val="E3DDD2"/>
            </a:solidFill>
          </a:ln>
        </c:spPr>
        <c:txPr>
          <a:bodyPr/>
          <a:lstStyle/>
          <a:p>
            <a:pPr>
              <a:defRPr sz="1000">
                <a:solidFill>
                  <a:srgbClr val="5C6874"/>
                </a:solidFill>
              </a:defRPr>
            </a:pPr>
          </a:p>
        </c:txPr>
        <c:crossAx val="-2128940872"/>
        <c:crosses val="autoZero"/>
        <c:crossBetween val="midCat"/>
        <c:majorUnit val="1.0"/>
      </c:valAx>
    </c:plotArea>
    <c:legend>
      <c:legendPos val="b"/>
      <c:layout/>
      <c:overlay val="0"/>
      <c:txPr>
        <a:bodyPr/>
        <a:lstStyle/>
        <a:p>
          <a:pPr>
            <a:defRPr sz="1050">
              <a:solidFill>
                <a:srgbClr val="243140"/>
              </a:solidFill>
            </a:defRPr>
          </a:pPr>
        </a:p>
      </c:txPr>
    </c:legend>
    <c:plotVisOnly val="1"/>
    <c:dispBlanksAs val="gap"/>
    <c:showDLblsOverMax val="0"/>
  </c:chart>
  <c:txPr>
    <a:bodyPr/>
    <a:lstStyle/>
    <a:p>
      <a:pPr>
        <a:defRPr sz="1800">
          <a:latin typeface="Calibr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1FA7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88720"/>
            <a:ext cx="6400800" cy="256032"/>
          </a:xfrm>
          <a:prstGeom prst="rect">
            <a:avLst/>
          </a:prstGeom>
          <a:noFill/>
        </p:spPr>
        <p:txBody>
          <a:bodyPr wrap="square" lIns="0" rIns="0" tIns="0" bIns="0" anchor="t"/>
          <a:lstStyle/>
          <a:p>
            <a:pPr algn="l"/>
            <a:r>
              <a:rPr sz="1300" b="1" i="0">
                <a:solidFill>
                  <a:srgbClr val="1FA7B8"/>
                </a:solidFill>
                <a:latin typeface="Calibri"/>
              </a:rPr>
              <a:t>MARITIME INTELLIGENCE &amp; INTERCEPT SYSTEM</a:t>
            </a:r>
          </a:p>
        </p:txBody>
      </p:sp>
      <p:sp>
        <p:nvSpPr>
          <p:cNvPr id="5" name="TextBox 4"/>
          <p:cNvSpPr txBox="1"/>
          <p:nvPr/>
        </p:nvSpPr>
        <p:spPr>
          <a:xfrm>
            <a:off x="530352" y="1481328"/>
            <a:ext cx="6400800" cy="868680"/>
          </a:xfrm>
          <a:prstGeom prst="rect">
            <a:avLst/>
          </a:prstGeom>
          <a:noFill/>
        </p:spPr>
        <p:txBody>
          <a:bodyPr wrap="square" lIns="0" rIns="0" tIns="0" bIns="0" anchor="t"/>
          <a:lstStyle/>
          <a:p>
            <a:pPr algn="l"/>
            <a:r>
              <a:rPr sz="6000" b="1" i="0">
                <a:solidFill>
                  <a:srgbClr val="FFFFFF"/>
                </a:solidFill>
                <a:latin typeface="Calibri"/>
              </a:rPr>
              <a:t>MANTIS</a:t>
            </a:r>
          </a:p>
        </p:txBody>
      </p:sp>
      <p:sp>
        <p:nvSpPr>
          <p:cNvPr id="6" name="TextBox 5"/>
          <p:cNvSpPr txBox="1"/>
          <p:nvPr/>
        </p:nvSpPr>
        <p:spPr>
          <a:xfrm>
            <a:off x="566928" y="2468880"/>
            <a:ext cx="5943600" cy="822960"/>
          </a:xfrm>
          <a:prstGeom prst="rect">
            <a:avLst/>
          </a:prstGeom>
          <a:noFill/>
        </p:spPr>
        <p:txBody>
          <a:bodyPr wrap="square" lIns="0" rIns="0" tIns="0" bIns="0" anchor="t"/>
          <a:lstStyle/>
          <a:p>
            <a:pPr algn="l"/>
            <a:r>
              <a:rPr sz="2000" b="0" i="0">
                <a:solidFill>
                  <a:srgbClr val="D5E0E8"/>
                </a:solidFill>
                <a:latin typeface="Calibri"/>
              </a:rPr>
              <a:t>Platform architecture, analytics modules</a:t>
            </a:r>
            <a:br/>
            <a:r>
              <a:rPr sz="2000" b="0" i="0">
                <a:solidFill>
                  <a:srgbClr val="D5E0E8"/>
                </a:solidFill>
                <a:latin typeface="Calibri"/>
              </a:rPr>
              <a:t>and the path to machine learning</a:t>
            </a:r>
          </a:p>
        </p:txBody>
      </p:sp>
      <p:sp>
        <p:nvSpPr>
          <p:cNvPr id="7" name="Rectangle 6"/>
          <p:cNvSpPr/>
          <p:nvPr/>
        </p:nvSpPr>
        <p:spPr>
          <a:xfrm>
            <a:off x="566928" y="3520440"/>
            <a:ext cx="12801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3794760"/>
            <a:ext cx="5669280" cy="640080"/>
          </a:xfrm>
          <a:prstGeom prst="rect">
            <a:avLst/>
          </a:prstGeom>
          <a:noFill/>
        </p:spPr>
        <p:txBody>
          <a:bodyPr wrap="square" lIns="0" rIns="0" tIns="0" bIns="0" anchor="t"/>
          <a:lstStyle/>
          <a:p>
            <a:pPr algn="l"/>
            <a:r>
              <a:rPr sz="1500" b="0" i="0">
                <a:solidFill>
                  <a:srgbClr val="C9D4DC"/>
                </a:solidFill>
                <a:latin typeface="Calibri"/>
              </a:rPr>
              <a:t>Malaysian waters</a:t>
            </a:r>
            <a:br/>
            <a:r>
              <a:rPr sz="1500" b="0" i="0">
                <a:solidFill>
                  <a:srgbClr val="C9D4DC"/>
                </a:solidFill>
                <a:latin typeface="Calibri"/>
              </a:rPr>
              <a:t>Straits of Malacca and South China Sea</a:t>
            </a:r>
          </a:p>
        </p:txBody>
      </p:sp>
      <p:sp>
        <p:nvSpPr>
          <p:cNvPr id="9" name="TextBox 8"/>
          <p:cNvSpPr txBox="1"/>
          <p:nvPr/>
        </p:nvSpPr>
        <p:spPr>
          <a:xfrm>
            <a:off x="566928" y="5120640"/>
            <a:ext cx="5669280" cy="274320"/>
          </a:xfrm>
          <a:prstGeom prst="rect">
            <a:avLst/>
          </a:prstGeom>
          <a:noFill/>
        </p:spPr>
        <p:txBody>
          <a:bodyPr wrap="square" lIns="0" rIns="0" tIns="0" bIns="0" anchor="t"/>
          <a:lstStyle/>
          <a:p>
            <a:pPr algn="l"/>
            <a:r>
              <a:rPr sz="1400" b="0" i="0">
                <a:solidFill>
                  <a:srgbClr val="9AABB8"/>
                </a:solidFill>
                <a:latin typeface="Calibri"/>
              </a:rPr>
              <a:t>Leadership review  |  October 2026</a:t>
            </a:r>
          </a:p>
        </p:txBody>
      </p:sp>
      <p:sp>
        <p:nvSpPr>
          <p:cNvPr id="10" name="Rectangle 9"/>
          <p:cNvSpPr/>
          <p:nvPr/>
        </p:nvSpPr>
        <p:spPr>
          <a:xfrm>
            <a:off x="6684264" y="1032170"/>
            <a:ext cx="5056632" cy="4702219"/>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1-overview.png"/>
          <p:cNvPicPr>
            <a:picLocks noChangeAspect="1"/>
          </p:cNvPicPr>
          <p:nvPr/>
        </p:nvPicPr>
        <p:blipFill>
          <a:blip r:embed="rId2"/>
          <a:stretch>
            <a:fillRect/>
          </a:stretch>
        </p:blipFill>
        <p:spPr>
          <a:xfrm>
            <a:off x="6720840" y="1068746"/>
            <a:ext cx="4983480" cy="4629067"/>
          </a:xfrm>
          <a:prstGeom prst="rect">
            <a:avLst/>
          </a:prstGeom>
        </p:spPr>
      </p:pic>
      <p:sp>
        <p:nvSpPr>
          <p:cNvPr id="12" name="TextBox 11"/>
          <p:cNvSpPr txBox="1"/>
          <p:nvPr/>
        </p:nvSpPr>
        <p:spPr>
          <a:xfrm>
            <a:off x="438912" y="6492240"/>
            <a:ext cx="5486400" cy="237744"/>
          </a:xfrm>
          <a:prstGeom prst="rect">
            <a:avLst/>
          </a:prstGeom>
          <a:noFill/>
        </p:spPr>
        <p:txBody>
          <a:bodyPr wrap="square" lIns="0" rIns="0" tIns="0" bIns="0" anchor="t"/>
          <a:lstStyle/>
          <a:p>
            <a:pPr algn="l"/>
            <a:r>
              <a:rPr sz="1000" b="1" i="0">
                <a:solidFill>
                  <a:srgbClr val="8A97A3"/>
                </a:solidFill>
                <a:latin typeface="Calibri"/>
              </a:rPr>
              <a:t>MANTIS  |  Maritime Intelligence &amp; Intercept System</a:t>
            </a:r>
          </a:p>
        </p:txBody>
      </p:sp>
      <p:sp>
        <p:nvSpPr>
          <p:cNvPr id="13" name="TextBox 12"/>
          <p:cNvSpPr txBox="1"/>
          <p:nvPr/>
        </p:nvSpPr>
        <p:spPr>
          <a:xfrm>
            <a:off x="4754880" y="6492240"/>
            <a:ext cx="2743200" cy="237744"/>
          </a:xfrm>
          <a:prstGeom prst="rect">
            <a:avLst/>
          </a:prstGeom>
          <a:noFill/>
        </p:spPr>
        <p:txBody>
          <a:bodyPr wrap="square" lIns="0" rIns="0" tIns="0" bIns="0" anchor="t"/>
          <a:lstStyle/>
          <a:p>
            <a:pPr algn="ctr"/>
            <a:r>
              <a:rPr sz="1000" b="0" i="0">
                <a:solidFill>
                  <a:srgbClr val="8A97A3"/>
                </a:solidFill>
                <a:latin typeface="Calibri"/>
              </a:rPr>
              <a:t>October 2026</a:t>
            </a:r>
          </a:p>
        </p:txBody>
      </p:sp>
      <p:sp>
        <p:nvSpPr>
          <p:cNvPr id="14" name="TextBox 13"/>
          <p:cNvSpPr txBox="1"/>
          <p:nvPr/>
        </p:nvSpPr>
        <p:spPr>
          <a:xfrm>
            <a:off x="10332720" y="6492240"/>
            <a:ext cx="1417320" cy="237744"/>
          </a:xfrm>
          <a:prstGeom prst="rect">
            <a:avLst/>
          </a:prstGeom>
          <a:noFill/>
        </p:spPr>
        <p:txBody>
          <a:bodyPr wrap="square" lIns="0" rIns="0" tIns="0" bIns="0" anchor="t"/>
          <a:lstStyle/>
          <a:p>
            <a:pPr algn="r"/>
            <a:r>
              <a:rPr sz="1000" b="0" i="0">
                <a:solidFill>
                  <a:srgbClr val="8A97A3"/>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1FA7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56032"/>
            <a:ext cx="8229600" cy="219456"/>
          </a:xfrm>
          <a:prstGeom prst="rect">
            <a:avLst/>
          </a:prstGeom>
          <a:noFill/>
        </p:spPr>
        <p:txBody>
          <a:bodyPr wrap="square" lIns="0" rIns="0" tIns="0" bIns="0" anchor="t"/>
          <a:lstStyle/>
          <a:p>
            <a:pPr algn="l"/>
            <a:r>
              <a:rPr sz="1100" b="1" i="0">
                <a:solidFill>
                  <a:srgbClr val="0E6E7C"/>
                </a:solidFill>
                <a:latin typeface="Calibri"/>
              </a:rPr>
              <a:t>EXECUTIVE SUMMARY</a:t>
            </a:r>
          </a:p>
        </p:txBody>
      </p:sp>
      <p:sp>
        <p:nvSpPr>
          <p:cNvPr id="5" name="TextBox 4"/>
          <p:cNvSpPr txBox="1"/>
          <p:nvPr/>
        </p:nvSpPr>
        <p:spPr>
          <a:xfrm>
            <a:off x="420624" y="457200"/>
            <a:ext cx="11338560" cy="457200"/>
          </a:xfrm>
          <a:prstGeom prst="rect">
            <a:avLst/>
          </a:prstGeom>
          <a:noFill/>
        </p:spPr>
        <p:txBody>
          <a:bodyPr wrap="square" lIns="0" rIns="0" tIns="0" bIns="0" anchor="t"/>
          <a:lstStyle/>
          <a:p>
            <a:pPr algn="l"/>
            <a:r>
              <a:rPr sz="2600" b="1" i="0">
                <a:solidFill>
                  <a:srgbClr val="0A1628"/>
                </a:solidFill>
                <a:latin typeface="Calibri"/>
              </a:rPr>
              <a:t>MANTIS converts AIS traffic into reviewable maritime intelligence</a:t>
            </a:r>
          </a:p>
        </p:txBody>
      </p:sp>
      <p:sp>
        <p:nvSpPr>
          <p:cNvPr id="6" name="TextBox 5"/>
          <p:cNvSpPr txBox="1"/>
          <p:nvPr/>
        </p:nvSpPr>
        <p:spPr>
          <a:xfrm>
            <a:off x="438912" y="932688"/>
            <a:ext cx="11292840" cy="384048"/>
          </a:xfrm>
          <a:prstGeom prst="rect">
            <a:avLst/>
          </a:prstGeom>
          <a:noFill/>
        </p:spPr>
        <p:txBody>
          <a:bodyPr wrap="square" lIns="0" rIns="0" tIns="0" bIns="0" anchor="t"/>
          <a:lstStyle/>
          <a:p>
            <a:pPr algn="l"/>
            <a:r>
              <a:rPr sz="1350" b="0" i="0">
                <a:solidFill>
                  <a:srgbClr val="5C6874"/>
                </a:solidFill>
                <a:latin typeface="Calibri"/>
              </a:rPr>
              <a:t>The platform is in its data collection and validation phase. All modules and pipelines described here are in production; planned items appear on the roadmap.</a:t>
            </a:r>
          </a:p>
        </p:txBody>
      </p:sp>
      <p:sp>
        <p:nvSpPr>
          <p:cNvPr id="7" name="TextBox 6"/>
          <p:cNvSpPr txBox="1"/>
          <p:nvPr/>
        </p:nvSpPr>
        <p:spPr>
          <a:xfrm>
            <a:off x="438912" y="1554480"/>
            <a:ext cx="6949440" cy="4754880"/>
          </a:xfrm>
          <a:prstGeom prst="rect">
            <a:avLst/>
          </a:prstGeom>
          <a:noFill/>
        </p:spPr>
        <p:txBody>
          <a:bodyPr wrap="square" lIns="0" rIns="0" tIns="0" bIns="0"/>
          <a:lstStyle/>
          <a:p>
            <a:pPr>
              <a:spcAft>
                <a:spcPts val="1000"/>
              </a:spcAft>
            </a:pPr>
            <a:r>
              <a:rPr sz="1300" b="1" i="0">
                <a:solidFill>
                  <a:srgbClr val="162333"/>
                </a:solidFill>
                <a:latin typeface="Calibri"/>
              </a:rPr>
              <a:t>Coverage.</a:t>
            </a:r>
            <a:r>
              <a:rPr sz="1300" b="0" i="0">
                <a:solidFill>
                  <a:srgbClr val="243140"/>
                </a:solidFill>
                <a:latin typeface="Calibri"/>
              </a:rPr>
              <a:t>  Six analytics modules run on live AIS data for Malaysian waters: ship-to-ship transfer (STS), dark vessels, illegal anchoring, AIS spoofing, loitering and identity conflict. OFAC sanctions screening is applied across all of them.</a:t>
            </a:r>
          </a:p>
          <a:p>
            <a:pPr>
              <a:spcAft>
                <a:spcPts val="1000"/>
              </a:spcAft>
            </a:pPr>
            <a:r>
              <a:rPr sz="1300" b="1" i="0">
                <a:solidFill>
                  <a:srgbClr val="162333"/>
                </a:solidFill>
                <a:latin typeface="Calibri"/>
              </a:rPr>
              <a:t>Processing.</a:t>
            </a:r>
            <a:r>
              <a:rPr sz="1300" b="0" i="0">
                <a:solidFill>
                  <a:srgbClr val="243140"/>
                </a:solidFill>
                <a:latin typeface="Calibri"/>
              </a:rPr>
              <a:t>  Each module is backed by a scheduled data pipeline on the processing server. Pipelines write their results to the operational database; the dashboard and REST API read those results through a read-only connection.</a:t>
            </a:r>
          </a:p>
          <a:p>
            <a:pPr>
              <a:spcAft>
                <a:spcPts val="1000"/>
              </a:spcAft>
            </a:pPr>
            <a:r>
              <a:rPr sz="1300" b="1" i="0">
                <a:solidFill>
                  <a:srgbClr val="162333"/>
                </a:solidFill>
                <a:latin typeface="Calibri"/>
              </a:rPr>
              <a:t>Review workflow.</a:t>
            </a:r>
            <a:r>
              <a:rPr sz="1300" b="0" i="0">
                <a:solidFill>
                  <a:srgbClr val="243140"/>
                </a:solidFill>
                <a:latin typeface="Calibri"/>
              </a:rPr>
              <a:t>  Every STS observation becomes a review case, enriched with the outputs of the other modules. Cases that remain unexplained after that enrichment are raised to analysts, who record a final classification.</a:t>
            </a:r>
          </a:p>
          <a:p>
            <a:pPr>
              <a:spcAft>
                <a:spcPts val="1000"/>
              </a:spcAft>
            </a:pPr>
            <a:r>
              <a:rPr sz="1300" b="1" i="0">
                <a:solidFill>
                  <a:srgbClr val="162333"/>
                </a:solidFill>
                <a:latin typeface="Calibri"/>
              </a:rPr>
              <a:t>Infrastructure.</a:t>
            </a:r>
            <a:r>
              <a:rPr sz="1300" b="0" i="0">
                <a:solidFill>
                  <a:srgbClr val="243140"/>
                </a:solidFill>
                <a:latin typeface="Calibri"/>
              </a:rPr>
              <a:t>  The platform runs on the existing processing server, API server and databases. No additional infrastructure was introduced for this phase.</a:t>
            </a:r>
          </a:p>
          <a:p>
            <a:pPr>
              <a:spcAft>
                <a:spcPts val="1000"/>
              </a:spcAft>
            </a:pPr>
            <a:r>
              <a:rPr sz="1300" b="1" i="0">
                <a:solidFill>
                  <a:srgbClr val="162333"/>
                </a:solidFill>
                <a:latin typeface="Calibri"/>
              </a:rPr>
              <a:t>Next phase.</a:t>
            </a:r>
            <a:r>
              <a:rPr sz="1300" b="0" i="0">
                <a:solidFill>
                  <a:srgbClr val="243140"/>
                </a:solidFill>
                <a:latin typeface="Calibri"/>
              </a:rPr>
              <a:t>  Analyst classifications form the labelled dataset for machine learning. Model development starts once that dataset is large and consistent enough to be trained and evaluated against.</a:t>
            </a:r>
          </a:p>
        </p:txBody>
      </p:sp>
      <p:sp>
        <p:nvSpPr>
          <p:cNvPr id="8" name="Rounded Rectangle 7"/>
          <p:cNvSpPr/>
          <p:nvPr/>
        </p:nvSpPr>
        <p:spPr>
          <a:xfrm>
            <a:off x="7726679" y="1554480"/>
            <a:ext cx="4023360" cy="4709160"/>
          </a:xfrm>
          <a:prstGeom prst="roundRect">
            <a:avLst>
              <a:gd name="adj" fmla="val 8000"/>
            </a:avLst>
          </a:prstGeom>
          <a:solidFill>
            <a:srgbClr val="12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79" y="1737360"/>
            <a:ext cx="3566160" cy="228600"/>
          </a:xfrm>
          <a:prstGeom prst="rect">
            <a:avLst/>
          </a:prstGeom>
          <a:noFill/>
        </p:spPr>
        <p:txBody>
          <a:bodyPr wrap="square" lIns="0" rIns="0" tIns="0" bIns="0" anchor="t"/>
          <a:lstStyle/>
          <a:p>
            <a:pPr algn="l"/>
            <a:r>
              <a:rPr sz="1100" b="1" i="0">
                <a:solidFill>
                  <a:srgbClr val="1FA7B8"/>
                </a:solidFill>
                <a:latin typeface="Calibri"/>
              </a:rPr>
              <a:t>PLATFORM AT A GLANCE</a:t>
            </a:r>
          </a:p>
        </p:txBody>
      </p:sp>
      <p:sp>
        <p:nvSpPr>
          <p:cNvPr id="10" name="TextBox 9"/>
          <p:cNvSpPr txBox="1"/>
          <p:nvPr/>
        </p:nvSpPr>
        <p:spPr>
          <a:xfrm>
            <a:off x="7955279" y="2148840"/>
            <a:ext cx="1371600" cy="548640"/>
          </a:xfrm>
          <a:prstGeom prst="rect">
            <a:avLst/>
          </a:prstGeom>
          <a:noFill/>
        </p:spPr>
        <p:txBody>
          <a:bodyPr wrap="square" lIns="0" rIns="0" tIns="0" bIns="0" anchor="t"/>
          <a:lstStyle/>
          <a:p>
            <a:pPr algn="l"/>
            <a:r>
              <a:rPr sz="3000" b="1" i="0">
                <a:solidFill>
                  <a:srgbClr val="FFFFFF"/>
                </a:solidFill>
                <a:latin typeface="Calibri"/>
              </a:rPr>
              <a:t>6</a:t>
            </a:r>
          </a:p>
        </p:txBody>
      </p:sp>
      <p:sp>
        <p:nvSpPr>
          <p:cNvPr id="11" name="TextBox 10"/>
          <p:cNvSpPr txBox="1"/>
          <p:nvPr/>
        </p:nvSpPr>
        <p:spPr>
          <a:xfrm>
            <a:off x="9281160" y="2258568"/>
            <a:ext cx="2331720" cy="548640"/>
          </a:xfrm>
          <a:prstGeom prst="rect">
            <a:avLst/>
          </a:prstGeom>
          <a:noFill/>
        </p:spPr>
        <p:txBody>
          <a:bodyPr wrap="square" lIns="0" rIns="0" tIns="0" bIns="0" anchor="t"/>
          <a:lstStyle/>
          <a:p>
            <a:pPr algn="l"/>
            <a:r>
              <a:rPr sz="1250" b="0" i="0">
                <a:solidFill>
                  <a:srgbClr val="D5E0E8"/>
                </a:solidFill>
                <a:latin typeface="Calibri"/>
              </a:rPr>
              <a:t>analytics modules on the dashboard</a:t>
            </a:r>
          </a:p>
        </p:txBody>
      </p:sp>
      <p:sp>
        <p:nvSpPr>
          <p:cNvPr id="12" name="TextBox 11"/>
          <p:cNvSpPr txBox="1"/>
          <p:nvPr/>
        </p:nvSpPr>
        <p:spPr>
          <a:xfrm>
            <a:off x="7955279" y="3154680"/>
            <a:ext cx="1371600" cy="548640"/>
          </a:xfrm>
          <a:prstGeom prst="rect">
            <a:avLst/>
          </a:prstGeom>
          <a:noFill/>
        </p:spPr>
        <p:txBody>
          <a:bodyPr wrap="square" lIns="0" rIns="0" tIns="0" bIns="0" anchor="t"/>
          <a:lstStyle/>
          <a:p>
            <a:pPr algn="l"/>
            <a:r>
              <a:rPr sz="3000" b="1" i="0">
                <a:solidFill>
                  <a:srgbClr val="FFFFFF"/>
                </a:solidFill>
                <a:latin typeface="Calibri"/>
              </a:rPr>
              <a:t>6</a:t>
            </a:r>
          </a:p>
        </p:txBody>
      </p:sp>
      <p:sp>
        <p:nvSpPr>
          <p:cNvPr id="13" name="TextBox 12"/>
          <p:cNvSpPr txBox="1"/>
          <p:nvPr/>
        </p:nvSpPr>
        <p:spPr>
          <a:xfrm>
            <a:off x="9281160" y="3264408"/>
            <a:ext cx="2331720" cy="548640"/>
          </a:xfrm>
          <a:prstGeom prst="rect">
            <a:avLst/>
          </a:prstGeom>
          <a:noFill/>
        </p:spPr>
        <p:txBody>
          <a:bodyPr wrap="square" lIns="0" rIns="0" tIns="0" bIns="0" anchor="t"/>
          <a:lstStyle/>
          <a:p>
            <a:pPr algn="l"/>
            <a:r>
              <a:rPr sz="1250" b="0" i="0">
                <a:solidFill>
                  <a:srgbClr val="D5E0E8"/>
                </a:solidFill>
                <a:latin typeface="Calibri"/>
              </a:rPr>
              <a:t>scheduled data pipelines in production</a:t>
            </a:r>
          </a:p>
        </p:txBody>
      </p:sp>
      <p:sp>
        <p:nvSpPr>
          <p:cNvPr id="14" name="TextBox 13"/>
          <p:cNvSpPr txBox="1"/>
          <p:nvPr/>
        </p:nvSpPr>
        <p:spPr>
          <a:xfrm>
            <a:off x="7955279" y="4160520"/>
            <a:ext cx="1371600" cy="548640"/>
          </a:xfrm>
          <a:prstGeom prst="rect">
            <a:avLst/>
          </a:prstGeom>
          <a:noFill/>
        </p:spPr>
        <p:txBody>
          <a:bodyPr wrap="square" lIns="0" rIns="0" tIns="0" bIns="0" anchor="t"/>
          <a:lstStyle/>
          <a:p>
            <a:pPr algn="l"/>
            <a:r>
              <a:rPr sz="3000" b="1" i="0">
                <a:solidFill>
                  <a:srgbClr val="FFFFFF"/>
                </a:solidFill>
                <a:latin typeface="Calibri"/>
              </a:rPr>
              <a:t>30 s</a:t>
            </a:r>
          </a:p>
        </p:txBody>
      </p:sp>
      <p:sp>
        <p:nvSpPr>
          <p:cNvPr id="15" name="TextBox 14"/>
          <p:cNvSpPr txBox="1"/>
          <p:nvPr/>
        </p:nvSpPr>
        <p:spPr>
          <a:xfrm>
            <a:off x="9281160" y="4270248"/>
            <a:ext cx="2331720" cy="548640"/>
          </a:xfrm>
          <a:prstGeom prst="rect">
            <a:avLst/>
          </a:prstGeom>
          <a:noFill/>
        </p:spPr>
        <p:txBody>
          <a:bodyPr wrap="square" lIns="0" rIns="0" tIns="0" bIns="0" anchor="t"/>
          <a:lstStyle/>
          <a:p>
            <a:pPr algn="l"/>
            <a:r>
              <a:rPr sz="1250" b="0" i="0">
                <a:solidFill>
                  <a:srgbClr val="D5E0E8"/>
                </a:solidFill>
                <a:latin typeface="Calibri"/>
              </a:rPr>
              <a:t>refresh cycle for STS proximity</a:t>
            </a:r>
          </a:p>
        </p:txBody>
      </p:sp>
      <p:sp>
        <p:nvSpPr>
          <p:cNvPr id="16" name="TextBox 15"/>
          <p:cNvSpPr txBox="1"/>
          <p:nvPr/>
        </p:nvSpPr>
        <p:spPr>
          <a:xfrm>
            <a:off x="7955279" y="5166360"/>
            <a:ext cx="1371600" cy="548640"/>
          </a:xfrm>
          <a:prstGeom prst="rect">
            <a:avLst/>
          </a:prstGeom>
          <a:noFill/>
        </p:spPr>
        <p:txBody>
          <a:bodyPr wrap="square" lIns="0" rIns="0" tIns="0" bIns="0" anchor="t"/>
          <a:lstStyle/>
          <a:p>
            <a:pPr algn="l"/>
            <a:r>
              <a:rPr sz="3000" b="1" i="0">
                <a:solidFill>
                  <a:srgbClr val="FFFFFF"/>
                </a:solidFill>
                <a:latin typeface="Calibri"/>
              </a:rPr>
              <a:t>5</a:t>
            </a:r>
          </a:p>
        </p:txBody>
      </p:sp>
      <p:sp>
        <p:nvSpPr>
          <p:cNvPr id="17" name="TextBox 16"/>
          <p:cNvSpPr txBox="1"/>
          <p:nvPr/>
        </p:nvSpPr>
        <p:spPr>
          <a:xfrm>
            <a:off x="9281160" y="5276088"/>
            <a:ext cx="2331720" cy="548640"/>
          </a:xfrm>
          <a:prstGeom prst="rect">
            <a:avLst/>
          </a:prstGeom>
          <a:noFill/>
        </p:spPr>
        <p:txBody>
          <a:bodyPr wrap="square" lIns="0" rIns="0" tIns="0" bIns="0" anchor="t"/>
          <a:lstStyle/>
          <a:p>
            <a:pPr algn="l"/>
            <a:r>
              <a:rPr sz="1250" b="0" i="0">
                <a:solidFill>
                  <a:srgbClr val="D5E0E8"/>
                </a:solidFill>
                <a:latin typeface="Calibri"/>
              </a:rPr>
              <a:t>review classes recorded by analysts</a:t>
            </a:r>
          </a:p>
        </p:txBody>
      </p:sp>
      <p:sp>
        <p:nvSpPr>
          <p:cNvPr id="18" name="TextBox 17"/>
          <p:cNvSpPr txBox="1"/>
          <p:nvPr/>
        </p:nvSpPr>
        <p:spPr>
          <a:xfrm>
            <a:off x="438912" y="6492240"/>
            <a:ext cx="5486400" cy="237744"/>
          </a:xfrm>
          <a:prstGeom prst="rect">
            <a:avLst/>
          </a:prstGeom>
          <a:noFill/>
        </p:spPr>
        <p:txBody>
          <a:bodyPr wrap="square" lIns="0" rIns="0" tIns="0" bIns="0" anchor="t"/>
          <a:lstStyle/>
          <a:p>
            <a:pPr algn="l"/>
            <a:r>
              <a:rPr sz="1000" b="1" i="0">
                <a:solidFill>
                  <a:srgbClr val="5C6874"/>
                </a:solidFill>
                <a:latin typeface="Calibri"/>
              </a:rPr>
              <a:t>MANTIS  |  Maritime Intelligence &amp; Intercept System</a:t>
            </a:r>
          </a:p>
        </p:txBody>
      </p:sp>
      <p:sp>
        <p:nvSpPr>
          <p:cNvPr id="19" name="TextBox 18"/>
          <p:cNvSpPr txBox="1"/>
          <p:nvPr/>
        </p:nvSpPr>
        <p:spPr>
          <a:xfrm>
            <a:off x="4754880" y="6492240"/>
            <a:ext cx="2743200" cy="237744"/>
          </a:xfrm>
          <a:prstGeom prst="rect">
            <a:avLst/>
          </a:prstGeom>
          <a:noFill/>
        </p:spPr>
        <p:txBody>
          <a:bodyPr wrap="square" lIns="0" rIns="0" tIns="0" bIns="0" anchor="t"/>
          <a:lstStyle/>
          <a:p>
            <a:pPr algn="ctr"/>
            <a:r>
              <a:rPr sz="1000" b="0" i="0">
                <a:solidFill>
                  <a:srgbClr val="5C6874"/>
                </a:solidFill>
                <a:latin typeface="Calibri"/>
              </a:rPr>
              <a:t>October 2026</a:t>
            </a:r>
          </a:p>
        </p:txBody>
      </p:sp>
      <p:sp>
        <p:nvSpPr>
          <p:cNvPr id="20" name="TextBox 19"/>
          <p:cNvSpPr txBox="1"/>
          <p:nvPr/>
        </p:nvSpPr>
        <p:spPr>
          <a:xfrm>
            <a:off x="10332720" y="6492240"/>
            <a:ext cx="1417320" cy="237744"/>
          </a:xfrm>
          <a:prstGeom prst="rect">
            <a:avLst/>
          </a:prstGeom>
          <a:noFill/>
        </p:spPr>
        <p:txBody>
          <a:bodyPr wrap="square" lIns="0" rIns="0" tIns="0" bIns="0" anchor="t"/>
          <a:lstStyle/>
          <a:p>
            <a:pPr algn="r"/>
            <a:r>
              <a:rPr sz="1000" b="0" i="0">
                <a:solidFill>
                  <a:srgbClr val="5C6874"/>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1FA7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56032"/>
            <a:ext cx="8229600" cy="219456"/>
          </a:xfrm>
          <a:prstGeom prst="rect">
            <a:avLst/>
          </a:prstGeom>
          <a:noFill/>
        </p:spPr>
        <p:txBody>
          <a:bodyPr wrap="square" lIns="0" rIns="0" tIns="0" bIns="0" anchor="t"/>
          <a:lstStyle/>
          <a:p>
            <a:pPr algn="l"/>
            <a:r>
              <a:rPr sz="1100" b="1" i="0">
                <a:solidFill>
                  <a:srgbClr val="0E6E7C"/>
                </a:solidFill>
                <a:latin typeface="Calibri"/>
              </a:rPr>
              <a:t>PLATFORM ARCHITECTURE</a:t>
            </a:r>
          </a:p>
        </p:txBody>
      </p:sp>
      <p:sp>
        <p:nvSpPr>
          <p:cNvPr id="5" name="TextBox 4"/>
          <p:cNvSpPr txBox="1"/>
          <p:nvPr/>
        </p:nvSpPr>
        <p:spPr>
          <a:xfrm>
            <a:off x="420624" y="457200"/>
            <a:ext cx="11338560" cy="457200"/>
          </a:xfrm>
          <a:prstGeom prst="rect">
            <a:avLst/>
          </a:prstGeom>
          <a:noFill/>
        </p:spPr>
        <p:txBody>
          <a:bodyPr wrap="square" lIns="0" rIns="0" tIns="0" bIns="0" anchor="t"/>
          <a:lstStyle/>
          <a:p>
            <a:pPr algn="l"/>
            <a:r>
              <a:rPr sz="2600" b="1" i="0">
                <a:solidFill>
                  <a:srgbClr val="0A1628"/>
                </a:solidFill>
                <a:latin typeface="Calibri"/>
              </a:rPr>
              <a:t>Four tiers: data sources, processing, storage and service</a:t>
            </a:r>
          </a:p>
        </p:txBody>
      </p:sp>
      <p:sp>
        <p:nvSpPr>
          <p:cNvPr id="6" name="TextBox 5"/>
          <p:cNvSpPr txBox="1"/>
          <p:nvPr/>
        </p:nvSpPr>
        <p:spPr>
          <a:xfrm>
            <a:off x="438912" y="932688"/>
            <a:ext cx="11292840" cy="384048"/>
          </a:xfrm>
          <a:prstGeom prst="rect">
            <a:avLst/>
          </a:prstGeom>
          <a:noFill/>
        </p:spPr>
        <p:txBody>
          <a:bodyPr wrap="square" lIns="0" rIns="0" tIns="0" bIns="0" anchor="t"/>
          <a:lstStyle/>
          <a:p>
            <a:pPr algn="l"/>
            <a:r>
              <a:rPr sz="1350" b="0" i="0">
                <a:solidFill>
                  <a:srgbClr val="5C6874"/>
                </a:solidFill>
                <a:latin typeface="Calibri"/>
              </a:rPr>
              <a:t>Pipelines are the only components that write analytical results. The API and dashboard are read-only consumers.</a:t>
            </a:r>
          </a:p>
        </p:txBody>
      </p:sp>
      <p:sp>
        <p:nvSpPr>
          <p:cNvPr id="7" name="TextBox 6"/>
          <p:cNvSpPr txBox="1"/>
          <p:nvPr/>
        </p:nvSpPr>
        <p:spPr>
          <a:xfrm>
            <a:off x="365760" y="1463040"/>
            <a:ext cx="2331720" cy="201168"/>
          </a:xfrm>
          <a:prstGeom prst="rect">
            <a:avLst/>
          </a:prstGeom>
          <a:noFill/>
        </p:spPr>
        <p:txBody>
          <a:bodyPr wrap="square" lIns="0" rIns="0" tIns="0" bIns="0" anchor="t"/>
          <a:lstStyle/>
          <a:p>
            <a:pPr algn="l"/>
            <a:r>
              <a:rPr sz="1050" b="1" i="0">
                <a:solidFill>
                  <a:srgbClr val="0E6E7C"/>
                </a:solidFill>
                <a:latin typeface="Calibri"/>
              </a:rPr>
              <a:t>DATA SOURCES</a:t>
            </a:r>
          </a:p>
        </p:txBody>
      </p:sp>
      <p:sp>
        <p:nvSpPr>
          <p:cNvPr id="8" name="Rectangle 7"/>
          <p:cNvSpPr/>
          <p:nvPr/>
        </p:nvSpPr>
        <p:spPr>
          <a:xfrm>
            <a:off x="365760" y="1709928"/>
            <a:ext cx="2331720" cy="18288"/>
          </a:xfrm>
          <a:prstGeom prst="rect">
            <a:avLst/>
          </a:prstGeom>
          <a:solidFill>
            <a:srgbClr val="E3D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17520" y="1463040"/>
            <a:ext cx="2788920" cy="201168"/>
          </a:xfrm>
          <a:prstGeom prst="rect">
            <a:avLst/>
          </a:prstGeom>
          <a:noFill/>
        </p:spPr>
        <p:txBody>
          <a:bodyPr wrap="square" lIns="0" rIns="0" tIns="0" bIns="0" anchor="t"/>
          <a:lstStyle/>
          <a:p>
            <a:pPr algn="l"/>
            <a:r>
              <a:rPr sz="1050" b="1" i="0">
                <a:solidFill>
                  <a:srgbClr val="0E6E7C"/>
                </a:solidFill>
                <a:latin typeface="Calibri"/>
              </a:rPr>
              <a:t>PROCESSING SERVER  |  DATA PIPELINES</a:t>
            </a:r>
          </a:p>
        </p:txBody>
      </p:sp>
      <p:sp>
        <p:nvSpPr>
          <p:cNvPr id="10" name="Rectangle 9"/>
          <p:cNvSpPr/>
          <p:nvPr/>
        </p:nvSpPr>
        <p:spPr>
          <a:xfrm>
            <a:off x="3017520" y="1709928"/>
            <a:ext cx="2788920" cy="18288"/>
          </a:xfrm>
          <a:prstGeom prst="rect">
            <a:avLst/>
          </a:prstGeom>
          <a:solidFill>
            <a:srgbClr val="E3D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72200" y="1463040"/>
            <a:ext cx="2514600" cy="201168"/>
          </a:xfrm>
          <a:prstGeom prst="rect">
            <a:avLst/>
          </a:prstGeom>
          <a:noFill/>
        </p:spPr>
        <p:txBody>
          <a:bodyPr wrap="square" lIns="0" rIns="0" tIns="0" bIns="0" anchor="t"/>
          <a:lstStyle/>
          <a:p>
            <a:pPr algn="l"/>
            <a:r>
              <a:rPr sz="1050" b="1" i="0">
                <a:solidFill>
                  <a:srgbClr val="0E6E7C"/>
                </a:solidFill>
                <a:latin typeface="Calibri"/>
              </a:rPr>
              <a:t>OPERATIONAL DATABASE</a:t>
            </a:r>
          </a:p>
        </p:txBody>
      </p:sp>
      <p:sp>
        <p:nvSpPr>
          <p:cNvPr id="12" name="Rectangle 11"/>
          <p:cNvSpPr/>
          <p:nvPr/>
        </p:nvSpPr>
        <p:spPr>
          <a:xfrm>
            <a:off x="6172200" y="1709928"/>
            <a:ext cx="2514600" cy="18288"/>
          </a:xfrm>
          <a:prstGeom prst="rect">
            <a:avLst/>
          </a:prstGeom>
          <a:solidFill>
            <a:srgbClr val="E3D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98280" y="1463040"/>
            <a:ext cx="2697480" cy="201168"/>
          </a:xfrm>
          <a:prstGeom prst="rect">
            <a:avLst/>
          </a:prstGeom>
          <a:noFill/>
        </p:spPr>
        <p:txBody>
          <a:bodyPr wrap="square" lIns="0" rIns="0" tIns="0" bIns="0" anchor="t"/>
          <a:lstStyle/>
          <a:p>
            <a:pPr algn="l"/>
            <a:r>
              <a:rPr sz="1050" b="1" i="0">
                <a:solidFill>
                  <a:srgbClr val="0E6E7C"/>
                </a:solidFill>
                <a:latin typeface="Calibri"/>
              </a:rPr>
              <a:t>API SERVER  |  CONSUMERS</a:t>
            </a:r>
          </a:p>
        </p:txBody>
      </p:sp>
      <p:sp>
        <p:nvSpPr>
          <p:cNvPr id="14" name="Rectangle 13"/>
          <p:cNvSpPr/>
          <p:nvPr/>
        </p:nvSpPr>
        <p:spPr>
          <a:xfrm>
            <a:off x="9098280" y="1709928"/>
            <a:ext cx="2697480" cy="18288"/>
          </a:xfrm>
          <a:prstGeom prst="rect">
            <a:avLst/>
          </a:prstGeom>
          <a:solidFill>
            <a:srgbClr val="E3D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5760" y="1828800"/>
            <a:ext cx="2331720" cy="749808"/>
          </a:xfrm>
          <a:prstGeom prst="roundRect">
            <a:avLst>
              <a:gd name="adj" fmla="val 8000"/>
            </a:avLst>
          </a:prstGeom>
          <a:solidFill>
            <a:srgbClr val="FFFFFF"/>
          </a:solidFill>
          <a:ln w="12700">
            <a:solidFill>
              <a:srgbClr val="E3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8" y="1901952"/>
            <a:ext cx="2112263" cy="274320"/>
          </a:xfrm>
          <a:prstGeom prst="rect">
            <a:avLst/>
          </a:prstGeom>
          <a:noFill/>
        </p:spPr>
        <p:txBody>
          <a:bodyPr wrap="square" lIns="0" rIns="0" tIns="0" bIns="0" anchor="t"/>
          <a:lstStyle/>
          <a:p>
            <a:pPr algn="l"/>
            <a:r>
              <a:rPr sz="1150" b="1" i="0">
                <a:solidFill>
                  <a:srgbClr val="0A1628"/>
                </a:solidFill>
                <a:latin typeface="Calibri"/>
              </a:rPr>
              <a:t>AIS position history</a:t>
            </a:r>
          </a:p>
        </p:txBody>
      </p:sp>
      <p:sp>
        <p:nvSpPr>
          <p:cNvPr id="17" name="TextBox 16"/>
          <p:cNvSpPr txBox="1"/>
          <p:nvPr/>
        </p:nvSpPr>
        <p:spPr>
          <a:xfrm>
            <a:off x="475488" y="2157984"/>
            <a:ext cx="2112263" cy="365759"/>
          </a:xfrm>
          <a:prstGeom prst="rect">
            <a:avLst/>
          </a:prstGeom>
          <a:noFill/>
        </p:spPr>
        <p:txBody>
          <a:bodyPr wrap="square" lIns="0" rIns="0" tIns="0" bIns="0" anchor="t"/>
          <a:lstStyle/>
          <a:p>
            <a:pPr algn="l"/>
            <a:r>
              <a:rPr sz="1000" b="0" i="0">
                <a:solidFill>
                  <a:srgbClr val="5C6874"/>
                </a:solidFill>
                <a:latin typeface="Calibri"/>
              </a:rPr>
              <a:t>ClickHouse, full track per vessel</a:t>
            </a:r>
          </a:p>
        </p:txBody>
      </p:sp>
      <p:sp>
        <p:nvSpPr>
          <p:cNvPr id="18" name="Rounded Rectangle 17"/>
          <p:cNvSpPr/>
          <p:nvPr/>
        </p:nvSpPr>
        <p:spPr>
          <a:xfrm>
            <a:off x="365760" y="2697480"/>
            <a:ext cx="2331720" cy="749808"/>
          </a:xfrm>
          <a:prstGeom prst="roundRect">
            <a:avLst>
              <a:gd name="adj" fmla="val 8000"/>
            </a:avLst>
          </a:prstGeom>
          <a:solidFill>
            <a:srgbClr val="FFFFFF"/>
          </a:solidFill>
          <a:ln w="12700">
            <a:solidFill>
              <a:srgbClr val="E3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488" y="2770632"/>
            <a:ext cx="2112263" cy="274320"/>
          </a:xfrm>
          <a:prstGeom prst="rect">
            <a:avLst/>
          </a:prstGeom>
          <a:noFill/>
        </p:spPr>
        <p:txBody>
          <a:bodyPr wrap="square" lIns="0" rIns="0" tIns="0" bIns="0" anchor="t"/>
          <a:lstStyle/>
          <a:p>
            <a:pPr algn="l"/>
            <a:r>
              <a:rPr sz="1150" b="1" i="0">
                <a:solidFill>
                  <a:srgbClr val="0A1628"/>
                </a:solidFill>
                <a:latin typeface="Calibri"/>
              </a:rPr>
              <a:t>Latest AIS position and static data</a:t>
            </a:r>
          </a:p>
        </p:txBody>
      </p:sp>
      <p:sp>
        <p:nvSpPr>
          <p:cNvPr id="20" name="TextBox 19"/>
          <p:cNvSpPr txBox="1"/>
          <p:nvPr/>
        </p:nvSpPr>
        <p:spPr>
          <a:xfrm>
            <a:off x="475488" y="3026664"/>
            <a:ext cx="2112263" cy="365759"/>
          </a:xfrm>
          <a:prstGeom prst="rect">
            <a:avLst/>
          </a:prstGeom>
          <a:noFill/>
        </p:spPr>
        <p:txBody>
          <a:bodyPr wrap="square" lIns="0" rIns="0" tIns="0" bIns="0" anchor="t"/>
          <a:lstStyle/>
          <a:p>
            <a:pPr algn="l"/>
            <a:r>
              <a:rPr sz="1000" b="0" i="0">
                <a:solidFill>
                  <a:srgbClr val="5C6874"/>
                </a:solidFill>
                <a:latin typeface="Calibri"/>
              </a:rPr>
              <a:t>Postgres, one row per vessel</a:t>
            </a:r>
          </a:p>
        </p:txBody>
      </p:sp>
      <p:sp>
        <p:nvSpPr>
          <p:cNvPr id="21" name="Rounded Rectangle 20"/>
          <p:cNvSpPr/>
          <p:nvPr/>
        </p:nvSpPr>
        <p:spPr>
          <a:xfrm>
            <a:off x="365760" y="3566160"/>
            <a:ext cx="2331720" cy="749808"/>
          </a:xfrm>
          <a:prstGeom prst="roundRect">
            <a:avLst>
              <a:gd name="adj" fmla="val 8000"/>
            </a:avLst>
          </a:prstGeom>
          <a:solidFill>
            <a:srgbClr val="FFFFFF"/>
          </a:solidFill>
          <a:ln w="12700">
            <a:solidFill>
              <a:srgbClr val="E3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488" y="3639312"/>
            <a:ext cx="2112263" cy="274320"/>
          </a:xfrm>
          <a:prstGeom prst="rect">
            <a:avLst/>
          </a:prstGeom>
          <a:noFill/>
        </p:spPr>
        <p:txBody>
          <a:bodyPr wrap="square" lIns="0" rIns="0" tIns="0" bIns="0" anchor="t"/>
          <a:lstStyle/>
          <a:p>
            <a:pPr algn="l"/>
            <a:r>
              <a:rPr sz="1150" b="1" i="0">
                <a:solidFill>
                  <a:srgbClr val="0A1628"/>
                </a:solidFill>
                <a:latin typeface="Calibri"/>
              </a:rPr>
              <a:t>JKPTG licence register</a:t>
            </a:r>
          </a:p>
        </p:txBody>
      </p:sp>
      <p:sp>
        <p:nvSpPr>
          <p:cNvPr id="23" name="TextBox 22"/>
          <p:cNvSpPr txBox="1"/>
          <p:nvPr/>
        </p:nvSpPr>
        <p:spPr>
          <a:xfrm>
            <a:off x="475488" y="3895344"/>
            <a:ext cx="2112263" cy="365759"/>
          </a:xfrm>
          <a:prstGeom prst="rect">
            <a:avLst/>
          </a:prstGeom>
          <a:noFill/>
        </p:spPr>
        <p:txBody>
          <a:bodyPr wrap="square" lIns="0" rIns="0" tIns="0" bIns="0" anchor="t"/>
          <a:lstStyle/>
          <a:p>
            <a:pPr algn="l"/>
            <a:r>
              <a:rPr sz="1000" b="0" i="0">
                <a:solidFill>
                  <a:srgbClr val="5C6874"/>
                </a:solidFill>
                <a:latin typeface="Calibri"/>
              </a:rPr>
              <a:t>Dredging project licences</a:t>
            </a:r>
          </a:p>
        </p:txBody>
      </p:sp>
      <p:sp>
        <p:nvSpPr>
          <p:cNvPr id="24" name="Rounded Rectangle 23"/>
          <p:cNvSpPr/>
          <p:nvPr/>
        </p:nvSpPr>
        <p:spPr>
          <a:xfrm>
            <a:off x="365760" y="4434840"/>
            <a:ext cx="2331720" cy="749808"/>
          </a:xfrm>
          <a:prstGeom prst="roundRect">
            <a:avLst>
              <a:gd name="adj" fmla="val 8000"/>
            </a:avLst>
          </a:prstGeom>
          <a:solidFill>
            <a:srgbClr val="FFFFFF"/>
          </a:solidFill>
          <a:ln w="12700">
            <a:solidFill>
              <a:srgbClr val="E3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 y="4507992"/>
            <a:ext cx="2112263" cy="274320"/>
          </a:xfrm>
          <a:prstGeom prst="rect">
            <a:avLst/>
          </a:prstGeom>
          <a:noFill/>
        </p:spPr>
        <p:txBody>
          <a:bodyPr wrap="square" lIns="0" rIns="0" tIns="0" bIns="0" anchor="t"/>
          <a:lstStyle/>
          <a:p>
            <a:pPr algn="l"/>
            <a:r>
              <a:rPr sz="1150" b="1" i="0">
                <a:solidFill>
                  <a:srgbClr val="0A1628"/>
                </a:solidFill>
                <a:latin typeface="Calibri"/>
              </a:rPr>
              <a:t>OFAC sanctions lists</a:t>
            </a:r>
          </a:p>
        </p:txBody>
      </p:sp>
      <p:sp>
        <p:nvSpPr>
          <p:cNvPr id="26" name="TextBox 25"/>
          <p:cNvSpPr txBox="1"/>
          <p:nvPr/>
        </p:nvSpPr>
        <p:spPr>
          <a:xfrm>
            <a:off x="475488" y="4764024"/>
            <a:ext cx="2112263" cy="365759"/>
          </a:xfrm>
          <a:prstGeom prst="rect">
            <a:avLst/>
          </a:prstGeom>
          <a:noFill/>
        </p:spPr>
        <p:txBody>
          <a:bodyPr wrap="square" lIns="0" rIns="0" tIns="0" bIns="0" anchor="t"/>
          <a:lstStyle/>
          <a:p>
            <a:pPr algn="l"/>
            <a:r>
              <a:rPr sz="1000" b="0" i="0">
                <a:solidFill>
                  <a:srgbClr val="5C6874"/>
                </a:solidFill>
                <a:latin typeface="Calibri"/>
              </a:rPr>
              <a:t>SDN and Consolidated vessel entries</a:t>
            </a:r>
          </a:p>
        </p:txBody>
      </p:sp>
      <p:sp>
        <p:nvSpPr>
          <p:cNvPr id="27" name="Rounded Rectangle 26"/>
          <p:cNvSpPr/>
          <p:nvPr/>
        </p:nvSpPr>
        <p:spPr>
          <a:xfrm>
            <a:off x="365760" y="5303520"/>
            <a:ext cx="2331720" cy="749808"/>
          </a:xfrm>
          <a:prstGeom prst="roundRect">
            <a:avLst>
              <a:gd name="adj" fmla="val 8000"/>
            </a:avLst>
          </a:prstGeom>
          <a:solidFill>
            <a:srgbClr val="FFFFFF"/>
          </a:solidFill>
          <a:ln w="12700">
            <a:solidFill>
              <a:srgbClr val="E3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488" y="5376672"/>
            <a:ext cx="2112263" cy="274320"/>
          </a:xfrm>
          <a:prstGeom prst="rect">
            <a:avLst/>
          </a:prstGeom>
          <a:noFill/>
        </p:spPr>
        <p:txBody>
          <a:bodyPr wrap="square" lIns="0" rIns="0" tIns="0" bIns="0" anchor="t"/>
          <a:lstStyle/>
          <a:p>
            <a:pPr algn="l"/>
            <a:r>
              <a:rPr sz="1150" b="1" i="0">
                <a:solidFill>
                  <a:srgbClr val="0A1628"/>
                </a:solidFill>
                <a:latin typeface="Calibri"/>
              </a:rPr>
              <a:t>Zone definitions</a:t>
            </a:r>
          </a:p>
        </p:txBody>
      </p:sp>
      <p:sp>
        <p:nvSpPr>
          <p:cNvPr id="29" name="TextBox 28"/>
          <p:cNvSpPr txBox="1"/>
          <p:nvPr/>
        </p:nvSpPr>
        <p:spPr>
          <a:xfrm>
            <a:off x="475488" y="5632704"/>
            <a:ext cx="2112263" cy="365759"/>
          </a:xfrm>
          <a:prstGeom prst="rect">
            <a:avLst/>
          </a:prstGeom>
          <a:noFill/>
        </p:spPr>
        <p:txBody>
          <a:bodyPr wrap="square" lIns="0" rIns="0" tIns="0" bIns="0" anchor="t"/>
          <a:lstStyle/>
          <a:p>
            <a:pPr algn="l"/>
            <a:r>
              <a:rPr sz="1000" b="0" i="0">
                <a:solidFill>
                  <a:srgbClr val="5C6874"/>
                </a:solidFill>
                <a:latin typeface="Calibri"/>
              </a:rPr>
              <a:t>Anchorage, watch and restricted polygons</a:t>
            </a:r>
          </a:p>
        </p:txBody>
      </p:sp>
      <p:sp>
        <p:nvSpPr>
          <p:cNvPr id="30" name="Rounded Rectangle 29"/>
          <p:cNvSpPr/>
          <p:nvPr/>
        </p:nvSpPr>
        <p:spPr>
          <a:xfrm>
            <a:off x="3017520" y="1828800"/>
            <a:ext cx="2788920" cy="621792"/>
          </a:xfrm>
          <a:prstGeom prst="roundRect">
            <a:avLst>
              <a:gd name="adj" fmla="val 8000"/>
            </a:avLst>
          </a:prstGeom>
          <a:solidFill>
            <a:srgbClr val="E8F4F6"/>
          </a:solidFill>
          <a:ln w="12700">
            <a:solidFill>
              <a:srgbClr val="1FA7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27248" y="1901952"/>
            <a:ext cx="2569463" cy="274320"/>
          </a:xfrm>
          <a:prstGeom prst="rect">
            <a:avLst/>
          </a:prstGeom>
          <a:noFill/>
        </p:spPr>
        <p:txBody>
          <a:bodyPr wrap="square" lIns="0" rIns="0" tIns="0" bIns="0" anchor="t"/>
          <a:lstStyle/>
          <a:p>
            <a:pPr algn="l"/>
            <a:r>
              <a:rPr sz="1150" b="1" i="0">
                <a:solidFill>
                  <a:srgbClr val="0A1628"/>
                </a:solidFill>
                <a:latin typeface="Calibri"/>
              </a:rPr>
              <a:t>Movement activity</a:t>
            </a:r>
          </a:p>
        </p:txBody>
      </p:sp>
      <p:sp>
        <p:nvSpPr>
          <p:cNvPr id="32" name="TextBox 31"/>
          <p:cNvSpPr txBox="1"/>
          <p:nvPr/>
        </p:nvSpPr>
        <p:spPr>
          <a:xfrm>
            <a:off x="3127248" y="2157984"/>
            <a:ext cx="2569463" cy="237744"/>
          </a:xfrm>
          <a:prstGeom prst="rect">
            <a:avLst/>
          </a:prstGeom>
          <a:noFill/>
        </p:spPr>
        <p:txBody>
          <a:bodyPr wrap="square" lIns="0" rIns="0" tIns="0" bIns="0" anchor="t"/>
          <a:lstStyle/>
          <a:p>
            <a:pPr algn="l"/>
            <a:r>
              <a:rPr sz="1000" b="0" i="0">
                <a:solidFill>
                  <a:srgbClr val="5C6874"/>
                </a:solidFill>
                <a:latin typeface="Calibri"/>
              </a:rPr>
              <a:t>Every 20 s</a:t>
            </a:r>
          </a:p>
        </p:txBody>
      </p:sp>
      <p:sp>
        <p:nvSpPr>
          <p:cNvPr id="33" name="Rounded Rectangle 32"/>
          <p:cNvSpPr/>
          <p:nvPr/>
        </p:nvSpPr>
        <p:spPr>
          <a:xfrm>
            <a:off x="3017520" y="2551176"/>
            <a:ext cx="2788920" cy="621792"/>
          </a:xfrm>
          <a:prstGeom prst="roundRect">
            <a:avLst>
              <a:gd name="adj" fmla="val 8000"/>
            </a:avLst>
          </a:prstGeom>
          <a:solidFill>
            <a:srgbClr val="E8F4F6"/>
          </a:solidFill>
          <a:ln w="12700">
            <a:solidFill>
              <a:srgbClr val="1FA7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127248" y="2624328"/>
            <a:ext cx="2569463" cy="274320"/>
          </a:xfrm>
          <a:prstGeom prst="rect">
            <a:avLst/>
          </a:prstGeom>
          <a:noFill/>
        </p:spPr>
        <p:txBody>
          <a:bodyPr wrap="square" lIns="0" rIns="0" tIns="0" bIns="0" anchor="t"/>
          <a:lstStyle/>
          <a:p>
            <a:pPr algn="l"/>
            <a:r>
              <a:rPr sz="1150" b="1" i="0">
                <a:solidFill>
                  <a:srgbClr val="0A1628"/>
                </a:solidFill>
                <a:latin typeface="Calibri"/>
              </a:rPr>
              <a:t>Slow movement</a:t>
            </a:r>
          </a:p>
        </p:txBody>
      </p:sp>
      <p:sp>
        <p:nvSpPr>
          <p:cNvPr id="35" name="TextBox 34"/>
          <p:cNvSpPr txBox="1"/>
          <p:nvPr/>
        </p:nvSpPr>
        <p:spPr>
          <a:xfrm>
            <a:off x="3127248" y="2880360"/>
            <a:ext cx="2569463" cy="237744"/>
          </a:xfrm>
          <a:prstGeom prst="rect">
            <a:avLst/>
          </a:prstGeom>
          <a:noFill/>
        </p:spPr>
        <p:txBody>
          <a:bodyPr wrap="square" lIns="0" rIns="0" tIns="0" bIns="0" anchor="t"/>
          <a:lstStyle/>
          <a:p>
            <a:pPr algn="l"/>
            <a:r>
              <a:rPr sz="1000" b="0" i="0">
                <a:solidFill>
                  <a:srgbClr val="5C6874"/>
                </a:solidFill>
                <a:latin typeface="Calibri"/>
              </a:rPr>
              <a:t>Every 20 s</a:t>
            </a:r>
          </a:p>
        </p:txBody>
      </p:sp>
      <p:sp>
        <p:nvSpPr>
          <p:cNvPr id="36" name="Rounded Rectangle 35"/>
          <p:cNvSpPr/>
          <p:nvPr/>
        </p:nvSpPr>
        <p:spPr>
          <a:xfrm>
            <a:off x="3017520" y="3273552"/>
            <a:ext cx="2788920" cy="621792"/>
          </a:xfrm>
          <a:prstGeom prst="roundRect">
            <a:avLst>
              <a:gd name="adj" fmla="val 8000"/>
            </a:avLst>
          </a:prstGeom>
          <a:solidFill>
            <a:srgbClr val="E8F4F6"/>
          </a:solidFill>
          <a:ln w="12700">
            <a:solidFill>
              <a:srgbClr val="1FA7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27248" y="3346704"/>
            <a:ext cx="2569463" cy="274320"/>
          </a:xfrm>
          <a:prstGeom prst="rect">
            <a:avLst/>
          </a:prstGeom>
          <a:noFill/>
        </p:spPr>
        <p:txBody>
          <a:bodyPr wrap="square" lIns="0" rIns="0" tIns="0" bIns="0" anchor="t"/>
          <a:lstStyle/>
          <a:p>
            <a:pPr algn="l"/>
            <a:r>
              <a:rPr sz="1150" b="1" i="0">
                <a:solidFill>
                  <a:srgbClr val="0A1628"/>
                </a:solidFill>
                <a:latin typeface="Calibri"/>
              </a:rPr>
              <a:t>Proximity (STS)</a:t>
            </a:r>
          </a:p>
        </p:txBody>
      </p:sp>
      <p:sp>
        <p:nvSpPr>
          <p:cNvPr id="38" name="TextBox 37"/>
          <p:cNvSpPr txBox="1"/>
          <p:nvPr/>
        </p:nvSpPr>
        <p:spPr>
          <a:xfrm>
            <a:off x="3127248" y="3602736"/>
            <a:ext cx="2569463" cy="237744"/>
          </a:xfrm>
          <a:prstGeom prst="rect">
            <a:avLst/>
          </a:prstGeom>
          <a:noFill/>
        </p:spPr>
        <p:txBody>
          <a:bodyPr wrap="square" lIns="0" rIns="0" tIns="0" bIns="0" anchor="t"/>
          <a:lstStyle/>
          <a:p>
            <a:pPr algn="l"/>
            <a:r>
              <a:rPr sz="1000" b="0" i="0">
                <a:solidFill>
                  <a:srgbClr val="5C6874"/>
                </a:solidFill>
                <a:latin typeface="Calibri"/>
              </a:rPr>
              <a:t>Every 30 s</a:t>
            </a:r>
          </a:p>
        </p:txBody>
      </p:sp>
      <p:sp>
        <p:nvSpPr>
          <p:cNvPr id="39" name="Rounded Rectangle 38"/>
          <p:cNvSpPr/>
          <p:nvPr/>
        </p:nvSpPr>
        <p:spPr>
          <a:xfrm>
            <a:off x="3017520" y="3995928"/>
            <a:ext cx="2788920" cy="621792"/>
          </a:xfrm>
          <a:prstGeom prst="roundRect">
            <a:avLst>
              <a:gd name="adj" fmla="val 8000"/>
            </a:avLst>
          </a:prstGeom>
          <a:solidFill>
            <a:srgbClr val="E8F4F6"/>
          </a:solidFill>
          <a:ln w="12700">
            <a:solidFill>
              <a:srgbClr val="1FA7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127248" y="4069080"/>
            <a:ext cx="2569463" cy="274320"/>
          </a:xfrm>
          <a:prstGeom prst="rect">
            <a:avLst/>
          </a:prstGeom>
          <a:noFill/>
        </p:spPr>
        <p:txBody>
          <a:bodyPr wrap="square" lIns="0" rIns="0" tIns="0" bIns="0" anchor="t"/>
          <a:lstStyle/>
          <a:p>
            <a:pPr algn="l"/>
            <a:r>
              <a:rPr sz="1150" b="1" i="0">
                <a:solidFill>
                  <a:srgbClr val="0A1628"/>
                </a:solidFill>
                <a:latin typeface="Calibri"/>
              </a:rPr>
              <a:t>Loitering</a:t>
            </a:r>
          </a:p>
        </p:txBody>
      </p:sp>
      <p:sp>
        <p:nvSpPr>
          <p:cNvPr id="41" name="TextBox 40"/>
          <p:cNvSpPr txBox="1"/>
          <p:nvPr/>
        </p:nvSpPr>
        <p:spPr>
          <a:xfrm>
            <a:off x="3127248" y="4325112"/>
            <a:ext cx="2569463" cy="237744"/>
          </a:xfrm>
          <a:prstGeom prst="rect">
            <a:avLst/>
          </a:prstGeom>
          <a:noFill/>
        </p:spPr>
        <p:txBody>
          <a:bodyPr wrap="square" lIns="0" rIns="0" tIns="0" bIns="0" anchor="t"/>
          <a:lstStyle/>
          <a:p>
            <a:pPr algn="l"/>
            <a:r>
              <a:rPr sz="1000" b="0" i="0">
                <a:solidFill>
                  <a:srgbClr val="5C6874"/>
                </a:solidFill>
                <a:latin typeface="Calibri"/>
              </a:rPr>
              <a:t>Every 15 min</a:t>
            </a:r>
          </a:p>
        </p:txBody>
      </p:sp>
      <p:sp>
        <p:nvSpPr>
          <p:cNvPr id="42" name="Rounded Rectangle 41"/>
          <p:cNvSpPr/>
          <p:nvPr/>
        </p:nvSpPr>
        <p:spPr>
          <a:xfrm>
            <a:off x="3017520" y="4718304"/>
            <a:ext cx="2788920" cy="621792"/>
          </a:xfrm>
          <a:prstGeom prst="roundRect">
            <a:avLst>
              <a:gd name="adj" fmla="val 8000"/>
            </a:avLst>
          </a:prstGeom>
          <a:solidFill>
            <a:srgbClr val="E8F4F6"/>
          </a:solidFill>
          <a:ln w="12700">
            <a:solidFill>
              <a:srgbClr val="1FA7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27248" y="4791456"/>
            <a:ext cx="2569463" cy="274320"/>
          </a:xfrm>
          <a:prstGeom prst="rect">
            <a:avLst/>
          </a:prstGeom>
          <a:noFill/>
        </p:spPr>
        <p:txBody>
          <a:bodyPr wrap="square" lIns="0" rIns="0" tIns="0" bIns="0" anchor="t"/>
          <a:lstStyle/>
          <a:p>
            <a:pPr algn="l"/>
            <a:r>
              <a:rPr sz="1150" b="1" i="0">
                <a:solidFill>
                  <a:srgbClr val="0A1628"/>
                </a:solidFill>
                <a:latin typeface="Calibri"/>
              </a:rPr>
              <a:t>Position anomaly</a:t>
            </a:r>
          </a:p>
        </p:txBody>
      </p:sp>
      <p:sp>
        <p:nvSpPr>
          <p:cNvPr id="44" name="TextBox 43"/>
          <p:cNvSpPr txBox="1"/>
          <p:nvPr/>
        </p:nvSpPr>
        <p:spPr>
          <a:xfrm>
            <a:off x="3127248" y="5047488"/>
            <a:ext cx="2569463" cy="237744"/>
          </a:xfrm>
          <a:prstGeom prst="rect">
            <a:avLst/>
          </a:prstGeom>
          <a:noFill/>
        </p:spPr>
        <p:txBody>
          <a:bodyPr wrap="square" lIns="0" rIns="0" tIns="0" bIns="0" anchor="t"/>
          <a:lstStyle/>
          <a:p>
            <a:pPr algn="l"/>
            <a:r>
              <a:rPr sz="1000" b="0" i="0">
                <a:solidFill>
                  <a:srgbClr val="5C6874"/>
                </a:solidFill>
                <a:latin typeface="Calibri"/>
              </a:rPr>
              <a:t>Every 15 min</a:t>
            </a:r>
          </a:p>
        </p:txBody>
      </p:sp>
      <p:sp>
        <p:nvSpPr>
          <p:cNvPr id="45" name="Rounded Rectangle 44"/>
          <p:cNvSpPr/>
          <p:nvPr/>
        </p:nvSpPr>
        <p:spPr>
          <a:xfrm>
            <a:off x="3017520" y="5440680"/>
            <a:ext cx="2788920" cy="621792"/>
          </a:xfrm>
          <a:prstGeom prst="roundRect">
            <a:avLst>
              <a:gd name="adj" fmla="val 8000"/>
            </a:avLst>
          </a:prstGeom>
          <a:solidFill>
            <a:srgbClr val="E8F4F6"/>
          </a:solidFill>
          <a:ln w="12700">
            <a:solidFill>
              <a:srgbClr val="1FA7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127248" y="5513832"/>
            <a:ext cx="2569463" cy="274320"/>
          </a:xfrm>
          <a:prstGeom prst="rect">
            <a:avLst/>
          </a:prstGeom>
          <a:noFill/>
        </p:spPr>
        <p:txBody>
          <a:bodyPr wrap="square" lIns="0" rIns="0" tIns="0" bIns="0" anchor="t"/>
          <a:lstStyle/>
          <a:p>
            <a:pPr algn="l"/>
            <a:r>
              <a:rPr sz="1150" b="1" i="0">
                <a:solidFill>
                  <a:srgbClr val="0A1628"/>
                </a:solidFill>
                <a:latin typeface="Calibri"/>
              </a:rPr>
              <a:t>STS review case</a:t>
            </a:r>
          </a:p>
        </p:txBody>
      </p:sp>
      <p:sp>
        <p:nvSpPr>
          <p:cNvPr id="47" name="TextBox 46"/>
          <p:cNvSpPr txBox="1"/>
          <p:nvPr/>
        </p:nvSpPr>
        <p:spPr>
          <a:xfrm>
            <a:off x="3127248" y="5769864"/>
            <a:ext cx="2569463" cy="237744"/>
          </a:xfrm>
          <a:prstGeom prst="rect">
            <a:avLst/>
          </a:prstGeom>
          <a:noFill/>
        </p:spPr>
        <p:txBody>
          <a:bodyPr wrap="square" lIns="0" rIns="0" tIns="0" bIns="0" anchor="t"/>
          <a:lstStyle/>
          <a:p>
            <a:pPr algn="l"/>
            <a:r>
              <a:rPr sz="1000" b="0" i="0">
                <a:solidFill>
                  <a:srgbClr val="5C6874"/>
                </a:solidFill>
                <a:latin typeface="Calibri"/>
              </a:rPr>
              <a:t>Every 15 min</a:t>
            </a:r>
          </a:p>
        </p:txBody>
      </p:sp>
      <p:sp>
        <p:nvSpPr>
          <p:cNvPr id="48" name="Rounded Rectangle 47"/>
          <p:cNvSpPr/>
          <p:nvPr/>
        </p:nvSpPr>
        <p:spPr>
          <a:xfrm>
            <a:off x="6172200" y="1828800"/>
            <a:ext cx="2514600" cy="932688"/>
          </a:xfrm>
          <a:prstGeom prst="roundRect">
            <a:avLst>
              <a:gd name="adj" fmla="val 8000"/>
            </a:avLst>
          </a:prstGeom>
          <a:solidFill>
            <a:srgbClr val="FFFFFF"/>
          </a:solidFill>
          <a:ln w="12700">
            <a:solidFill>
              <a:srgbClr val="E3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81928" y="1901952"/>
            <a:ext cx="2295144" cy="274320"/>
          </a:xfrm>
          <a:prstGeom prst="rect">
            <a:avLst/>
          </a:prstGeom>
          <a:noFill/>
        </p:spPr>
        <p:txBody>
          <a:bodyPr wrap="square" lIns="0" rIns="0" tIns="0" bIns="0" anchor="t"/>
          <a:lstStyle/>
          <a:p>
            <a:pPr algn="l"/>
            <a:r>
              <a:rPr sz="1150" b="1" i="0">
                <a:solidFill>
                  <a:srgbClr val="0A1628"/>
                </a:solidFill>
                <a:latin typeface="Calibri"/>
              </a:rPr>
              <a:t>Activity records</a:t>
            </a:r>
          </a:p>
        </p:txBody>
      </p:sp>
      <p:sp>
        <p:nvSpPr>
          <p:cNvPr id="50" name="TextBox 49"/>
          <p:cNvSpPr txBox="1"/>
          <p:nvPr/>
        </p:nvSpPr>
        <p:spPr>
          <a:xfrm>
            <a:off x="6281928" y="2157984"/>
            <a:ext cx="2295144" cy="548640"/>
          </a:xfrm>
          <a:prstGeom prst="rect">
            <a:avLst/>
          </a:prstGeom>
          <a:noFill/>
        </p:spPr>
        <p:txBody>
          <a:bodyPr wrap="square" lIns="0" rIns="0" tIns="0" bIns="0" anchor="t"/>
          <a:lstStyle/>
          <a:p>
            <a:pPr algn="l"/>
            <a:r>
              <a:rPr sz="1000" b="0" i="0">
                <a:solidFill>
                  <a:srgbClr val="5C6874"/>
                </a:solidFill>
                <a:latin typeface="Calibri"/>
              </a:rPr>
              <a:t>Movement, slow movement, loitering</a:t>
            </a:r>
          </a:p>
        </p:txBody>
      </p:sp>
      <p:sp>
        <p:nvSpPr>
          <p:cNvPr id="51" name="Rounded Rectangle 50"/>
          <p:cNvSpPr/>
          <p:nvPr/>
        </p:nvSpPr>
        <p:spPr>
          <a:xfrm>
            <a:off x="6172200" y="2907791"/>
            <a:ext cx="2514600" cy="932688"/>
          </a:xfrm>
          <a:prstGeom prst="roundRect">
            <a:avLst>
              <a:gd name="adj" fmla="val 8000"/>
            </a:avLst>
          </a:prstGeom>
          <a:solidFill>
            <a:srgbClr val="FFFFFF"/>
          </a:solidFill>
          <a:ln w="12700">
            <a:solidFill>
              <a:srgbClr val="E3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81928" y="2980944"/>
            <a:ext cx="2295144" cy="274320"/>
          </a:xfrm>
          <a:prstGeom prst="rect">
            <a:avLst/>
          </a:prstGeom>
          <a:noFill/>
        </p:spPr>
        <p:txBody>
          <a:bodyPr wrap="square" lIns="0" rIns="0" tIns="0" bIns="0" anchor="t"/>
          <a:lstStyle/>
          <a:p>
            <a:pPr algn="l"/>
            <a:r>
              <a:rPr sz="1150" b="1" i="0">
                <a:solidFill>
                  <a:srgbClr val="0A1628"/>
                </a:solidFill>
                <a:latin typeface="Calibri"/>
              </a:rPr>
              <a:t>STS observations</a:t>
            </a:r>
          </a:p>
        </p:txBody>
      </p:sp>
      <p:sp>
        <p:nvSpPr>
          <p:cNvPr id="53" name="TextBox 52"/>
          <p:cNvSpPr txBox="1"/>
          <p:nvPr/>
        </p:nvSpPr>
        <p:spPr>
          <a:xfrm>
            <a:off x="6281928" y="3236975"/>
            <a:ext cx="2295144" cy="548640"/>
          </a:xfrm>
          <a:prstGeom prst="rect">
            <a:avLst/>
          </a:prstGeom>
          <a:noFill/>
        </p:spPr>
        <p:txBody>
          <a:bodyPr wrap="square" lIns="0" rIns="0" tIns="0" bIns="0" anchor="t"/>
          <a:lstStyle/>
          <a:p>
            <a:pPr algn="l"/>
            <a:r>
              <a:rPr sz="1000" b="0" i="0">
                <a:solidFill>
                  <a:srgbClr val="5C6874"/>
                </a:solidFill>
                <a:latin typeface="Calibri"/>
              </a:rPr>
              <a:t>Clusters, members, suspicion score</a:t>
            </a:r>
          </a:p>
        </p:txBody>
      </p:sp>
      <p:sp>
        <p:nvSpPr>
          <p:cNvPr id="54" name="Rounded Rectangle 53"/>
          <p:cNvSpPr/>
          <p:nvPr/>
        </p:nvSpPr>
        <p:spPr>
          <a:xfrm>
            <a:off x="6172200" y="3986783"/>
            <a:ext cx="2514600" cy="932688"/>
          </a:xfrm>
          <a:prstGeom prst="roundRect">
            <a:avLst>
              <a:gd name="adj" fmla="val 8000"/>
            </a:avLst>
          </a:prstGeom>
          <a:solidFill>
            <a:srgbClr val="FFFFFF"/>
          </a:solidFill>
          <a:ln w="12700">
            <a:solidFill>
              <a:srgbClr val="E3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281928" y="4059935"/>
            <a:ext cx="2295144" cy="274320"/>
          </a:xfrm>
          <a:prstGeom prst="rect">
            <a:avLst/>
          </a:prstGeom>
          <a:noFill/>
        </p:spPr>
        <p:txBody>
          <a:bodyPr wrap="square" lIns="0" rIns="0" tIns="0" bIns="0" anchor="t"/>
          <a:lstStyle/>
          <a:p>
            <a:pPr algn="l"/>
            <a:r>
              <a:rPr sz="1150" b="1" i="0">
                <a:solidFill>
                  <a:srgbClr val="0A1628"/>
                </a:solidFill>
                <a:latin typeface="Calibri"/>
              </a:rPr>
              <a:t>Position anomalies</a:t>
            </a:r>
          </a:p>
        </p:txBody>
      </p:sp>
      <p:sp>
        <p:nvSpPr>
          <p:cNvPr id="56" name="TextBox 55"/>
          <p:cNvSpPr txBox="1"/>
          <p:nvPr/>
        </p:nvSpPr>
        <p:spPr>
          <a:xfrm>
            <a:off x="6281928" y="4315968"/>
            <a:ext cx="2295144" cy="548640"/>
          </a:xfrm>
          <a:prstGeom prst="rect">
            <a:avLst/>
          </a:prstGeom>
          <a:noFill/>
        </p:spPr>
        <p:txBody>
          <a:bodyPr wrap="square" lIns="0" rIns="0" tIns="0" bIns="0" anchor="t"/>
          <a:lstStyle/>
          <a:p>
            <a:pPr algn="l"/>
            <a:r>
              <a:rPr sz="1000" b="0" i="0">
                <a:solidFill>
                  <a:srgbClr val="5C6874"/>
                </a:solidFill>
                <a:latin typeface="Calibri"/>
              </a:rPr>
              <a:t>One row per vessel per UTC day</a:t>
            </a:r>
          </a:p>
        </p:txBody>
      </p:sp>
      <p:sp>
        <p:nvSpPr>
          <p:cNvPr id="57" name="Rounded Rectangle 56"/>
          <p:cNvSpPr/>
          <p:nvPr/>
        </p:nvSpPr>
        <p:spPr>
          <a:xfrm>
            <a:off x="6172200" y="5065776"/>
            <a:ext cx="2514600" cy="932688"/>
          </a:xfrm>
          <a:prstGeom prst="roundRect">
            <a:avLst>
              <a:gd name="adj" fmla="val 8000"/>
            </a:avLst>
          </a:prstGeom>
          <a:solidFill>
            <a:srgbClr val="FFFFFF"/>
          </a:solidFill>
          <a:ln w="12700">
            <a:solidFill>
              <a:srgbClr val="E3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281928" y="5138928"/>
            <a:ext cx="2295144" cy="274320"/>
          </a:xfrm>
          <a:prstGeom prst="rect">
            <a:avLst/>
          </a:prstGeom>
          <a:noFill/>
        </p:spPr>
        <p:txBody>
          <a:bodyPr wrap="square" lIns="0" rIns="0" tIns="0" bIns="0" anchor="t"/>
          <a:lstStyle/>
          <a:p>
            <a:pPr algn="l"/>
            <a:r>
              <a:rPr sz="1150" b="1" i="0">
                <a:solidFill>
                  <a:srgbClr val="0A1628"/>
                </a:solidFill>
                <a:latin typeface="Calibri"/>
              </a:rPr>
              <a:t>STS review cases</a:t>
            </a:r>
          </a:p>
        </p:txBody>
      </p:sp>
      <p:sp>
        <p:nvSpPr>
          <p:cNvPr id="59" name="TextBox 58"/>
          <p:cNvSpPr txBox="1"/>
          <p:nvPr/>
        </p:nvSpPr>
        <p:spPr>
          <a:xfrm>
            <a:off x="6281928" y="5394960"/>
            <a:ext cx="2295144" cy="548640"/>
          </a:xfrm>
          <a:prstGeom prst="rect">
            <a:avLst/>
          </a:prstGeom>
          <a:noFill/>
        </p:spPr>
        <p:txBody>
          <a:bodyPr wrap="square" lIns="0" rIns="0" tIns="0" bIns="0" anchor="t"/>
          <a:lstStyle/>
          <a:p>
            <a:pPr algn="l"/>
            <a:r>
              <a:rPr sz="1000" b="0" i="0">
                <a:solidFill>
                  <a:srgbClr val="5C6874"/>
                </a:solidFill>
                <a:latin typeface="Calibri"/>
              </a:rPr>
              <a:t>Enrichment flags and analyst decision</a:t>
            </a:r>
          </a:p>
        </p:txBody>
      </p:sp>
      <p:sp>
        <p:nvSpPr>
          <p:cNvPr id="60" name="Rounded Rectangle 59"/>
          <p:cNvSpPr/>
          <p:nvPr/>
        </p:nvSpPr>
        <p:spPr>
          <a:xfrm>
            <a:off x="9098280" y="1828800"/>
            <a:ext cx="2697480" cy="1325880"/>
          </a:xfrm>
          <a:prstGeom prst="roundRect">
            <a:avLst>
              <a:gd name="adj" fmla="val 8000"/>
            </a:avLst>
          </a:prstGeom>
          <a:solidFill>
            <a:srgbClr val="12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208007" y="1901952"/>
            <a:ext cx="2478024" cy="274320"/>
          </a:xfrm>
          <a:prstGeom prst="rect">
            <a:avLst/>
          </a:prstGeom>
          <a:noFill/>
        </p:spPr>
        <p:txBody>
          <a:bodyPr wrap="square" lIns="0" rIns="0" tIns="0" bIns="0" anchor="t"/>
          <a:lstStyle/>
          <a:p>
            <a:pPr algn="l"/>
            <a:r>
              <a:rPr sz="1200" b="1" i="0">
                <a:solidFill>
                  <a:srgbClr val="FFFFFF"/>
                </a:solidFill>
                <a:latin typeface="Calibri"/>
              </a:rPr>
              <a:t>MANTIS REST API</a:t>
            </a:r>
          </a:p>
        </p:txBody>
      </p:sp>
      <p:sp>
        <p:nvSpPr>
          <p:cNvPr id="62" name="TextBox 61"/>
          <p:cNvSpPr txBox="1"/>
          <p:nvPr/>
        </p:nvSpPr>
        <p:spPr>
          <a:xfrm>
            <a:off x="9208007" y="2157984"/>
            <a:ext cx="2478024" cy="941832"/>
          </a:xfrm>
          <a:prstGeom prst="rect">
            <a:avLst/>
          </a:prstGeom>
          <a:noFill/>
        </p:spPr>
        <p:txBody>
          <a:bodyPr wrap="square" lIns="0" rIns="0" tIns="0" bIns="0" anchor="t"/>
          <a:lstStyle/>
          <a:p>
            <a:pPr algn="l"/>
            <a:r>
              <a:rPr sz="1050" b="0" i="0">
                <a:solidFill>
                  <a:srgbClr val="D5E0E8"/>
                </a:solidFill>
                <a:latin typeface="Calibri"/>
              </a:rPr>
              <a:t>Gunicorn, two workers. Read-only connection pool. Review verification uses one separate write connection.</a:t>
            </a:r>
          </a:p>
        </p:txBody>
      </p:sp>
      <p:sp>
        <p:nvSpPr>
          <p:cNvPr id="63" name="Rounded Rectangle 62"/>
          <p:cNvSpPr/>
          <p:nvPr/>
        </p:nvSpPr>
        <p:spPr>
          <a:xfrm>
            <a:off x="9098280" y="3383280"/>
            <a:ext cx="2697480" cy="841248"/>
          </a:xfrm>
          <a:prstGeom prst="roundRect">
            <a:avLst>
              <a:gd name="adj" fmla="val 8000"/>
            </a:avLst>
          </a:prstGeom>
          <a:solidFill>
            <a:srgbClr val="FFFFFF"/>
          </a:solidFill>
          <a:ln w="12700">
            <a:solidFill>
              <a:srgbClr val="E3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208007" y="3456432"/>
            <a:ext cx="2478024" cy="274320"/>
          </a:xfrm>
          <a:prstGeom prst="rect">
            <a:avLst/>
          </a:prstGeom>
          <a:noFill/>
        </p:spPr>
        <p:txBody>
          <a:bodyPr wrap="square" lIns="0" rIns="0" tIns="0" bIns="0" anchor="t"/>
          <a:lstStyle/>
          <a:p>
            <a:pPr algn="l"/>
            <a:r>
              <a:rPr sz="1150" b="1" i="0">
                <a:solidFill>
                  <a:srgbClr val="0A1628"/>
                </a:solidFill>
                <a:latin typeface="Calibri"/>
              </a:rPr>
              <a:t>Dashboard</a:t>
            </a:r>
          </a:p>
        </p:txBody>
      </p:sp>
      <p:sp>
        <p:nvSpPr>
          <p:cNvPr id="65" name="TextBox 64"/>
          <p:cNvSpPr txBox="1"/>
          <p:nvPr/>
        </p:nvSpPr>
        <p:spPr>
          <a:xfrm>
            <a:off x="9208007" y="3712464"/>
            <a:ext cx="2478024" cy="457200"/>
          </a:xfrm>
          <a:prstGeom prst="rect">
            <a:avLst/>
          </a:prstGeom>
          <a:noFill/>
        </p:spPr>
        <p:txBody>
          <a:bodyPr wrap="square" lIns="0" rIns="0" tIns="0" bIns="0" anchor="t"/>
          <a:lstStyle/>
          <a:p>
            <a:pPr algn="l"/>
            <a:r>
              <a:rPr sz="1000" b="0" i="0">
                <a:solidFill>
                  <a:srgbClr val="5C6874"/>
                </a:solidFill>
                <a:latin typeface="Calibri"/>
              </a:rPr>
              <a:t>Live operating picture</a:t>
            </a:r>
          </a:p>
        </p:txBody>
      </p:sp>
      <p:sp>
        <p:nvSpPr>
          <p:cNvPr id="66" name="Rounded Rectangle 65"/>
          <p:cNvSpPr/>
          <p:nvPr/>
        </p:nvSpPr>
        <p:spPr>
          <a:xfrm>
            <a:off x="9098280" y="4370832"/>
            <a:ext cx="2697480" cy="841248"/>
          </a:xfrm>
          <a:prstGeom prst="roundRect">
            <a:avLst>
              <a:gd name="adj" fmla="val 8000"/>
            </a:avLst>
          </a:prstGeom>
          <a:solidFill>
            <a:srgbClr val="FFFFFF"/>
          </a:solidFill>
          <a:ln w="12700">
            <a:solidFill>
              <a:srgbClr val="E3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208007" y="4443984"/>
            <a:ext cx="2478024" cy="274320"/>
          </a:xfrm>
          <a:prstGeom prst="rect">
            <a:avLst/>
          </a:prstGeom>
          <a:noFill/>
        </p:spPr>
        <p:txBody>
          <a:bodyPr wrap="square" lIns="0" rIns="0" tIns="0" bIns="0" anchor="t"/>
          <a:lstStyle/>
          <a:p>
            <a:pPr algn="l"/>
            <a:r>
              <a:rPr sz="1150" b="1" i="0">
                <a:solidFill>
                  <a:srgbClr val="0A1628"/>
                </a:solidFill>
                <a:latin typeface="Calibri"/>
              </a:rPr>
              <a:t>Notification and review</a:t>
            </a:r>
          </a:p>
        </p:txBody>
      </p:sp>
      <p:sp>
        <p:nvSpPr>
          <p:cNvPr id="68" name="TextBox 67"/>
          <p:cNvSpPr txBox="1"/>
          <p:nvPr/>
        </p:nvSpPr>
        <p:spPr>
          <a:xfrm>
            <a:off x="9208007" y="4700016"/>
            <a:ext cx="2478024" cy="457200"/>
          </a:xfrm>
          <a:prstGeom prst="rect">
            <a:avLst/>
          </a:prstGeom>
          <a:noFill/>
        </p:spPr>
        <p:txBody>
          <a:bodyPr wrap="square" lIns="0" rIns="0" tIns="0" bIns="0" anchor="t"/>
          <a:lstStyle/>
          <a:p>
            <a:pPr algn="l"/>
            <a:r>
              <a:rPr sz="1000" b="0" i="0">
                <a:solidFill>
                  <a:srgbClr val="5C6874"/>
                </a:solidFill>
                <a:latin typeface="Calibri"/>
              </a:rPr>
              <a:t>Unexplained STS cases, analyst decisions</a:t>
            </a:r>
          </a:p>
        </p:txBody>
      </p:sp>
      <p:sp>
        <p:nvSpPr>
          <p:cNvPr id="69" name="Rounded Rectangle 68"/>
          <p:cNvSpPr/>
          <p:nvPr/>
        </p:nvSpPr>
        <p:spPr>
          <a:xfrm>
            <a:off x="9098280" y="5358384"/>
            <a:ext cx="2697480" cy="841248"/>
          </a:xfrm>
          <a:prstGeom prst="roundRect">
            <a:avLst>
              <a:gd name="adj" fmla="val 8000"/>
            </a:avLst>
          </a:prstGeom>
          <a:solidFill>
            <a:srgbClr val="FFFFFF"/>
          </a:solidFill>
          <a:ln w="12700">
            <a:solidFill>
              <a:srgbClr val="E3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208007" y="5431536"/>
            <a:ext cx="2478024" cy="274320"/>
          </a:xfrm>
          <a:prstGeom prst="rect">
            <a:avLst/>
          </a:prstGeom>
          <a:noFill/>
        </p:spPr>
        <p:txBody>
          <a:bodyPr wrap="square" lIns="0" rIns="0" tIns="0" bIns="0" anchor="t"/>
          <a:lstStyle/>
          <a:p>
            <a:pPr algn="l"/>
            <a:r>
              <a:rPr sz="1150" b="1" i="0">
                <a:solidFill>
                  <a:srgbClr val="0A1628"/>
                </a:solidFill>
                <a:latin typeface="Calibri"/>
              </a:rPr>
              <a:t>Reports and dataset</a:t>
            </a:r>
          </a:p>
        </p:txBody>
      </p:sp>
      <p:sp>
        <p:nvSpPr>
          <p:cNvPr id="71" name="TextBox 70"/>
          <p:cNvSpPr txBox="1"/>
          <p:nvPr/>
        </p:nvSpPr>
        <p:spPr>
          <a:xfrm>
            <a:off x="9208007" y="5687568"/>
            <a:ext cx="2478024" cy="457200"/>
          </a:xfrm>
          <a:prstGeom prst="rect">
            <a:avLst/>
          </a:prstGeom>
          <a:noFill/>
        </p:spPr>
        <p:txBody>
          <a:bodyPr wrap="square" lIns="0" rIns="0" tIns="0" bIns="0" anchor="t"/>
          <a:lstStyle/>
          <a:p>
            <a:pPr algn="l"/>
            <a:r>
              <a:rPr sz="1000" b="0" i="0">
                <a:solidFill>
                  <a:srgbClr val="5C6874"/>
                </a:solidFill>
                <a:latin typeface="Calibri"/>
              </a:rPr>
              <a:t>Unreviewed backlog, labelled cases</a:t>
            </a:r>
          </a:p>
        </p:txBody>
      </p:sp>
      <p:cxnSp>
        <p:nvCxnSpPr>
          <p:cNvPr id="72" name="Connector 71"/>
          <p:cNvCxnSpPr/>
          <p:nvPr/>
        </p:nvCxnSpPr>
        <p:spPr>
          <a:xfrm>
            <a:off x="2724912" y="3977639"/>
            <a:ext cx="265176" cy="0"/>
          </a:xfrm>
          <a:prstGeom prst="line">
            <a:avLst/>
          </a:prstGeom>
          <a:ln w="22225">
            <a:solidFill>
              <a:srgbClr val="1FA7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5833872" y="3977639"/>
            <a:ext cx="310896" cy="0"/>
          </a:xfrm>
          <a:prstGeom prst="line">
            <a:avLst/>
          </a:prstGeom>
          <a:ln w="22225">
            <a:solidFill>
              <a:srgbClr val="1FA7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8714232" y="3977639"/>
            <a:ext cx="356616" cy="0"/>
          </a:xfrm>
          <a:prstGeom prst="line">
            <a:avLst/>
          </a:prstGeom>
          <a:ln w="22225">
            <a:solidFill>
              <a:srgbClr val="1FA7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10442448" y="3172968"/>
            <a:ext cx="0" cy="192024"/>
          </a:xfrm>
          <a:prstGeom prst="line">
            <a:avLst/>
          </a:prstGeom>
          <a:ln w="19050">
            <a:solidFill>
              <a:srgbClr val="1FA7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438912" y="6492240"/>
            <a:ext cx="5486400" cy="237744"/>
          </a:xfrm>
          <a:prstGeom prst="rect">
            <a:avLst/>
          </a:prstGeom>
          <a:noFill/>
        </p:spPr>
        <p:txBody>
          <a:bodyPr wrap="square" lIns="0" rIns="0" tIns="0" bIns="0" anchor="t"/>
          <a:lstStyle/>
          <a:p>
            <a:pPr algn="l"/>
            <a:r>
              <a:rPr sz="1000" b="1" i="0">
                <a:solidFill>
                  <a:srgbClr val="5C6874"/>
                </a:solidFill>
                <a:latin typeface="Calibri"/>
              </a:rPr>
              <a:t>MANTIS  |  Maritime Intelligence &amp; Intercept System</a:t>
            </a:r>
          </a:p>
        </p:txBody>
      </p:sp>
      <p:sp>
        <p:nvSpPr>
          <p:cNvPr id="77" name="TextBox 76"/>
          <p:cNvSpPr txBox="1"/>
          <p:nvPr/>
        </p:nvSpPr>
        <p:spPr>
          <a:xfrm>
            <a:off x="4754880" y="6492240"/>
            <a:ext cx="2743200" cy="237744"/>
          </a:xfrm>
          <a:prstGeom prst="rect">
            <a:avLst/>
          </a:prstGeom>
          <a:noFill/>
        </p:spPr>
        <p:txBody>
          <a:bodyPr wrap="square" lIns="0" rIns="0" tIns="0" bIns="0" anchor="t"/>
          <a:lstStyle/>
          <a:p>
            <a:pPr algn="ctr"/>
            <a:r>
              <a:rPr sz="1000" b="0" i="0">
                <a:solidFill>
                  <a:srgbClr val="5C6874"/>
                </a:solidFill>
                <a:latin typeface="Calibri"/>
              </a:rPr>
              <a:t>October 2026</a:t>
            </a:r>
          </a:p>
        </p:txBody>
      </p:sp>
      <p:sp>
        <p:nvSpPr>
          <p:cNvPr id="78" name="TextBox 77"/>
          <p:cNvSpPr txBox="1"/>
          <p:nvPr/>
        </p:nvSpPr>
        <p:spPr>
          <a:xfrm>
            <a:off x="10332720" y="6492240"/>
            <a:ext cx="1417320" cy="237744"/>
          </a:xfrm>
          <a:prstGeom prst="rect">
            <a:avLst/>
          </a:prstGeom>
          <a:noFill/>
        </p:spPr>
        <p:txBody>
          <a:bodyPr wrap="square" lIns="0" rIns="0" tIns="0" bIns="0" anchor="t"/>
          <a:lstStyle/>
          <a:p>
            <a:pPr algn="r"/>
            <a:r>
              <a:rPr sz="1000" b="0" i="0">
                <a:solidFill>
                  <a:srgbClr val="5C6874"/>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1FA7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56032"/>
            <a:ext cx="8229600" cy="219456"/>
          </a:xfrm>
          <a:prstGeom prst="rect">
            <a:avLst/>
          </a:prstGeom>
          <a:noFill/>
        </p:spPr>
        <p:txBody>
          <a:bodyPr wrap="square" lIns="0" rIns="0" tIns="0" bIns="0" anchor="t"/>
          <a:lstStyle/>
          <a:p>
            <a:pPr algn="l"/>
            <a:r>
              <a:rPr sz="1100" b="1" i="0">
                <a:solidFill>
                  <a:srgbClr val="0E6E7C"/>
                </a:solidFill>
                <a:latin typeface="Calibri"/>
              </a:rPr>
              <a:t>DATA PIPELINES</a:t>
            </a:r>
          </a:p>
        </p:txBody>
      </p:sp>
      <p:sp>
        <p:nvSpPr>
          <p:cNvPr id="5" name="TextBox 4"/>
          <p:cNvSpPr txBox="1"/>
          <p:nvPr/>
        </p:nvSpPr>
        <p:spPr>
          <a:xfrm>
            <a:off x="420624" y="457200"/>
            <a:ext cx="11338560" cy="457200"/>
          </a:xfrm>
          <a:prstGeom prst="rect">
            <a:avLst/>
          </a:prstGeom>
          <a:noFill/>
        </p:spPr>
        <p:txBody>
          <a:bodyPr wrap="square" lIns="0" rIns="0" tIns="0" bIns="0" anchor="t"/>
          <a:lstStyle/>
          <a:p>
            <a:pPr algn="l"/>
            <a:r>
              <a:rPr sz="2600" b="1" i="0">
                <a:solidFill>
                  <a:srgbClr val="0A1628"/>
                </a:solidFill>
                <a:latin typeface="Calibri"/>
              </a:rPr>
              <a:t>Each module is fed by a scheduled pipeline with a defined input and output</a:t>
            </a:r>
          </a:p>
        </p:txBody>
      </p:sp>
      <p:sp>
        <p:nvSpPr>
          <p:cNvPr id="6" name="TextBox 5"/>
          <p:cNvSpPr txBox="1"/>
          <p:nvPr/>
        </p:nvSpPr>
        <p:spPr>
          <a:xfrm>
            <a:off x="438912" y="932688"/>
            <a:ext cx="11292840" cy="384048"/>
          </a:xfrm>
          <a:prstGeom prst="rect">
            <a:avLst/>
          </a:prstGeom>
          <a:noFill/>
        </p:spPr>
        <p:txBody>
          <a:bodyPr wrap="square" lIns="0" rIns="0" tIns="0" bIns="0" anchor="t"/>
          <a:lstStyle/>
          <a:p>
            <a:pPr algn="l"/>
            <a:r>
              <a:rPr sz="1350" b="0" i="0">
                <a:solidFill>
                  <a:srgbClr val="5C6874"/>
                </a:solidFill>
                <a:latin typeface="Calibri"/>
              </a:rPr>
              <a:t>Pipelines run as managed services on the processing server and restart automatically on failure.</a:t>
            </a:r>
          </a:p>
        </p:txBody>
      </p:sp>
      <p:graphicFrame>
        <p:nvGraphicFramePr>
          <p:cNvPr id="7" name="Table 6"/>
          <p:cNvGraphicFramePr>
            <a:graphicFrameLocks noGrp="1"/>
          </p:cNvGraphicFramePr>
          <p:nvPr/>
        </p:nvGraphicFramePr>
        <p:xfrm>
          <a:off x="438912" y="1508760"/>
          <a:ext cx="11247120" cy="4114800"/>
        </p:xfrm>
        <a:graphic>
          <a:graphicData uri="http://schemas.openxmlformats.org/drawingml/2006/table">
            <a:tbl>
              <a:tblPr firstRow="1" bandRow="1">
                <a:tableStyleId>{5C22544A-7EE6-4342-B048-85BDC9FD1C3A}</a:tableStyleId>
              </a:tblPr>
              <a:tblGrid>
                <a:gridCol w="1965960"/>
                <a:gridCol w="2880360"/>
                <a:gridCol w="960120"/>
                <a:gridCol w="2743200"/>
                <a:gridCol w="2697480"/>
              </a:tblGrid>
              <a:tr h="457200">
                <a:tc>
                  <a:txBody>
                    <a:bodyPr wrap="square"/>
                    <a:lstStyle/>
                    <a:p>
                      <a:r>
                        <a:rPr sz="1150" b="1" i="0">
                          <a:solidFill>
                            <a:srgbClr val="FFFFFF"/>
                          </a:solidFill>
                          <a:latin typeface="Calibri"/>
                        </a:rPr>
                        <a:t>Data pipeline</a:t>
                      </a:r>
                    </a:p>
                  </a:txBody>
                  <a:tcPr marL="91440" marR="91440" marT="45720" marB="45720">
                    <a:solidFill>
                      <a:srgbClr val="122438"/>
                    </a:solidFill>
                  </a:tcPr>
                </a:tc>
                <a:tc>
                  <a:txBody>
                    <a:bodyPr wrap="square"/>
                    <a:lstStyle/>
                    <a:p>
                      <a:r>
                        <a:rPr sz="1150" b="1" i="0">
                          <a:solidFill>
                            <a:srgbClr val="FFFFFF"/>
                          </a:solidFill>
                          <a:latin typeface="Calibri"/>
                        </a:rPr>
                        <a:t>Input</a:t>
                      </a:r>
                    </a:p>
                  </a:txBody>
                  <a:tcPr marL="91440" marR="91440" marT="45720" marB="45720">
                    <a:solidFill>
                      <a:srgbClr val="122438"/>
                    </a:solidFill>
                  </a:tcPr>
                </a:tc>
                <a:tc>
                  <a:txBody>
                    <a:bodyPr wrap="square"/>
                    <a:lstStyle/>
                    <a:p>
                      <a:r>
                        <a:rPr sz="1150" b="1" i="0">
                          <a:solidFill>
                            <a:srgbClr val="FFFFFF"/>
                          </a:solidFill>
                          <a:latin typeface="Calibri"/>
                        </a:rPr>
                        <a:t>Cycle</a:t>
                      </a:r>
                    </a:p>
                  </a:txBody>
                  <a:tcPr marL="91440" marR="91440" marT="45720" marB="45720">
                    <a:solidFill>
                      <a:srgbClr val="122438"/>
                    </a:solidFill>
                  </a:tcPr>
                </a:tc>
                <a:tc>
                  <a:txBody>
                    <a:bodyPr wrap="square"/>
                    <a:lstStyle/>
                    <a:p>
                      <a:r>
                        <a:rPr sz="1150" b="1" i="0">
                          <a:solidFill>
                            <a:srgbClr val="FFFFFF"/>
                          </a:solidFill>
                          <a:latin typeface="Calibri"/>
                        </a:rPr>
                        <a:t>Output</a:t>
                      </a:r>
                    </a:p>
                  </a:txBody>
                  <a:tcPr marL="91440" marR="91440" marT="45720" marB="45720">
                    <a:solidFill>
                      <a:srgbClr val="122438"/>
                    </a:solidFill>
                  </a:tcPr>
                </a:tc>
                <a:tc>
                  <a:txBody>
                    <a:bodyPr wrap="square"/>
                    <a:lstStyle/>
                    <a:p>
                      <a:r>
                        <a:rPr sz="1150" b="1" i="0">
                          <a:solidFill>
                            <a:srgbClr val="FFFFFF"/>
                          </a:solidFill>
                          <a:latin typeface="Calibri"/>
                        </a:rPr>
                        <a:t>Consumed by</a:t>
                      </a:r>
                    </a:p>
                  </a:txBody>
                  <a:tcPr marL="91440" marR="91440" marT="45720" marB="45720">
                    <a:solidFill>
                      <a:srgbClr val="122438"/>
                    </a:solidFill>
                  </a:tcPr>
                </a:tc>
              </a:tr>
              <a:tr h="457200">
                <a:tc>
                  <a:txBody>
                    <a:bodyPr wrap="square"/>
                    <a:lstStyle/>
                    <a:p>
                      <a:r>
                        <a:rPr sz="1150" b="1" i="0">
                          <a:solidFill>
                            <a:srgbClr val="0A1628"/>
                          </a:solidFill>
                          <a:latin typeface="Calibri"/>
                        </a:rPr>
                        <a:t>Movement activity</a:t>
                      </a:r>
                    </a:p>
                  </a:txBody>
                  <a:tcPr marL="91440" marR="91440" marT="45720" marB="45720">
                    <a:solidFill>
                      <a:srgbClr val="FFFFFF"/>
                    </a:solidFill>
                  </a:tcPr>
                </a:tc>
                <a:tc>
                  <a:txBody>
                    <a:bodyPr wrap="square"/>
                    <a:lstStyle/>
                    <a:p>
                      <a:r>
                        <a:rPr sz="1150" b="0" i="0">
                          <a:solidFill>
                            <a:srgbClr val="243140"/>
                          </a:solidFill>
                          <a:latin typeface="Calibri"/>
                        </a:rPr>
                        <a:t>Latest AIS position per vessel</a:t>
                      </a:r>
                    </a:p>
                  </a:txBody>
                  <a:tcPr marL="91440" marR="91440" marT="45720" marB="45720">
                    <a:solidFill>
                      <a:srgbClr val="FFFFFF"/>
                    </a:solidFill>
                  </a:tcPr>
                </a:tc>
                <a:tc>
                  <a:txBody>
                    <a:bodyPr wrap="square"/>
                    <a:lstStyle/>
                    <a:p>
                      <a:r>
                        <a:rPr sz="1150" b="0" i="0">
                          <a:solidFill>
                            <a:srgbClr val="243140"/>
                          </a:solidFill>
                          <a:latin typeface="Calibri"/>
                        </a:rPr>
                        <a:t>20 s</a:t>
                      </a:r>
                    </a:p>
                  </a:txBody>
                  <a:tcPr marL="91440" marR="91440" marT="45720" marB="45720">
                    <a:solidFill>
                      <a:srgbClr val="FFFFFF"/>
                    </a:solidFill>
                  </a:tcPr>
                </a:tc>
                <a:tc>
                  <a:txBody>
                    <a:bodyPr wrap="square"/>
                    <a:lstStyle/>
                    <a:p>
                      <a:r>
                        <a:rPr sz="1150" b="0" i="0">
                          <a:solidFill>
                            <a:srgbClr val="243140"/>
                          </a:solidFill>
                          <a:latin typeface="Calibri"/>
                        </a:rPr>
                        <a:t>Movement records (stop at 0.5 kn)</a:t>
                      </a:r>
                    </a:p>
                  </a:txBody>
                  <a:tcPr marL="91440" marR="91440" marT="45720" marB="45720">
                    <a:solidFill>
                      <a:srgbClr val="FFFFFF"/>
                    </a:solidFill>
                  </a:tcPr>
                </a:tc>
                <a:tc>
                  <a:txBody>
                    <a:bodyPr wrap="square"/>
                    <a:lstStyle/>
                    <a:p>
                      <a:r>
                        <a:rPr sz="1150" b="0" i="0">
                          <a:solidFill>
                            <a:srgbClr val="243140"/>
                          </a:solidFill>
                          <a:latin typeface="Calibri"/>
                        </a:rPr>
                        <a:t>Illegal anchoring, STS candidates</a:t>
                      </a:r>
                    </a:p>
                  </a:txBody>
                  <a:tcPr marL="91440" marR="91440" marT="45720" marB="45720">
                    <a:solidFill>
                      <a:srgbClr val="FFFFFF"/>
                    </a:solidFill>
                  </a:tcPr>
                </a:tc>
              </a:tr>
              <a:tr h="457200">
                <a:tc>
                  <a:txBody>
                    <a:bodyPr wrap="square"/>
                    <a:lstStyle/>
                    <a:p>
                      <a:r>
                        <a:rPr sz="1150" b="1" i="0">
                          <a:solidFill>
                            <a:srgbClr val="0A1628"/>
                          </a:solidFill>
                          <a:latin typeface="Calibri"/>
                        </a:rPr>
                        <a:t>Slow movement</a:t>
                      </a:r>
                    </a:p>
                  </a:txBody>
                  <a:tcPr marL="91440" marR="91440" marT="45720" marB="45720">
                    <a:solidFill>
                      <a:srgbClr val="E8F4F6"/>
                    </a:solidFill>
                  </a:tcPr>
                </a:tc>
                <a:tc>
                  <a:txBody>
                    <a:bodyPr wrap="square"/>
                    <a:lstStyle/>
                    <a:p>
                      <a:r>
                        <a:rPr sz="1150" b="0" i="0">
                          <a:solidFill>
                            <a:srgbClr val="243140"/>
                          </a:solidFill>
                          <a:latin typeface="Calibri"/>
                        </a:rPr>
                        <a:t>Latest AIS position per vessel</a:t>
                      </a:r>
                    </a:p>
                  </a:txBody>
                  <a:tcPr marL="91440" marR="91440" marT="45720" marB="45720">
                    <a:solidFill>
                      <a:srgbClr val="E8F4F6"/>
                    </a:solidFill>
                  </a:tcPr>
                </a:tc>
                <a:tc>
                  <a:txBody>
                    <a:bodyPr wrap="square"/>
                    <a:lstStyle/>
                    <a:p>
                      <a:r>
                        <a:rPr sz="1150" b="0" i="0">
                          <a:solidFill>
                            <a:srgbClr val="243140"/>
                          </a:solidFill>
                          <a:latin typeface="Calibri"/>
                        </a:rPr>
                        <a:t>20 s</a:t>
                      </a:r>
                    </a:p>
                  </a:txBody>
                  <a:tcPr marL="91440" marR="91440" marT="45720" marB="45720">
                    <a:solidFill>
                      <a:srgbClr val="E8F4F6"/>
                    </a:solidFill>
                  </a:tcPr>
                </a:tc>
                <a:tc>
                  <a:txBody>
                    <a:bodyPr wrap="square"/>
                    <a:lstStyle/>
                    <a:p>
                      <a:r>
                        <a:rPr sz="1150" b="0" i="0">
                          <a:solidFill>
                            <a:srgbClr val="243140"/>
                          </a:solidFill>
                          <a:latin typeface="Calibri"/>
                        </a:rPr>
                        <a:t>Slow-movement records (3 kn)</a:t>
                      </a:r>
                    </a:p>
                  </a:txBody>
                  <a:tcPr marL="91440" marR="91440" marT="45720" marB="45720">
                    <a:solidFill>
                      <a:srgbClr val="E8F4F6"/>
                    </a:solidFill>
                  </a:tcPr>
                </a:tc>
                <a:tc>
                  <a:txBody>
                    <a:bodyPr wrap="square"/>
                    <a:lstStyle/>
                    <a:p>
                      <a:r>
                        <a:rPr sz="1150" b="0" i="0">
                          <a:solidFill>
                            <a:srgbClr val="243140"/>
                          </a:solidFill>
                          <a:latin typeface="Calibri"/>
                        </a:rPr>
                        <a:t>Dark vessels, STS enrichment</a:t>
                      </a:r>
                    </a:p>
                  </a:txBody>
                  <a:tcPr marL="91440" marR="91440" marT="45720" marB="45720">
                    <a:solidFill>
                      <a:srgbClr val="E8F4F6"/>
                    </a:solidFill>
                  </a:tcPr>
                </a:tc>
              </a:tr>
              <a:tr h="457200">
                <a:tc>
                  <a:txBody>
                    <a:bodyPr wrap="square"/>
                    <a:lstStyle/>
                    <a:p>
                      <a:r>
                        <a:rPr sz="1150" b="1" i="0">
                          <a:solidFill>
                            <a:srgbClr val="0A1628"/>
                          </a:solidFill>
                          <a:latin typeface="Calibri"/>
                        </a:rPr>
                        <a:t>Proximity (STS)</a:t>
                      </a:r>
                    </a:p>
                  </a:txBody>
                  <a:tcPr marL="91440" marR="91440" marT="45720" marB="45720">
                    <a:solidFill>
                      <a:srgbClr val="FFFFFF"/>
                    </a:solidFill>
                  </a:tcPr>
                </a:tc>
                <a:tc>
                  <a:txBody>
                    <a:bodyPr wrap="square"/>
                    <a:lstStyle/>
                    <a:p>
                      <a:r>
                        <a:rPr sz="1150" b="0" i="0">
                          <a:solidFill>
                            <a:srgbClr val="243140"/>
                          </a:solidFill>
                          <a:latin typeface="Calibri"/>
                        </a:rPr>
                        <a:t>Movement records, static data, licence cache</a:t>
                      </a:r>
                    </a:p>
                  </a:txBody>
                  <a:tcPr marL="91440" marR="91440" marT="45720" marB="45720">
                    <a:solidFill>
                      <a:srgbClr val="FFFFFF"/>
                    </a:solidFill>
                  </a:tcPr>
                </a:tc>
                <a:tc>
                  <a:txBody>
                    <a:bodyPr wrap="square"/>
                    <a:lstStyle/>
                    <a:p>
                      <a:r>
                        <a:rPr sz="1150" b="0" i="0">
                          <a:solidFill>
                            <a:srgbClr val="243140"/>
                          </a:solidFill>
                          <a:latin typeface="Calibri"/>
                        </a:rPr>
                        <a:t>30 s</a:t>
                      </a:r>
                    </a:p>
                  </a:txBody>
                  <a:tcPr marL="91440" marR="91440" marT="45720" marB="45720">
                    <a:solidFill>
                      <a:srgbClr val="FFFFFF"/>
                    </a:solidFill>
                  </a:tcPr>
                </a:tc>
                <a:tc>
                  <a:txBody>
                    <a:bodyPr wrap="square"/>
                    <a:lstStyle/>
                    <a:p>
                      <a:r>
                        <a:rPr sz="1150" b="0" i="0">
                          <a:solidFill>
                            <a:srgbClr val="243140"/>
                          </a:solidFill>
                          <a:latin typeface="Calibri"/>
                        </a:rPr>
                        <a:t>STS observations and members</a:t>
                      </a:r>
                    </a:p>
                  </a:txBody>
                  <a:tcPr marL="91440" marR="91440" marT="45720" marB="45720">
                    <a:solidFill>
                      <a:srgbClr val="FFFFFF"/>
                    </a:solidFill>
                  </a:tcPr>
                </a:tc>
                <a:tc>
                  <a:txBody>
                    <a:bodyPr wrap="square"/>
                    <a:lstStyle/>
                    <a:p>
                      <a:r>
                        <a:rPr sz="1150" b="0" i="0">
                          <a:solidFill>
                            <a:srgbClr val="243140"/>
                          </a:solidFill>
                          <a:latin typeface="Calibri"/>
                        </a:rPr>
                        <a:t>STS module, review cases</a:t>
                      </a:r>
                    </a:p>
                  </a:txBody>
                  <a:tcPr marL="91440" marR="91440" marT="45720" marB="45720">
                    <a:solidFill>
                      <a:srgbClr val="FFFFFF"/>
                    </a:solidFill>
                  </a:tcPr>
                </a:tc>
              </a:tr>
              <a:tr h="457200">
                <a:tc>
                  <a:txBody>
                    <a:bodyPr wrap="square"/>
                    <a:lstStyle/>
                    <a:p>
                      <a:r>
                        <a:rPr sz="1150" b="1" i="0">
                          <a:solidFill>
                            <a:srgbClr val="0A1628"/>
                          </a:solidFill>
                          <a:latin typeface="Calibri"/>
                        </a:rPr>
                        <a:t>Loitering</a:t>
                      </a:r>
                    </a:p>
                  </a:txBody>
                  <a:tcPr marL="91440" marR="91440" marT="45720" marB="45720">
                    <a:solidFill>
                      <a:srgbClr val="E8F4F6"/>
                    </a:solidFill>
                  </a:tcPr>
                </a:tc>
                <a:tc>
                  <a:txBody>
                    <a:bodyPr wrap="square"/>
                    <a:lstStyle/>
                    <a:p>
                      <a:r>
                        <a:rPr sz="1150" b="0" i="0">
                          <a:solidFill>
                            <a:srgbClr val="243140"/>
                          </a:solidFill>
                          <a:latin typeface="Calibri"/>
                        </a:rPr>
                        <a:t>AIS track, previous 2 hours</a:t>
                      </a:r>
                    </a:p>
                  </a:txBody>
                  <a:tcPr marL="91440" marR="91440" marT="45720" marB="45720">
                    <a:solidFill>
                      <a:srgbClr val="E8F4F6"/>
                    </a:solidFill>
                  </a:tcPr>
                </a:tc>
                <a:tc>
                  <a:txBody>
                    <a:bodyPr wrap="square"/>
                    <a:lstStyle/>
                    <a:p>
                      <a:r>
                        <a:rPr sz="1150" b="0" i="0">
                          <a:solidFill>
                            <a:srgbClr val="243140"/>
                          </a:solidFill>
                          <a:latin typeface="Calibri"/>
                        </a:rPr>
                        <a:t>15 min</a:t>
                      </a:r>
                    </a:p>
                  </a:txBody>
                  <a:tcPr marL="91440" marR="91440" marT="45720" marB="45720">
                    <a:solidFill>
                      <a:srgbClr val="E8F4F6"/>
                    </a:solidFill>
                  </a:tcPr>
                </a:tc>
                <a:tc>
                  <a:txBody>
                    <a:bodyPr wrap="square"/>
                    <a:lstStyle/>
                    <a:p>
                      <a:r>
                        <a:rPr sz="1150" b="0" i="0">
                          <a:solidFill>
                            <a:srgbClr val="243140"/>
                          </a:solidFill>
                          <a:latin typeface="Calibri"/>
                        </a:rPr>
                        <a:t>Loitering events with context flags</a:t>
                      </a:r>
                    </a:p>
                  </a:txBody>
                  <a:tcPr marL="91440" marR="91440" marT="45720" marB="45720">
                    <a:solidFill>
                      <a:srgbClr val="E8F4F6"/>
                    </a:solidFill>
                  </a:tcPr>
                </a:tc>
                <a:tc>
                  <a:txBody>
                    <a:bodyPr wrap="square"/>
                    <a:lstStyle/>
                    <a:p>
                      <a:r>
                        <a:rPr sz="1150" b="0" i="0">
                          <a:solidFill>
                            <a:srgbClr val="243140"/>
                          </a:solidFill>
                          <a:latin typeface="Calibri"/>
                        </a:rPr>
                        <a:t>Loitering module, STS enrichment</a:t>
                      </a:r>
                    </a:p>
                  </a:txBody>
                  <a:tcPr marL="91440" marR="91440" marT="45720" marB="45720">
                    <a:solidFill>
                      <a:srgbClr val="E8F4F6"/>
                    </a:solidFill>
                  </a:tcPr>
                </a:tc>
              </a:tr>
              <a:tr h="457200">
                <a:tc>
                  <a:txBody>
                    <a:bodyPr wrap="square"/>
                    <a:lstStyle/>
                    <a:p>
                      <a:r>
                        <a:rPr sz="1150" b="1" i="0">
                          <a:solidFill>
                            <a:srgbClr val="0A1628"/>
                          </a:solidFill>
                          <a:latin typeface="Calibri"/>
                        </a:rPr>
                        <a:t>Position anomaly</a:t>
                      </a:r>
                    </a:p>
                  </a:txBody>
                  <a:tcPr marL="91440" marR="91440" marT="45720" marB="45720">
                    <a:solidFill>
                      <a:srgbClr val="FFFFFF"/>
                    </a:solidFill>
                  </a:tcPr>
                </a:tc>
                <a:tc>
                  <a:txBody>
                    <a:bodyPr wrap="square"/>
                    <a:lstStyle/>
                    <a:p>
                      <a:r>
                        <a:rPr sz="1150" b="0" i="0">
                          <a:solidFill>
                            <a:srgbClr val="243140"/>
                          </a:solidFill>
                          <a:latin typeface="Calibri"/>
                        </a:rPr>
                        <a:t>AIS position history (cargo, tanker)</a:t>
                      </a:r>
                    </a:p>
                  </a:txBody>
                  <a:tcPr marL="91440" marR="91440" marT="45720" marB="45720">
                    <a:solidFill>
                      <a:srgbClr val="FFFFFF"/>
                    </a:solidFill>
                  </a:tcPr>
                </a:tc>
                <a:tc>
                  <a:txBody>
                    <a:bodyPr wrap="square"/>
                    <a:lstStyle/>
                    <a:p>
                      <a:r>
                        <a:rPr sz="1150" b="0" i="0">
                          <a:solidFill>
                            <a:srgbClr val="243140"/>
                          </a:solidFill>
                          <a:latin typeface="Calibri"/>
                        </a:rPr>
                        <a:t>15 min</a:t>
                      </a:r>
                    </a:p>
                  </a:txBody>
                  <a:tcPr marL="91440" marR="91440" marT="45720" marB="45720">
                    <a:solidFill>
                      <a:srgbClr val="FFFFFF"/>
                    </a:solidFill>
                  </a:tcPr>
                </a:tc>
                <a:tc>
                  <a:txBody>
                    <a:bodyPr wrap="square"/>
                    <a:lstStyle/>
                    <a:p>
                      <a:r>
                        <a:rPr sz="1150" b="0" i="0">
                          <a:solidFill>
                            <a:srgbClr val="243140"/>
                          </a:solidFill>
                          <a:latin typeface="Calibri"/>
                        </a:rPr>
                        <a:t>Daily position anomaly per vessel</a:t>
                      </a:r>
                    </a:p>
                  </a:txBody>
                  <a:tcPr marL="91440" marR="91440" marT="45720" marB="45720">
                    <a:solidFill>
                      <a:srgbClr val="FFFFFF"/>
                    </a:solidFill>
                  </a:tcPr>
                </a:tc>
                <a:tc>
                  <a:txBody>
                    <a:bodyPr wrap="square"/>
                    <a:lstStyle/>
                    <a:p>
                      <a:r>
                        <a:rPr sz="1150" b="0" i="0">
                          <a:solidFill>
                            <a:srgbClr val="243140"/>
                          </a:solidFill>
                          <a:latin typeface="Calibri"/>
                        </a:rPr>
                        <a:t>Spoofing module, STS enrichment</a:t>
                      </a:r>
                    </a:p>
                  </a:txBody>
                  <a:tcPr marL="91440" marR="91440" marT="45720" marB="45720">
                    <a:solidFill>
                      <a:srgbClr val="FFFFFF"/>
                    </a:solidFill>
                  </a:tcPr>
                </a:tc>
              </a:tr>
              <a:tr h="457200">
                <a:tc>
                  <a:txBody>
                    <a:bodyPr wrap="square"/>
                    <a:lstStyle/>
                    <a:p>
                      <a:r>
                        <a:rPr sz="1150" b="1" i="0">
                          <a:solidFill>
                            <a:srgbClr val="0A1628"/>
                          </a:solidFill>
                          <a:latin typeface="Calibri"/>
                        </a:rPr>
                        <a:t>STS review case</a:t>
                      </a:r>
                    </a:p>
                  </a:txBody>
                  <a:tcPr marL="91440" marR="91440" marT="45720" marB="45720">
                    <a:solidFill>
                      <a:srgbClr val="E8F4F6"/>
                    </a:solidFill>
                  </a:tcPr>
                </a:tc>
                <a:tc>
                  <a:txBody>
                    <a:bodyPr wrap="square"/>
                    <a:lstStyle/>
                    <a:p>
                      <a:r>
                        <a:rPr sz="1150" b="0" i="0">
                          <a:solidFill>
                            <a:srgbClr val="243140"/>
                          </a:solidFill>
                          <a:latin typeface="Calibri"/>
                        </a:rPr>
                        <a:t>STS observations and all outputs above</a:t>
                      </a:r>
                    </a:p>
                  </a:txBody>
                  <a:tcPr marL="91440" marR="91440" marT="45720" marB="45720">
                    <a:solidFill>
                      <a:srgbClr val="E8F4F6"/>
                    </a:solidFill>
                  </a:tcPr>
                </a:tc>
                <a:tc>
                  <a:txBody>
                    <a:bodyPr wrap="square"/>
                    <a:lstStyle/>
                    <a:p>
                      <a:r>
                        <a:rPr sz="1150" b="0" i="0">
                          <a:solidFill>
                            <a:srgbClr val="243140"/>
                          </a:solidFill>
                          <a:latin typeface="Calibri"/>
                        </a:rPr>
                        <a:t>15 min*</a:t>
                      </a:r>
                    </a:p>
                  </a:txBody>
                  <a:tcPr marL="91440" marR="91440" marT="45720" marB="45720">
                    <a:solidFill>
                      <a:srgbClr val="E8F4F6"/>
                    </a:solidFill>
                  </a:tcPr>
                </a:tc>
                <a:tc>
                  <a:txBody>
                    <a:bodyPr wrap="square"/>
                    <a:lstStyle/>
                    <a:p>
                      <a:r>
                        <a:rPr sz="1150" b="0" i="0">
                          <a:solidFill>
                            <a:srgbClr val="243140"/>
                          </a:solidFill>
                          <a:latin typeface="Calibri"/>
                        </a:rPr>
                        <a:t>Enriched review cases</a:t>
                      </a:r>
                    </a:p>
                  </a:txBody>
                  <a:tcPr marL="91440" marR="91440" marT="45720" marB="45720">
                    <a:solidFill>
                      <a:srgbClr val="E8F4F6"/>
                    </a:solidFill>
                  </a:tcPr>
                </a:tc>
                <a:tc>
                  <a:txBody>
                    <a:bodyPr wrap="square"/>
                    <a:lstStyle/>
                    <a:p>
                      <a:r>
                        <a:rPr sz="1150" b="0" i="0">
                          <a:solidFill>
                            <a:srgbClr val="243140"/>
                          </a:solidFill>
                          <a:latin typeface="Calibri"/>
                        </a:rPr>
                        <a:t>Notification, review, dataset</a:t>
                      </a:r>
                    </a:p>
                  </a:txBody>
                  <a:tcPr marL="91440" marR="91440" marT="45720" marB="45720">
                    <a:solidFill>
                      <a:srgbClr val="E8F4F6"/>
                    </a:solidFill>
                  </a:tcPr>
                </a:tc>
              </a:tr>
              <a:tr h="457200">
                <a:tc>
                  <a:txBody>
                    <a:bodyPr wrap="square"/>
                    <a:lstStyle/>
                    <a:p>
                      <a:r>
                        <a:rPr sz="1150" b="1" i="0">
                          <a:solidFill>
                            <a:srgbClr val="0A1628"/>
                          </a:solidFill>
                          <a:latin typeface="Calibri"/>
                        </a:rPr>
                        <a:t>Licence cache</a:t>
                      </a:r>
                    </a:p>
                  </a:txBody>
                  <a:tcPr marL="91440" marR="91440" marT="45720" marB="45720">
                    <a:solidFill>
                      <a:srgbClr val="FFFFFF"/>
                    </a:solidFill>
                  </a:tcPr>
                </a:tc>
                <a:tc>
                  <a:txBody>
                    <a:bodyPr wrap="square"/>
                    <a:lstStyle/>
                    <a:p>
                      <a:r>
                        <a:rPr sz="1150" b="0" i="0">
                          <a:solidFill>
                            <a:srgbClr val="243140"/>
                          </a:solidFill>
                          <a:latin typeface="Calibri"/>
                        </a:rPr>
                        <a:t>JKPTG project licence register</a:t>
                      </a:r>
                    </a:p>
                  </a:txBody>
                  <a:tcPr marL="91440" marR="91440" marT="45720" marB="45720">
                    <a:solidFill>
                      <a:srgbClr val="FFFFFF"/>
                    </a:solidFill>
                  </a:tcPr>
                </a:tc>
                <a:tc>
                  <a:txBody>
                    <a:bodyPr wrap="square"/>
                    <a:lstStyle/>
                    <a:p>
                      <a:r>
                        <a:rPr sz="1150" b="0" i="0">
                          <a:solidFill>
                            <a:srgbClr val="243140"/>
                          </a:solidFill>
                          <a:latin typeface="Calibri"/>
                        </a:rPr>
                        <a:t>12 h</a:t>
                      </a:r>
                    </a:p>
                  </a:txBody>
                  <a:tcPr marL="91440" marR="91440" marT="45720" marB="45720">
                    <a:solidFill>
                      <a:srgbClr val="FFFFFF"/>
                    </a:solidFill>
                  </a:tcPr>
                </a:tc>
                <a:tc>
                  <a:txBody>
                    <a:bodyPr wrap="square"/>
                    <a:lstStyle/>
                    <a:p>
                      <a:r>
                        <a:rPr sz="1150" b="0" i="0">
                          <a:solidFill>
                            <a:srgbClr val="243140"/>
                          </a:solidFill>
                          <a:latin typeface="Calibri"/>
                        </a:rPr>
                        <a:t>In-memory licence list</a:t>
                      </a:r>
                    </a:p>
                  </a:txBody>
                  <a:tcPr marL="91440" marR="91440" marT="45720" marB="45720">
                    <a:solidFill>
                      <a:srgbClr val="FFFFFF"/>
                    </a:solidFill>
                  </a:tcPr>
                </a:tc>
                <a:tc>
                  <a:txBody>
                    <a:bodyPr wrap="square"/>
                    <a:lstStyle/>
                    <a:p>
                      <a:r>
                        <a:rPr sz="1150" b="0" i="0">
                          <a:solidFill>
                            <a:srgbClr val="243140"/>
                          </a:solidFill>
                          <a:latin typeface="Calibri"/>
                        </a:rPr>
                        <a:t>Proximity admission, review cases</a:t>
                      </a:r>
                    </a:p>
                  </a:txBody>
                  <a:tcPr marL="91440" marR="91440" marT="45720" marB="45720">
                    <a:solidFill>
                      <a:srgbClr val="FFFFFF"/>
                    </a:solidFill>
                  </a:tcPr>
                </a:tc>
              </a:tr>
              <a:tr h="457200">
                <a:tc>
                  <a:txBody>
                    <a:bodyPr wrap="square"/>
                    <a:lstStyle/>
                    <a:p>
                      <a:r>
                        <a:rPr sz="1150" b="1" i="0">
                          <a:solidFill>
                            <a:srgbClr val="0A1628"/>
                          </a:solidFill>
                          <a:latin typeface="Calibri"/>
                        </a:rPr>
                        <a:t>Identity and sanctions</a:t>
                      </a:r>
                    </a:p>
                  </a:txBody>
                  <a:tcPr marL="91440" marR="91440" marT="45720" marB="45720">
                    <a:solidFill>
                      <a:srgbClr val="E8F4F6"/>
                    </a:solidFill>
                  </a:tcPr>
                </a:tc>
                <a:tc>
                  <a:txBody>
                    <a:bodyPr wrap="square"/>
                    <a:lstStyle/>
                    <a:p>
                      <a:r>
                        <a:rPr sz="1150" b="0" i="0">
                          <a:solidFill>
                            <a:srgbClr val="243140"/>
                          </a:solidFill>
                          <a:latin typeface="Calibri"/>
                        </a:rPr>
                        <a:t>Static data, OFAC lists</a:t>
                      </a:r>
                    </a:p>
                  </a:txBody>
                  <a:tcPr marL="91440" marR="91440" marT="45720" marB="45720">
                    <a:solidFill>
                      <a:srgbClr val="E8F4F6"/>
                    </a:solidFill>
                  </a:tcPr>
                </a:tc>
                <a:tc>
                  <a:txBody>
                    <a:bodyPr wrap="square"/>
                    <a:lstStyle/>
                    <a:p>
                      <a:r>
                        <a:rPr sz="1150" b="0" i="0">
                          <a:solidFill>
                            <a:srgbClr val="243140"/>
                          </a:solidFill>
                          <a:latin typeface="Calibri"/>
                        </a:rPr>
                        <a:t>On request</a:t>
                      </a:r>
                    </a:p>
                  </a:txBody>
                  <a:tcPr marL="91440" marR="91440" marT="45720" marB="45720">
                    <a:solidFill>
                      <a:srgbClr val="E8F4F6"/>
                    </a:solidFill>
                  </a:tcPr>
                </a:tc>
                <a:tc>
                  <a:txBody>
                    <a:bodyPr wrap="square"/>
                    <a:lstStyle/>
                    <a:p>
                      <a:r>
                        <a:rPr sz="1150" b="0" i="0">
                          <a:solidFill>
                            <a:srgbClr val="243140"/>
                          </a:solidFill>
                          <a:latin typeface="Calibri"/>
                        </a:rPr>
                        <a:t>API response</a:t>
                      </a:r>
                    </a:p>
                  </a:txBody>
                  <a:tcPr marL="91440" marR="91440" marT="45720" marB="45720">
                    <a:solidFill>
                      <a:srgbClr val="E8F4F6"/>
                    </a:solidFill>
                  </a:tcPr>
                </a:tc>
                <a:tc>
                  <a:txBody>
                    <a:bodyPr wrap="square"/>
                    <a:lstStyle/>
                    <a:p>
                      <a:r>
                        <a:rPr sz="1150" b="0" i="0">
                          <a:solidFill>
                            <a:srgbClr val="243140"/>
                          </a:solidFill>
                          <a:latin typeface="Calibri"/>
                        </a:rPr>
                        <a:t>All modules</a:t>
                      </a:r>
                    </a:p>
                  </a:txBody>
                  <a:tcPr marL="91440" marR="91440" marT="45720" marB="45720">
                    <a:solidFill>
                      <a:srgbClr val="E8F4F6"/>
                    </a:solidFill>
                  </a:tcPr>
                </a:tc>
              </a:tr>
            </a:tbl>
          </a:graphicData>
        </a:graphic>
      </p:graphicFrame>
      <p:sp>
        <p:nvSpPr>
          <p:cNvPr id="8" name="TextBox 7"/>
          <p:cNvSpPr txBox="1"/>
          <p:nvPr/>
        </p:nvSpPr>
        <p:spPr>
          <a:xfrm>
            <a:off x="438912" y="6080760"/>
            <a:ext cx="11247120" cy="274320"/>
          </a:xfrm>
          <a:prstGeom prst="rect">
            <a:avLst/>
          </a:prstGeom>
          <a:noFill/>
        </p:spPr>
        <p:txBody>
          <a:bodyPr wrap="square" lIns="0" rIns="0" tIns="0" bIns="0" anchor="t"/>
          <a:lstStyle/>
          <a:p>
            <a:pPr algn="l"/>
            <a:r>
              <a:rPr sz="1100" b="0" i="0">
                <a:solidFill>
                  <a:srgbClr val="5C6874"/>
                </a:solidFill>
                <a:latin typeface="Calibri"/>
              </a:rPr>
              <a:t>* The review-case pipeline processes 100 observations per batch. While a backlog exists it continues every 5 seconds, then returns to the 15-minute cycle.</a:t>
            </a:r>
          </a:p>
        </p:txBody>
      </p:sp>
      <p:sp>
        <p:nvSpPr>
          <p:cNvPr id="9" name="TextBox 8"/>
          <p:cNvSpPr txBox="1"/>
          <p:nvPr/>
        </p:nvSpPr>
        <p:spPr>
          <a:xfrm>
            <a:off x="438912" y="6492240"/>
            <a:ext cx="5486400" cy="237744"/>
          </a:xfrm>
          <a:prstGeom prst="rect">
            <a:avLst/>
          </a:prstGeom>
          <a:noFill/>
        </p:spPr>
        <p:txBody>
          <a:bodyPr wrap="square" lIns="0" rIns="0" tIns="0" bIns="0" anchor="t"/>
          <a:lstStyle/>
          <a:p>
            <a:pPr algn="l"/>
            <a:r>
              <a:rPr sz="1000" b="1" i="0">
                <a:solidFill>
                  <a:srgbClr val="5C6874"/>
                </a:solidFill>
                <a:latin typeface="Calibri"/>
              </a:rPr>
              <a:t>MANTIS  |  Maritime Intelligence &amp; Intercept System</a:t>
            </a:r>
          </a:p>
        </p:txBody>
      </p:sp>
      <p:sp>
        <p:nvSpPr>
          <p:cNvPr id="10" name="TextBox 9"/>
          <p:cNvSpPr txBox="1"/>
          <p:nvPr/>
        </p:nvSpPr>
        <p:spPr>
          <a:xfrm>
            <a:off x="4754880" y="6492240"/>
            <a:ext cx="2743200" cy="237744"/>
          </a:xfrm>
          <a:prstGeom prst="rect">
            <a:avLst/>
          </a:prstGeom>
          <a:noFill/>
        </p:spPr>
        <p:txBody>
          <a:bodyPr wrap="square" lIns="0" rIns="0" tIns="0" bIns="0" anchor="t"/>
          <a:lstStyle/>
          <a:p>
            <a:pPr algn="ctr"/>
            <a:r>
              <a:rPr sz="1000" b="0" i="0">
                <a:solidFill>
                  <a:srgbClr val="5C6874"/>
                </a:solidFill>
                <a:latin typeface="Calibri"/>
              </a:rPr>
              <a:t>October 2026</a:t>
            </a:r>
          </a:p>
        </p:txBody>
      </p:sp>
      <p:sp>
        <p:nvSpPr>
          <p:cNvPr id="11" name="TextBox 10"/>
          <p:cNvSpPr txBox="1"/>
          <p:nvPr/>
        </p:nvSpPr>
        <p:spPr>
          <a:xfrm>
            <a:off x="10332720" y="6492240"/>
            <a:ext cx="1417320" cy="237744"/>
          </a:xfrm>
          <a:prstGeom prst="rect">
            <a:avLst/>
          </a:prstGeom>
          <a:noFill/>
        </p:spPr>
        <p:txBody>
          <a:bodyPr wrap="square" lIns="0" rIns="0" tIns="0" bIns="0" anchor="t"/>
          <a:lstStyle/>
          <a:p>
            <a:pPr algn="r"/>
            <a:r>
              <a:rPr sz="1000" b="0" i="0">
                <a:solidFill>
                  <a:srgbClr val="5C6874"/>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1FA7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56032"/>
            <a:ext cx="8229600" cy="219456"/>
          </a:xfrm>
          <a:prstGeom prst="rect">
            <a:avLst/>
          </a:prstGeom>
          <a:noFill/>
        </p:spPr>
        <p:txBody>
          <a:bodyPr wrap="square" lIns="0" rIns="0" tIns="0" bIns="0" anchor="t"/>
          <a:lstStyle/>
          <a:p>
            <a:pPr algn="l"/>
            <a:r>
              <a:rPr sz="1100" b="1" i="0">
                <a:solidFill>
                  <a:srgbClr val="0E6E7C"/>
                </a:solidFill>
                <a:latin typeface="Calibri"/>
              </a:rPr>
              <a:t>DASHBOARD</a:t>
            </a:r>
          </a:p>
        </p:txBody>
      </p:sp>
      <p:sp>
        <p:nvSpPr>
          <p:cNvPr id="5" name="TextBox 4"/>
          <p:cNvSpPr txBox="1"/>
          <p:nvPr/>
        </p:nvSpPr>
        <p:spPr>
          <a:xfrm>
            <a:off x="420624" y="457200"/>
            <a:ext cx="11338560" cy="457200"/>
          </a:xfrm>
          <a:prstGeom prst="rect">
            <a:avLst/>
          </a:prstGeom>
          <a:noFill/>
        </p:spPr>
        <p:txBody>
          <a:bodyPr wrap="square" lIns="0" rIns="0" tIns="0" bIns="0" anchor="t"/>
          <a:lstStyle/>
          <a:p>
            <a:pPr algn="l"/>
            <a:r>
              <a:rPr sz="2600" b="1" i="0">
                <a:solidFill>
                  <a:srgbClr val="0A1628"/>
                </a:solidFill>
                <a:latin typeface="Calibri"/>
              </a:rPr>
              <a:t>Operations overview</a:t>
            </a:r>
          </a:p>
        </p:txBody>
      </p:sp>
      <p:sp>
        <p:nvSpPr>
          <p:cNvPr id="6" name="TextBox 5"/>
          <p:cNvSpPr txBox="1"/>
          <p:nvPr/>
        </p:nvSpPr>
        <p:spPr>
          <a:xfrm>
            <a:off x="438912" y="932688"/>
            <a:ext cx="11292840" cy="384048"/>
          </a:xfrm>
          <a:prstGeom prst="rect">
            <a:avLst/>
          </a:prstGeom>
          <a:noFill/>
        </p:spPr>
        <p:txBody>
          <a:bodyPr wrap="square" lIns="0" rIns="0" tIns="0" bIns="0" anchor="t"/>
          <a:lstStyle/>
          <a:p>
            <a:pPr algn="l"/>
            <a:r>
              <a:rPr sz="1350" b="0" i="0">
                <a:solidFill>
                  <a:srgbClr val="5C6874"/>
                </a:solidFill>
                <a:latin typeface="Calibri"/>
              </a:rPr>
              <a:t>A single summary of the four primary modules, refreshed on demand.</a:t>
            </a:r>
          </a:p>
        </p:txBody>
      </p:sp>
      <p:sp>
        <p:nvSpPr>
          <p:cNvPr id="7" name="Rectangle 6"/>
          <p:cNvSpPr/>
          <p:nvPr/>
        </p:nvSpPr>
        <p:spPr>
          <a:xfrm>
            <a:off x="402336" y="1426464"/>
            <a:ext cx="4919472" cy="4574813"/>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1-overview.png"/>
          <p:cNvPicPr>
            <a:picLocks noChangeAspect="1"/>
          </p:cNvPicPr>
          <p:nvPr/>
        </p:nvPicPr>
        <p:blipFill>
          <a:blip r:embed="rId2"/>
          <a:stretch>
            <a:fillRect/>
          </a:stretch>
        </p:blipFill>
        <p:spPr>
          <a:xfrm>
            <a:off x="438912" y="1463040"/>
            <a:ext cx="4846320" cy="4501661"/>
          </a:xfrm>
          <a:prstGeom prst="rect">
            <a:avLst/>
          </a:prstGeom>
        </p:spPr>
      </p:pic>
      <p:sp>
        <p:nvSpPr>
          <p:cNvPr id="9" name="TextBox 8"/>
          <p:cNvSpPr txBox="1"/>
          <p:nvPr/>
        </p:nvSpPr>
        <p:spPr>
          <a:xfrm>
            <a:off x="438912" y="6056141"/>
            <a:ext cx="4846320" cy="237744"/>
          </a:xfrm>
          <a:prstGeom prst="rect">
            <a:avLst/>
          </a:prstGeom>
          <a:noFill/>
        </p:spPr>
        <p:txBody>
          <a:bodyPr wrap="square" lIns="0" rIns="0" tIns="0" bIns="0" anchor="t"/>
          <a:lstStyle/>
          <a:p>
            <a:pPr algn="l"/>
            <a:r>
              <a:rPr sz="1050" b="1" i="0">
                <a:solidFill>
                  <a:srgbClr val="0E6E7C"/>
                </a:solidFill>
                <a:latin typeface="Calibri"/>
              </a:rPr>
              <a:t>Dashboard location:  Operations  &gt;  Overview</a:t>
            </a:r>
          </a:p>
        </p:txBody>
      </p:sp>
      <p:sp>
        <p:nvSpPr>
          <p:cNvPr id="10" name="TextBox 9"/>
          <p:cNvSpPr txBox="1"/>
          <p:nvPr/>
        </p:nvSpPr>
        <p:spPr>
          <a:xfrm>
            <a:off x="5760720" y="1463040"/>
            <a:ext cx="5989320" cy="201168"/>
          </a:xfrm>
          <a:prstGeom prst="rect">
            <a:avLst/>
          </a:prstGeom>
          <a:noFill/>
        </p:spPr>
        <p:txBody>
          <a:bodyPr wrap="square" lIns="0" rIns="0" tIns="0" bIns="0" anchor="t"/>
          <a:lstStyle/>
          <a:p>
            <a:pPr algn="l"/>
            <a:r>
              <a:rPr sz="1050" b="1" i="0">
                <a:solidFill>
                  <a:srgbClr val="0E6E7C"/>
                </a:solidFill>
                <a:latin typeface="Calibri"/>
              </a:rPr>
              <a:t>HOW THE OVERVIEW IS ASSEMBLED</a:t>
            </a:r>
          </a:p>
        </p:txBody>
      </p:sp>
      <p:sp>
        <p:nvSpPr>
          <p:cNvPr id="11" name="Rectangle 10"/>
          <p:cNvSpPr/>
          <p:nvPr/>
        </p:nvSpPr>
        <p:spPr>
          <a:xfrm>
            <a:off x="5760720" y="1709928"/>
            <a:ext cx="5989320" cy="18288"/>
          </a:xfrm>
          <a:prstGeom prst="rect">
            <a:avLst/>
          </a:prstGeom>
          <a:solidFill>
            <a:srgbClr val="E3D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1828800"/>
            <a:ext cx="5989320" cy="4480560"/>
          </a:xfrm>
          <a:prstGeom prst="rect">
            <a:avLst/>
          </a:prstGeom>
          <a:noFill/>
        </p:spPr>
        <p:txBody>
          <a:bodyPr wrap="square" lIns="0" rIns="0" tIns="0" bIns="0"/>
          <a:lstStyle/>
          <a:p>
            <a:pPr>
              <a:spcAft>
                <a:spcPts val="1000"/>
              </a:spcAft>
            </a:pPr>
            <a:r>
              <a:rPr sz="1300" b="1" i="0">
                <a:solidFill>
                  <a:srgbClr val="162333"/>
                </a:solidFill>
                <a:latin typeface="Calibri"/>
              </a:rPr>
              <a:t>Single request.</a:t>
            </a:r>
            <a:r>
              <a:rPr sz="1300" b="0" i="0">
                <a:solidFill>
                  <a:srgbClr val="243140"/>
                </a:solidFill>
                <a:latin typeface="Calibri"/>
              </a:rPr>
              <a:t>  The dashboard calls one overview endpoint. The API runs the dark-vessel, STS and illegal-anchoring queries on the operational database in one thread and reads the stored position anomalies in a second thread, then returns summary counts only.</a:t>
            </a:r>
          </a:p>
          <a:p>
            <a:pPr>
              <a:spcAft>
                <a:spcPts val="1000"/>
              </a:spcAft>
            </a:pPr>
            <a:r>
              <a:rPr sz="1300" b="1" i="0">
                <a:solidFill>
                  <a:srgbClr val="162333"/>
                </a:solidFill>
                <a:latin typeface="Calibri"/>
              </a:rPr>
              <a:t>Same rules as the module pages.</a:t>
            </a:r>
            <a:r>
              <a:rPr sz="1300" b="0" i="0">
                <a:solidFill>
                  <a:srgbClr val="243140"/>
                </a:solidFill>
                <a:latin typeface="Calibri"/>
              </a:rPr>
              <a:t>  Each tile applies exactly the rule used on its module page. Selecting a tile opens that module with the full vessel list.</a:t>
            </a:r>
          </a:p>
          <a:p>
            <a:pPr>
              <a:spcAft>
                <a:spcPts val="1000"/>
              </a:spcAft>
            </a:pPr>
            <a:r>
              <a:rPr sz="1300" b="1" i="0">
                <a:solidFill>
                  <a:srgbClr val="162333"/>
                </a:solidFill>
                <a:latin typeface="Calibri"/>
              </a:rPr>
              <a:t>Short cache.</a:t>
            </a:r>
            <a:r>
              <a:rPr sz="1300" b="0" i="0">
                <a:solidFill>
                  <a:srgbClr val="243140"/>
                </a:solidFill>
                <a:latin typeface="Calibri"/>
              </a:rPr>
              <a:t>  The summary is cached in the API for up to two minutes so repeated page loads do not re-run the queries. A module page opened afterwards can reflect a slightly later refresh.</a:t>
            </a:r>
          </a:p>
          <a:p>
            <a:pPr>
              <a:spcAft>
                <a:spcPts val="1000"/>
              </a:spcAft>
            </a:pPr>
            <a:r>
              <a:rPr sz="1300" b="1" i="0">
                <a:solidFill>
                  <a:srgbClr val="162333"/>
                </a:solidFill>
                <a:latin typeface="Calibri"/>
              </a:rPr>
              <a:t>Sanctioned flags.</a:t>
            </a:r>
            <a:r>
              <a:rPr sz="1300" b="0" i="0">
                <a:solidFill>
                  <a:srgbClr val="243140"/>
                </a:solidFill>
                <a:latin typeface="Calibri"/>
              </a:rPr>
              <a:t>  The total of OFAC matches across the four modules. A vessel that appears in two modules is counted in both.</a:t>
            </a:r>
          </a:p>
          <a:p>
            <a:pPr>
              <a:spcAft>
                <a:spcPts val="1000"/>
              </a:spcAft>
            </a:pPr>
            <a:r>
              <a:rPr sz="1300" b="1" i="0">
                <a:solidFill>
                  <a:srgbClr val="162333"/>
                </a:solidFill>
                <a:latin typeface="Calibri"/>
              </a:rPr>
              <a:t>Flagged now.</a:t>
            </a:r>
            <a:r>
              <a:rPr sz="1300" b="0" i="0">
                <a:solidFill>
                  <a:srgbClr val="243140"/>
                </a:solidFill>
                <a:latin typeface="Calibri"/>
              </a:rPr>
              <a:t>  Each module's count, split into sanctioned and non-sanctioned vessels.</a:t>
            </a:r>
          </a:p>
        </p:txBody>
      </p:sp>
      <p:sp>
        <p:nvSpPr>
          <p:cNvPr id="13" name="TextBox 12"/>
          <p:cNvSpPr txBox="1"/>
          <p:nvPr/>
        </p:nvSpPr>
        <p:spPr>
          <a:xfrm>
            <a:off x="438912" y="6492240"/>
            <a:ext cx="5486400" cy="237744"/>
          </a:xfrm>
          <a:prstGeom prst="rect">
            <a:avLst/>
          </a:prstGeom>
          <a:noFill/>
        </p:spPr>
        <p:txBody>
          <a:bodyPr wrap="square" lIns="0" rIns="0" tIns="0" bIns="0" anchor="t"/>
          <a:lstStyle/>
          <a:p>
            <a:pPr algn="l"/>
            <a:r>
              <a:rPr sz="1000" b="1" i="0">
                <a:solidFill>
                  <a:srgbClr val="5C6874"/>
                </a:solidFill>
                <a:latin typeface="Calibri"/>
              </a:rPr>
              <a:t>MANTIS  |  Maritime Intelligence &amp; Intercept System</a:t>
            </a:r>
          </a:p>
        </p:txBody>
      </p:sp>
      <p:sp>
        <p:nvSpPr>
          <p:cNvPr id="14" name="TextBox 13"/>
          <p:cNvSpPr txBox="1"/>
          <p:nvPr/>
        </p:nvSpPr>
        <p:spPr>
          <a:xfrm>
            <a:off x="4754880" y="6492240"/>
            <a:ext cx="2743200" cy="237744"/>
          </a:xfrm>
          <a:prstGeom prst="rect">
            <a:avLst/>
          </a:prstGeom>
          <a:noFill/>
        </p:spPr>
        <p:txBody>
          <a:bodyPr wrap="square" lIns="0" rIns="0" tIns="0" bIns="0" anchor="t"/>
          <a:lstStyle/>
          <a:p>
            <a:pPr algn="ctr"/>
            <a:r>
              <a:rPr sz="1000" b="0" i="0">
                <a:solidFill>
                  <a:srgbClr val="5C6874"/>
                </a:solidFill>
                <a:latin typeface="Calibri"/>
              </a:rPr>
              <a:t>October 2026</a:t>
            </a:r>
          </a:p>
        </p:txBody>
      </p:sp>
      <p:sp>
        <p:nvSpPr>
          <p:cNvPr id="15" name="TextBox 14"/>
          <p:cNvSpPr txBox="1"/>
          <p:nvPr/>
        </p:nvSpPr>
        <p:spPr>
          <a:xfrm>
            <a:off x="10332720" y="6492240"/>
            <a:ext cx="1417320" cy="237744"/>
          </a:xfrm>
          <a:prstGeom prst="rect">
            <a:avLst/>
          </a:prstGeom>
          <a:noFill/>
        </p:spPr>
        <p:txBody>
          <a:bodyPr wrap="square" lIns="0" rIns="0" tIns="0" bIns="0" anchor="t"/>
          <a:lstStyle/>
          <a:p>
            <a:pPr algn="r"/>
            <a:r>
              <a:rPr sz="1000" b="0" i="0">
                <a:solidFill>
                  <a:srgbClr val="5C6874"/>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1FA7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56032"/>
            <a:ext cx="8229600" cy="219456"/>
          </a:xfrm>
          <a:prstGeom prst="rect">
            <a:avLst/>
          </a:prstGeom>
          <a:noFill/>
        </p:spPr>
        <p:txBody>
          <a:bodyPr wrap="square" lIns="0" rIns="0" tIns="0" bIns="0" anchor="t"/>
          <a:lstStyle/>
          <a:p>
            <a:pPr algn="l"/>
            <a:r>
              <a:rPr sz="1100" b="1" i="0">
                <a:solidFill>
                  <a:srgbClr val="0E6E7C"/>
                </a:solidFill>
                <a:latin typeface="Calibri"/>
              </a:rPr>
              <a:t>ANALYTICS MODULE  |  SHIP-TO-SHIP TRANSFER</a:t>
            </a:r>
          </a:p>
        </p:txBody>
      </p:sp>
      <p:sp>
        <p:nvSpPr>
          <p:cNvPr id="5" name="TextBox 4"/>
          <p:cNvSpPr txBox="1"/>
          <p:nvPr/>
        </p:nvSpPr>
        <p:spPr>
          <a:xfrm>
            <a:off x="420624" y="457200"/>
            <a:ext cx="11338560" cy="457200"/>
          </a:xfrm>
          <a:prstGeom prst="rect">
            <a:avLst/>
          </a:prstGeom>
          <a:noFill/>
        </p:spPr>
        <p:txBody>
          <a:bodyPr wrap="square" lIns="0" rIns="0" tIns="0" bIns="0" anchor="t"/>
          <a:lstStyle/>
          <a:p>
            <a:pPr algn="l"/>
            <a:r>
              <a:rPr sz="2600" b="1" i="0">
                <a:solidFill>
                  <a:srgbClr val="0A1628"/>
                </a:solidFill>
                <a:latin typeface="Calibri"/>
              </a:rPr>
              <a:t>Ship-to-ship transfer (STS)</a:t>
            </a:r>
          </a:p>
        </p:txBody>
      </p:sp>
      <p:sp>
        <p:nvSpPr>
          <p:cNvPr id="6" name="TextBox 5"/>
          <p:cNvSpPr txBox="1"/>
          <p:nvPr/>
        </p:nvSpPr>
        <p:spPr>
          <a:xfrm>
            <a:off x="438912" y="932688"/>
            <a:ext cx="11292840" cy="384048"/>
          </a:xfrm>
          <a:prstGeom prst="rect">
            <a:avLst/>
          </a:prstGeom>
          <a:noFill/>
        </p:spPr>
        <p:txBody>
          <a:bodyPr wrap="square" lIns="0" rIns="0" tIns="0" bIns="0" anchor="t"/>
          <a:lstStyle/>
          <a:p>
            <a:pPr algn="l"/>
            <a:r>
              <a:rPr sz="1350" b="0" i="0">
                <a:solidFill>
                  <a:srgbClr val="5C6874"/>
                </a:solidFill>
                <a:latin typeface="Calibri"/>
              </a:rPr>
              <a:t>Identifies large vessels holding position alongside each other long enough to allow a cargo transfer.</a:t>
            </a:r>
          </a:p>
        </p:txBody>
      </p:sp>
      <p:sp>
        <p:nvSpPr>
          <p:cNvPr id="7" name="TextBox 6"/>
          <p:cNvSpPr txBox="1"/>
          <p:nvPr/>
        </p:nvSpPr>
        <p:spPr>
          <a:xfrm>
            <a:off x="438912" y="1444752"/>
            <a:ext cx="4114800" cy="201168"/>
          </a:xfrm>
          <a:prstGeom prst="rect">
            <a:avLst/>
          </a:prstGeom>
          <a:noFill/>
        </p:spPr>
        <p:txBody>
          <a:bodyPr wrap="square" lIns="0" rIns="0" tIns="0" bIns="0" anchor="t"/>
          <a:lstStyle/>
          <a:p>
            <a:pPr algn="l"/>
            <a:r>
              <a:rPr sz="1050" b="1" i="0">
                <a:solidFill>
                  <a:srgbClr val="0E6E7C"/>
                </a:solidFill>
                <a:latin typeface="Calibri"/>
              </a:rPr>
              <a:t>DATA PIPELINE AND PROCESSING LOGIC</a:t>
            </a:r>
          </a:p>
        </p:txBody>
      </p:sp>
      <p:sp>
        <p:nvSpPr>
          <p:cNvPr id="8" name="Rectangle 7"/>
          <p:cNvSpPr/>
          <p:nvPr/>
        </p:nvSpPr>
        <p:spPr>
          <a:xfrm>
            <a:off x="438912" y="1691640"/>
            <a:ext cx="4114800" cy="18288"/>
          </a:xfrm>
          <a:prstGeom prst="rect">
            <a:avLst/>
          </a:prstGeom>
          <a:solidFill>
            <a:srgbClr val="E3D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810512"/>
            <a:ext cx="4114800" cy="4526280"/>
          </a:xfrm>
          <a:prstGeom prst="rect">
            <a:avLst/>
          </a:prstGeom>
          <a:noFill/>
        </p:spPr>
        <p:txBody>
          <a:bodyPr wrap="square" lIns="0" rIns="0" tIns="0" bIns="0"/>
          <a:lstStyle/>
          <a:p>
            <a:pPr>
              <a:spcAft>
                <a:spcPts val="700"/>
              </a:spcAft>
            </a:pPr>
            <a:r>
              <a:rPr sz="1200" b="1" i="0">
                <a:solidFill>
                  <a:srgbClr val="0E6E7C"/>
                </a:solidFill>
                <a:latin typeface="Calibri"/>
              </a:rPr>
              <a:t>1.  </a:t>
            </a:r>
            <a:r>
              <a:rPr sz="1200" b="1" i="0">
                <a:solidFill>
                  <a:srgbClr val="162333"/>
                </a:solidFill>
                <a:latin typeface="Calibri"/>
              </a:rPr>
              <a:t>Candidate selection.</a:t>
            </a:r>
            <a:r>
              <a:rPr sz="1200" b="0" i="0">
                <a:solidFill>
                  <a:srgbClr val="243140"/>
                </a:solidFill>
                <a:latin typeface="Calibri"/>
              </a:rPr>
              <a:t>  Every 30 seconds the pipeline reads the latest movement record per vessel and keeps cargo and tanker vessels (AIS type 70 to 89) that have been stopped for at least one hour or have not reported for 30 minutes.</a:t>
            </a:r>
          </a:p>
          <a:p>
            <a:pPr>
              <a:spcAft>
                <a:spcPts val="700"/>
              </a:spcAft>
            </a:pPr>
            <a:r>
              <a:rPr sz="1200" b="1" i="0">
                <a:solidFill>
                  <a:srgbClr val="0E6E7C"/>
                </a:solidFill>
                <a:latin typeface="Calibri"/>
              </a:rPr>
              <a:t>2.  </a:t>
            </a:r>
            <a:r>
              <a:rPr sz="1200" b="1" i="0">
                <a:solidFill>
                  <a:srgbClr val="162333"/>
                </a:solidFill>
                <a:latin typeface="Calibri"/>
              </a:rPr>
              <a:t>Dredger admission.</a:t>
            </a:r>
            <a:r>
              <a:rPr sz="1200" b="0" i="0">
                <a:solidFill>
                  <a:srgbClr val="243140"/>
                </a:solidFill>
                <a:latin typeface="Calibri"/>
              </a:rPr>
              <a:t>  A dredger is admitted only when its MMSI holds an in-force JKPTG licence and its type is not excluded. Fishing, tug, towing, pilot, passenger, pleasure, sailing, high-speed craft, port tender and search-and-rescue vessels are always excluded.</a:t>
            </a:r>
          </a:p>
          <a:p>
            <a:pPr>
              <a:spcAft>
                <a:spcPts val="700"/>
              </a:spcAft>
            </a:pPr>
            <a:r>
              <a:rPr sz="1200" b="1" i="0">
                <a:solidFill>
                  <a:srgbClr val="0E6E7C"/>
                </a:solidFill>
                <a:latin typeface="Calibri"/>
              </a:rPr>
              <a:t>3.  </a:t>
            </a:r>
            <a:r>
              <a:rPr sz="1200" b="1" i="0">
                <a:solidFill>
                  <a:srgbClr val="162333"/>
                </a:solidFill>
                <a:latin typeface="Calibri"/>
              </a:rPr>
              <a:t>Pair search.</a:t>
            </a:r>
            <a:r>
              <a:rPr sz="1200" b="0" i="0">
                <a:solidFill>
                  <a:srgbClr val="243140"/>
                </a:solidFill>
                <a:latin typeface="Calibri"/>
              </a:rPr>
              <a:t>  Great-circle distance is computed between candidates. Pairs within 30 m are kept; a licensed dredger must be paired with a cargo or tanker vessel. Two MMSIs belonging to the same hull are never paired.</a:t>
            </a:r>
          </a:p>
          <a:p>
            <a:pPr>
              <a:spcAft>
                <a:spcPts val="700"/>
              </a:spcAft>
            </a:pPr>
            <a:r>
              <a:rPr sz="1200" b="1" i="0">
                <a:solidFill>
                  <a:srgbClr val="0E6E7C"/>
                </a:solidFill>
                <a:latin typeface="Calibri"/>
              </a:rPr>
              <a:t>4.  </a:t>
            </a:r>
            <a:r>
              <a:rPr sz="1200" b="1" i="0">
                <a:solidFill>
                  <a:srgbClr val="162333"/>
                </a:solidFill>
                <a:latin typeface="Calibri"/>
              </a:rPr>
              <a:t>Observation lifecycle.</a:t>
            </a:r>
            <a:r>
              <a:rPr sz="1200" b="0" i="0">
                <a:solidFill>
                  <a:srgbClr val="243140"/>
                </a:solidFill>
                <a:latin typeface="Calibri"/>
              </a:rPr>
              <a:t>  Connected pairs form one cluster with a stable signature. The cluster is updated each cycle, its suspicion score is recalculated, and it is closed after 60 seconds without the vessels in range.</a:t>
            </a:r>
          </a:p>
          <a:p>
            <a:pPr>
              <a:spcAft>
                <a:spcPts val="700"/>
              </a:spcAft>
            </a:pPr>
            <a:r>
              <a:rPr sz="1200" b="1" i="0">
                <a:solidFill>
                  <a:srgbClr val="0E6E7C"/>
                </a:solidFill>
                <a:latin typeface="Calibri"/>
              </a:rPr>
              <a:t>5.  </a:t>
            </a:r>
            <a:r>
              <a:rPr sz="1200" b="1" i="0">
                <a:solidFill>
                  <a:srgbClr val="162333"/>
                </a:solidFill>
                <a:latin typeface="Calibri"/>
              </a:rPr>
              <a:t>Dashboard filter.</a:t>
            </a:r>
            <a:r>
              <a:rPr sz="1200" b="0" i="0">
                <a:solidFill>
                  <a:srgbClr val="243140"/>
                </a:solidFill>
                <a:latin typeface="Calibri"/>
              </a:rPr>
              <a:t>  The API keeps open clusters scoring 4.5 or more whose centre lies inside an anchorage polygon extended by 1 km, removes designated exclusion zones, and re-measures pairs at up to 35 m to allow for GPS drift.</a:t>
            </a:r>
          </a:p>
        </p:txBody>
      </p:sp>
      <p:sp>
        <p:nvSpPr>
          <p:cNvPr id="10" name="TextBox 9"/>
          <p:cNvSpPr txBox="1"/>
          <p:nvPr/>
        </p:nvSpPr>
        <p:spPr>
          <a:xfrm>
            <a:off x="4800600" y="1444752"/>
            <a:ext cx="3154680" cy="201168"/>
          </a:xfrm>
          <a:prstGeom prst="rect">
            <a:avLst/>
          </a:prstGeom>
          <a:noFill/>
        </p:spPr>
        <p:txBody>
          <a:bodyPr wrap="square" lIns="0" rIns="0" tIns="0" bIns="0" anchor="t"/>
          <a:lstStyle/>
          <a:p>
            <a:pPr algn="l"/>
            <a:r>
              <a:rPr sz="1050" b="1" i="0">
                <a:solidFill>
                  <a:srgbClr val="0E6E7C"/>
                </a:solidFill>
                <a:latin typeface="Calibri"/>
              </a:rPr>
              <a:t>HOW THE DASHBOARD FIGURES ARE DERIVED</a:t>
            </a:r>
          </a:p>
        </p:txBody>
      </p:sp>
      <p:sp>
        <p:nvSpPr>
          <p:cNvPr id="11" name="Rectangle 10"/>
          <p:cNvSpPr/>
          <p:nvPr/>
        </p:nvSpPr>
        <p:spPr>
          <a:xfrm>
            <a:off x="4800600" y="1691640"/>
            <a:ext cx="3154680" cy="18288"/>
          </a:xfrm>
          <a:prstGeom prst="rect">
            <a:avLst/>
          </a:prstGeom>
          <a:solidFill>
            <a:srgbClr val="E3D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00600" y="1810512"/>
            <a:ext cx="3154680" cy="4526280"/>
          </a:xfrm>
          <a:prstGeom prst="rect">
            <a:avLst/>
          </a:prstGeom>
          <a:noFill/>
        </p:spPr>
        <p:txBody>
          <a:bodyPr wrap="square" lIns="0" rIns="0" tIns="0" bIns="0"/>
          <a:lstStyle/>
          <a:p>
            <a:pPr>
              <a:spcAft>
                <a:spcPts val="100"/>
              </a:spcAft>
            </a:pPr>
            <a:r>
              <a:rPr sz="1150" b="1" i="0">
                <a:solidFill>
                  <a:srgbClr val="162333"/>
                </a:solidFill>
                <a:latin typeface="Calibri"/>
              </a:rPr>
              <a:t>Active pairs</a:t>
            </a:r>
          </a:p>
          <a:p>
            <a:pPr>
              <a:spcAft>
                <a:spcPts val="700"/>
              </a:spcAft>
            </a:pPr>
            <a:r>
              <a:rPr sz="1100" b="0" i="0">
                <a:solidFill>
                  <a:srgbClr val="243140"/>
                </a:solidFill>
                <a:latin typeface="Calibri"/>
              </a:rPr>
              <a:t>Vessel pairs remaining after the dashboard filter.</a:t>
            </a:r>
          </a:p>
          <a:p>
            <a:pPr>
              <a:spcAft>
                <a:spcPts val="100"/>
              </a:spcAft>
            </a:pPr>
            <a:r>
              <a:rPr sz="1150" b="1" i="0">
                <a:solidFill>
                  <a:srgbClr val="162333"/>
                </a:solidFill>
                <a:latin typeface="Calibri"/>
              </a:rPr>
              <a:t>Paired vessels</a:t>
            </a:r>
          </a:p>
          <a:p>
            <a:pPr>
              <a:spcAft>
                <a:spcPts val="700"/>
              </a:spcAft>
            </a:pPr>
            <a:r>
              <a:rPr sz="1100" b="0" i="0">
                <a:solidFill>
                  <a:srgbClr val="243140"/>
                </a:solidFill>
                <a:latin typeface="Calibri"/>
              </a:rPr>
              <a:t>Distinct vessels across those pairs.</a:t>
            </a:r>
          </a:p>
          <a:p>
            <a:pPr>
              <a:spcAft>
                <a:spcPts val="100"/>
              </a:spcAft>
            </a:pPr>
            <a:r>
              <a:rPr sz="1150" b="1" i="0">
                <a:solidFill>
                  <a:srgbClr val="162333"/>
                </a:solidFill>
                <a:latin typeface="Calibri"/>
              </a:rPr>
              <a:t>In anchorage</a:t>
            </a:r>
          </a:p>
          <a:p>
            <a:pPr>
              <a:spcAft>
                <a:spcPts val="700"/>
              </a:spcAft>
            </a:pPr>
            <a:r>
              <a:rPr sz="1100" b="0" i="0">
                <a:solidFill>
                  <a:srgbClr val="243140"/>
                </a:solidFill>
                <a:latin typeface="Calibri"/>
              </a:rPr>
              <a:t>Open clusters scoring 4.5 or more whose centre is inside the extended anchorage area.</a:t>
            </a:r>
          </a:p>
          <a:p>
            <a:pPr>
              <a:spcAft>
                <a:spcPts val="100"/>
              </a:spcAft>
            </a:pPr>
            <a:r>
              <a:rPr sz="1150" b="1" i="0">
                <a:solidFill>
                  <a:srgbClr val="162333"/>
                </a:solidFill>
                <a:latin typeface="Calibri"/>
              </a:rPr>
              <a:t>Open high-score</a:t>
            </a:r>
          </a:p>
          <a:p>
            <a:pPr>
              <a:spcAft>
                <a:spcPts val="700"/>
              </a:spcAft>
            </a:pPr>
            <a:r>
              <a:rPr sz="1100" b="0" i="0">
                <a:solidFill>
                  <a:srgbClr val="243140"/>
                </a:solidFill>
                <a:latin typeface="Calibri"/>
              </a:rPr>
              <a:t>All open clusters scoring 4.5 or more, regardless of location. Clusters outside the anchorage area are still converted into review cases.</a:t>
            </a:r>
          </a:p>
          <a:p>
            <a:pPr>
              <a:spcAft>
                <a:spcPts val="100"/>
              </a:spcAft>
            </a:pPr>
            <a:r>
              <a:rPr sz="1150" b="1" i="0">
                <a:solidFill>
                  <a:srgbClr val="162333"/>
                </a:solidFill>
                <a:latin typeface="Calibri"/>
              </a:rPr>
              <a:t>Sanctioned</a:t>
            </a:r>
          </a:p>
          <a:p>
            <a:pPr>
              <a:spcAft>
                <a:spcPts val="700"/>
              </a:spcAft>
            </a:pPr>
            <a:r>
              <a:rPr sz="1100" b="0" i="0">
                <a:solidFill>
                  <a:srgbClr val="243140"/>
                </a:solidFill>
                <a:latin typeface="Calibri"/>
              </a:rPr>
              <a:t>Pairs in which at least one vessel matches the OFAC list.</a:t>
            </a:r>
          </a:p>
        </p:txBody>
      </p:sp>
      <p:sp>
        <p:nvSpPr>
          <p:cNvPr id="13" name="Rectangle 12"/>
          <p:cNvSpPr/>
          <p:nvPr/>
        </p:nvSpPr>
        <p:spPr>
          <a:xfrm>
            <a:off x="8147304" y="1426464"/>
            <a:ext cx="3639312" cy="3385695"/>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03-sts.png"/>
          <p:cNvPicPr>
            <a:picLocks noChangeAspect="1"/>
          </p:cNvPicPr>
          <p:nvPr/>
        </p:nvPicPr>
        <p:blipFill>
          <a:blip r:embed="rId2"/>
          <a:stretch>
            <a:fillRect/>
          </a:stretch>
        </p:blipFill>
        <p:spPr>
          <a:xfrm>
            <a:off x="8183879" y="1463040"/>
            <a:ext cx="3566160" cy="3312543"/>
          </a:xfrm>
          <a:prstGeom prst="rect">
            <a:avLst/>
          </a:prstGeom>
        </p:spPr>
      </p:pic>
      <p:sp>
        <p:nvSpPr>
          <p:cNvPr id="15" name="TextBox 14"/>
          <p:cNvSpPr txBox="1"/>
          <p:nvPr/>
        </p:nvSpPr>
        <p:spPr>
          <a:xfrm>
            <a:off x="8183879" y="4867023"/>
            <a:ext cx="3566160" cy="237744"/>
          </a:xfrm>
          <a:prstGeom prst="rect">
            <a:avLst/>
          </a:prstGeom>
          <a:noFill/>
        </p:spPr>
        <p:txBody>
          <a:bodyPr wrap="square" lIns="0" rIns="0" tIns="0" bIns="0" anchor="t"/>
          <a:lstStyle/>
          <a:p>
            <a:pPr algn="l"/>
            <a:r>
              <a:rPr sz="1050" b="1" i="0">
                <a:solidFill>
                  <a:srgbClr val="0E6E7C"/>
                </a:solidFill>
                <a:latin typeface="Calibri"/>
              </a:rPr>
              <a:t>Dashboard location:  Intelligence  &gt;  STS Activities</a:t>
            </a:r>
          </a:p>
        </p:txBody>
      </p:sp>
      <p:sp>
        <p:nvSpPr>
          <p:cNvPr id="16" name="Rounded Rectangle 15"/>
          <p:cNvSpPr/>
          <p:nvPr/>
        </p:nvSpPr>
        <p:spPr>
          <a:xfrm>
            <a:off x="8183879" y="5187063"/>
            <a:ext cx="3566160" cy="1168016"/>
          </a:xfrm>
          <a:prstGeom prst="roundRect">
            <a:avLst>
              <a:gd name="adj" fmla="val 8000"/>
            </a:avLst>
          </a:prstGeom>
          <a:solidFill>
            <a:srgbClr val="12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9327" y="5278503"/>
            <a:ext cx="3291840" cy="201168"/>
          </a:xfrm>
          <a:prstGeom prst="rect">
            <a:avLst/>
          </a:prstGeom>
          <a:noFill/>
        </p:spPr>
        <p:txBody>
          <a:bodyPr wrap="square" lIns="0" rIns="0" tIns="0" bIns="0" anchor="t"/>
          <a:lstStyle/>
          <a:p>
            <a:pPr algn="l"/>
            <a:r>
              <a:rPr sz="950" b="1" i="0">
                <a:solidFill>
                  <a:srgbClr val="1FA7B8"/>
                </a:solidFill>
                <a:latin typeface="Calibri"/>
              </a:rPr>
              <a:t>KEY PARAMETERS</a:t>
            </a:r>
          </a:p>
        </p:txBody>
      </p:sp>
      <p:sp>
        <p:nvSpPr>
          <p:cNvPr id="18" name="TextBox 17"/>
          <p:cNvSpPr txBox="1"/>
          <p:nvPr/>
        </p:nvSpPr>
        <p:spPr>
          <a:xfrm>
            <a:off x="8339327" y="5516247"/>
            <a:ext cx="3291840" cy="802256"/>
          </a:xfrm>
          <a:prstGeom prst="rect">
            <a:avLst/>
          </a:prstGeom>
          <a:noFill/>
        </p:spPr>
        <p:txBody>
          <a:bodyPr wrap="square" lIns="0" rIns="0" tIns="0" bIns="0"/>
          <a:lstStyle/>
          <a:p>
            <a:pPr>
              <a:spcAft>
                <a:spcPts val="200"/>
              </a:spcAft>
            </a:pPr>
            <a:r>
              <a:rPr sz="950" b="1" i="0">
                <a:solidFill>
                  <a:srgbClr val="FFFFFF"/>
                </a:solidFill>
                <a:latin typeface="Calibri"/>
              </a:rPr>
              <a:t>Cycle</a:t>
            </a:r>
            <a:r>
              <a:rPr sz="950" b="0" i="0">
                <a:solidFill>
                  <a:srgbClr val="D5E0E8"/>
                </a:solidFill>
                <a:latin typeface="Calibri"/>
              </a:rPr>
              <a:t>  30 s, closed after 60 s out of range</a:t>
            </a:r>
          </a:p>
          <a:p>
            <a:pPr>
              <a:spcAft>
                <a:spcPts val="200"/>
              </a:spcAft>
            </a:pPr>
            <a:r>
              <a:rPr sz="950" b="1" i="0">
                <a:solidFill>
                  <a:srgbClr val="FFFFFF"/>
                </a:solidFill>
                <a:latin typeface="Calibri"/>
              </a:rPr>
              <a:t>Distance</a:t>
            </a:r>
            <a:r>
              <a:rPr sz="950" b="0" i="0">
                <a:solidFill>
                  <a:srgbClr val="D5E0E8"/>
                </a:solidFill>
                <a:latin typeface="Calibri"/>
              </a:rPr>
              <a:t>  30 m stored, 35 m on the dashboard</a:t>
            </a:r>
          </a:p>
          <a:p>
            <a:pPr>
              <a:spcAft>
                <a:spcPts val="200"/>
              </a:spcAft>
            </a:pPr>
            <a:r>
              <a:rPr sz="950" b="1" i="0">
                <a:solidFill>
                  <a:srgbClr val="FFFFFF"/>
                </a:solidFill>
                <a:latin typeface="Calibri"/>
              </a:rPr>
              <a:t>Score threshold</a:t>
            </a:r>
            <a:r>
              <a:rPr sz="950" b="0" i="0">
                <a:solidFill>
                  <a:srgbClr val="D5E0E8"/>
                </a:solidFill>
                <a:latin typeface="Calibri"/>
              </a:rPr>
              <a:t>  4.5 (configurable per request)</a:t>
            </a:r>
          </a:p>
          <a:p>
            <a:pPr>
              <a:spcAft>
                <a:spcPts val="200"/>
              </a:spcAft>
            </a:pPr>
            <a:r>
              <a:rPr sz="950" b="1" i="0">
                <a:solidFill>
                  <a:srgbClr val="FFFFFF"/>
                </a:solidFill>
                <a:latin typeface="Calibri"/>
              </a:rPr>
              <a:t>Anchorage buffer</a:t>
            </a:r>
            <a:r>
              <a:rPr sz="950" b="0" i="0">
                <a:solidFill>
                  <a:srgbClr val="D5E0E8"/>
                </a:solidFill>
                <a:latin typeface="Calibri"/>
              </a:rPr>
              <a:t>  1 km on parent polygons</a:t>
            </a:r>
          </a:p>
        </p:txBody>
      </p:sp>
      <p:sp>
        <p:nvSpPr>
          <p:cNvPr id="19" name="TextBox 18"/>
          <p:cNvSpPr txBox="1"/>
          <p:nvPr/>
        </p:nvSpPr>
        <p:spPr>
          <a:xfrm>
            <a:off x="438912" y="6492240"/>
            <a:ext cx="5486400" cy="237744"/>
          </a:xfrm>
          <a:prstGeom prst="rect">
            <a:avLst/>
          </a:prstGeom>
          <a:noFill/>
        </p:spPr>
        <p:txBody>
          <a:bodyPr wrap="square" lIns="0" rIns="0" tIns="0" bIns="0" anchor="t"/>
          <a:lstStyle/>
          <a:p>
            <a:pPr algn="l"/>
            <a:r>
              <a:rPr sz="1000" b="1" i="0">
                <a:solidFill>
                  <a:srgbClr val="5C6874"/>
                </a:solidFill>
                <a:latin typeface="Calibri"/>
              </a:rPr>
              <a:t>MANTIS  |  Maritime Intelligence &amp; Intercept System</a:t>
            </a:r>
          </a:p>
        </p:txBody>
      </p:sp>
      <p:sp>
        <p:nvSpPr>
          <p:cNvPr id="20" name="TextBox 19"/>
          <p:cNvSpPr txBox="1"/>
          <p:nvPr/>
        </p:nvSpPr>
        <p:spPr>
          <a:xfrm>
            <a:off x="4754880" y="6492240"/>
            <a:ext cx="2743200" cy="237744"/>
          </a:xfrm>
          <a:prstGeom prst="rect">
            <a:avLst/>
          </a:prstGeom>
          <a:noFill/>
        </p:spPr>
        <p:txBody>
          <a:bodyPr wrap="square" lIns="0" rIns="0" tIns="0" bIns="0" anchor="t"/>
          <a:lstStyle/>
          <a:p>
            <a:pPr algn="ctr"/>
            <a:r>
              <a:rPr sz="1000" b="0" i="0">
                <a:solidFill>
                  <a:srgbClr val="5C6874"/>
                </a:solidFill>
                <a:latin typeface="Calibri"/>
              </a:rPr>
              <a:t>October 2026</a:t>
            </a:r>
          </a:p>
        </p:txBody>
      </p:sp>
      <p:sp>
        <p:nvSpPr>
          <p:cNvPr id="21" name="TextBox 20"/>
          <p:cNvSpPr txBox="1"/>
          <p:nvPr/>
        </p:nvSpPr>
        <p:spPr>
          <a:xfrm>
            <a:off x="10332720" y="6492240"/>
            <a:ext cx="1417320" cy="237744"/>
          </a:xfrm>
          <a:prstGeom prst="rect">
            <a:avLst/>
          </a:prstGeom>
          <a:noFill/>
        </p:spPr>
        <p:txBody>
          <a:bodyPr wrap="square" lIns="0" rIns="0" tIns="0" bIns="0" anchor="t"/>
          <a:lstStyle/>
          <a:p>
            <a:pPr algn="r"/>
            <a:r>
              <a:rPr sz="1000" b="0" i="0">
                <a:solidFill>
                  <a:srgbClr val="5C6874"/>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1FA7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56032"/>
            <a:ext cx="8229600" cy="219456"/>
          </a:xfrm>
          <a:prstGeom prst="rect">
            <a:avLst/>
          </a:prstGeom>
          <a:noFill/>
        </p:spPr>
        <p:txBody>
          <a:bodyPr wrap="square" lIns="0" rIns="0" tIns="0" bIns="0" anchor="t"/>
          <a:lstStyle/>
          <a:p>
            <a:pPr algn="l"/>
            <a:r>
              <a:rPr sz="1100" b="1" i="0">
                <a:solidFill>
                  <a:srgbClr val="0E6E7C"/>
                </a:solidFill>
                <a:latin typeface="Calibri"/>
              </a:rPr>
              <a:t>ANALYTICS MODULE  |  SHIP-TO-SHIP TRANSFER</a:t>
            </a:r>
          </a:p>
        </p:txBody>
      </p:sp>
      <p:sp>
        <p:nvSpPr>
          <p:cNvPr id="5" name="TextBox 4"/>
          <p:cNvSpPr txBox="1"/>
          <p:nvPr/>
        </p:nvSpPr>
        <p:spPr>
          <a:xfrm>
            <a:off x="420624" y="457200"/>
            <a:ext cx="11338560" cy="457200"/>
          </a:xfrm>
          <a:prstGeom prst="rect">
            <a:avLst/>
          </a:prstGeom>
          <a:noFill/>
        </p:spPr>
        <p:txBody>
          <a:bodyPr wrap="square" lIns="0" rIns="0" tIns="0" bIns="0" anchor="t"/>
          <a:lstStyle/>
          <a:p>
            <a:pPr algn="l"/>
            <a:r>
              <a:rPr sz="2600" b="1" i="0">
                <a:solidFill>
                  <a:srgbClr val="0A1628"/>
                </a:solidFill>
                <a:latin typeface="Calibri"/>
              </a:rPr>
              <a:t>STS suspicion score: formula and rationale</a:t>
            </a:r>
          </a:p>
        </p:txBody>
      </p:sp>
      <p:sp>
        <p:nvSpPr>
          <p:cNvPr id="6" name="TextBox 5"/>
          <p:cNvSpPr txBox="1"/>
          <p:nvPr/>
        </p:nvSpPr>
        <p:spPr>
          <a:xfrm>
            <a:off x="438912" y="932688"/>
            <a:ext cx="11292840" cy="384048"/>
          </a:xfrm>
          <a:prstGeom prst="rect">
            <a:avLst/>
          </a:prstGeom>
          <a:noFill/>
        </p:spPr>
        <p:txBody>
          <a:bodyPr wrap="square" lIns="0" rIns="0" tIns="0" bIns="0" anchor="t"/>
          <a:lstStyle/>
          <a:p>
            <a:pPr algn="l"/>
            <a:r>
              <a:rPr sz="1350" b="0" i="0">
                <a:solidFill>
                  <a:srgbClr val="5C6874"/>
                </a:solidFill>
                <a:latin typeface="Calibri"/>
              </a:rPr>
              <a:t>The score determines the order in which STS observations are reviewed. It is recalculated every time an observation is updated.</a:t>
            </a:r>
          </a:p>
        </p:txBody>
      </p:sp>
      <p:graphicFrame>
        <p:nvGraphicFramePr>
          <p:cNvPr id="7" name="Chart 6"/>
          <p:cNvGraphicFramePr>
            <a:graphicFrameLocks noGrp="1"/>
          </p:cNvGraphicFramePr>
          <p:nvPr/>
        </p:nvGraphicFramePr>
        <p:xfrm>
          <a:off x="365760" y="1417320"/>
          <a:ext cx="6583680" cy="3886200"/>
        </p:xfrm>
        <a:graphic>
          <a:graphicData uri="http://schemas.openxmlformats.org/drawingml/2006/chart">
            <c:chart xmlns:c="http://schemas.openxmlformats.org/drawingml/2006/chart" r:id="rId2"/>
          </a:graphicData>
        </a:graphic>
      </p:graphicFrame>
      <p:sp>
        <p:nvSpPr>
          <p:cNvPr id="8" name="TextBox 7"/>
          <p:cNvSpPr txBox="1"/>
          <p:nvPr/>
        </p:nvSpPr>
        <p:spPr>
          <a:xfrm>
            <a:off x="438912" y="5440680"/>
            <a:ext cx="6492240" cy="201168"/>
          </a:xfrm>
          <a:prstGeom prst="rect">
            <a:avLst/>
          </a:prstGeom>
          <a:noFill/>
        </p:spPr>
        <p:txBody>
          <a:bodyPr wrap="square" lIns="0" rIns="0" tIns="0" bIns="0" anchor="t"/>
          <a:lstStyle/>
          <a:p>
            <a:pPr algn="l"/>
            <a:r>
              <a:rPr sz="1000" b="1" i="0">
                <a:solidFill>
                  <a:srgbClr val="0E6E7C"/>
                </a:solidFill>
                <a:latin typeface="Calibri"/>
              </a:rPr>
              <a:t>DURATION TERM  2 x ln(1 + hours)</a:t>
            </a:r>
          </a:p>
        </p:txBody>
      </p:sp>
      <p:sp>
        <p:nvSpPr>
          <p:cNvPr id="9" name="Rounded Rectangle 8"/>
          <p:cNvSpPr/>
          <p:nvPr/>
        </p:nvSpPr>
        <p:spPr>
          <a:xfrm>
            <a:off x="438912" y="5687568"/>
            <a:ext cx="1536192" cy="658368"/>
          </a:xfrm>
          <a:prstGeom prst="roundRect">
            <a:avLst>
              <a:gd name="adj" fmla="val 8000"/>
            </a:avLst>
          </a:prstGeom>
          <a:solidFill>
            <a:srgbClr val="FFFFFF"/>
          </a:solidFill>
          <a:ln w="12700">
            <a:solidFill>
              <a:srgbClr val="E3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5733288"/>
            <a:ext cx="731520" cy="365760"/>
          </a:xfrm>
          <a:prstGeom prst="rect">
            <a:avLst/>
          </a:prstGeom>
          <a:noFill/>
        </p:spPr>
        <p:txBody>
          <a:bodyPr wrap="square" lIns="0" rIns="0" tIns="0" bIns="0" anchor="t"/>
          <a:lstStyle/>
          <a:p>
            <a:pPr algn="l"/>
            <a:r>
              <a:rPr sz="1800" b="1" i="0">
                <a:solidFill>
                  <a:srgbClr val="0A1628"/>
                </a:solidFill>
                <a:latin typeface="Calibri"/>
              </a:rPr>
              <a:t>1.4</a:t>
            </a:r>
          </a:p>
        </p:txBody>
      </p:sp>
      <p:sp>
        <p:nvSpPr>
          <p:cNvPr id="11" name="TextBox 10"/>
          <p:cNvSpPr txBox="1"/>
          <p:nvPr/>
        </p:nvSpPr>
        <p:spPr>
          <a:xfrm>
            <a:off x="1188719" y="5815584"/>
            <a:ext cx="749808" cy="274320"/>
          </a:xfrm>
          <a:prstGeom prst="rect">
            <a:avLst/>
          </a:prstGeom>
          <a:noFill/>
        </p:spPr>
        <p:txBody>
          <a:bodyPr wrap="square" lIns="0" rIns="0" tIns="0" bIns="0" anchor="t"/>
          <a:lstStyle/>
          <a:p>
            <a:pPr algn="l"/>
            <a:r>
              <a:rPr sz="1100" b="0" i="0">
                <a:solidFill>
                  <a:srgbClr val="5C6874"/>
                </a:solidFill>
                <a:latin typeface="Calibri"/>
              </a:rPr>
              <a:t>1 hour</a:t>
            </a:r>
          </a:p>
        </p:txBody>
      </p:sp>
      <p:sp>
        <p:nvSpPr>
          <p:cNvPr id="12" name="Rounded Rectangle 11"/>
          <p:cNvSpPr/>
          <p:nvPr/>
        </p:nvSpPr>
        <p:spPr>
          <a:xfrm>
            <a:off x="2084832" y="5687568"/>
            <a:ext cx="1536192" cy="658368"/>
          </a:xfrm>
          <a:prstGeom prst="roundRect">
            <a:avLst>
              <a:gd name="adj" fmla="val 8000"/>
            </a:avLst>
          </a:prstGeom>
          <a:solidFill>
            <a:srgbClr val="FFFFFF"/>
          </a:solidFill>
          <a:ln w="12700">
            <a:solidFill>
              <a:srgbClr val="E3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12848" y="5733288"/>
            <a:ext cx="731520" cy="365760"/>
          </a:xfrm>
          <a:prstGeom prst="rect">
            <a:avLst/>
          </a:prstGeom>
          <a:noFill/>
        </p:spPr>
        <p:txBody>
          <a:bodyPr wrap="square" lIns="0" rIns="0" tIns="0" bIns="0" anchor="t"/>
          <a:lstStyle/>
          <a:p>
            <a:pPr algn="l"/>
            <a:r>
              <a:rPr sz="1800" b="1" i="0">
                <a:solidFill>
                  <a:srgbClr val="0A1628"/>
                </a:solidFill>
                <a:latin typeface="Calibri"/>
              </a:rPr>
              <a:t>3.9</a:t>
            </a:r>
          </a:p>
        </p:txBody>
      </p:sp>
      <p:sp>
        <p:nvSpPr>
          <p:cNvPr id="14" name="TextBox 13"/>
          <p:cNvSpPr txBox="1"/>
          <p:nvPr/>
        </p:nvSpPr>
        <p:spPr>
          <a:xfrm>
            <a:off x="2834640" y="5815584"/>
            <a:ext cx="749808" cy="274320"/>
          </a:xfrm>
          <a:prstGeom prst="rect">
            <a:avLst/>
          </a:prstGeom>
          <a:noFill/>
        </p:spPr>
        <p:txBody>
          <a:bodyPr wrap="square" lIns="0" rIns="0" tIns="0" bIns="0" anchor="t"/>
          <a:lstStyle/>
          <a:p>
            <a:pPr algn="l"/>
            <a:r>
              <a:rPr sz="1100" b="0" i="0">
                <a:solidFill>
                  <a:srgbClr val="5C6874"/>
                </a:solidFill>
                <a:latin typeface="Calibri"/>
              </a:rPr>
              <a:t>6 hours</a:t>
            </a:r>
          </a:p>
        </p:txBody>
      </p:sp>
      <p:sp>
        <p:nvSpPr>
          <p:cNvPr id="15" name="Rounded Rectangle 14"/>
          <p:cNvSpPr/>
          <p:nvPr/>
        </p:nvSpPr>
        <p:spPr>
          <a:xfrm>
            <a:off x="3730752" y="5687568"/>
            <a:ext cx="1536192" cy="658368"/>
          </a:xfrm>
          <a:prstGeom prst="roundRect">
            <a:avLst>
              <a:gd name="adj" fmla="val 8000"/>
            </a:avLst>
          </a:prstGeom>
          <a:solidFill>
            <a:srgbClr val="FFFFFF"/>
          </a:solidFill>
          <a:ln w="12700">
            <a:solidFill>
              <a:srgbClr val="E3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58768" y="5733288"/>
            <a:ext cx="731520" cy="365760"/>
          </a:xfrm>
          <a:prstGeom prst="rect">
            <a:avLst/>
          </a:prstGeom>
          <a:noFill/>
        </p:spPr>
        <p:txBody>
          <a:bodyPr wrap="square" lIns="0" rIns="0" tIns="0" bIns="0" anchor="t"/>
          <a:lstStyle/>
          <a:p>
            <a:pPr algn="l"/>
            <a:r>
              <a:rPr sz="1800" b="1" i="0">
                <a:solidFill>
                  <a:srgbClr val="0A1628"/>
                </a:solidFill>
                <a:latin typeface="Calibri"/>
              </a:rPr>
              <a:t>6.4</a:t>
            </a:r>
          </a:p>
        </p:txBody>
      </p:sp>
      <p:sp>
        <p:nvSpPr>
          <p:cNvPr id="17" name="TextBox 16"/>
          <p:cNvSpPr txBox="1"/>
          <p:nvPr/>
        </p:nvSpPr>
        <p:spPr>
          <a:xfrm>
            <a:off x="4480560" y="5815584"/>
            <a:ext cx="749808" cy="274320"/>
          </a:xfrm>
          <a:prstGeom prst="rect">
            <a:avLst/>
          </a:prstGeom>
          <a:noFill/>
        </p:spPr>
        <p:txBody>
          <a:bodyPr wrap="square" lIns="0" rIns="0" tIns="0" bIns="0" anchor="t"/>
          <a:lstStyle/>
          <a:p>
            <a:pPr algn="l"/>
            <a:r>
              <a:rPr sz="1100" b="0" i="0">
                <a:solidFill>
                  <a:srgbClr val="5C6874"/>
                </a:solidFill>
                <a:latin typeface="Calibri"/>
              </a:rPr>
              <a:t>24 hours</a:t>
            </a:r>
          </a:p>
        </p:txBody>
      </p:sp>
      <p:sp>
        <p:nvSpPr>
          <p:cNvPr id="18" name="Rounded Rectangle 17"/>
          <p:cNvSpPr/>
          <p:nvPr/>
        </p:nvSpPr>
        <p:spPr>
          <a:xfrm>
            <a:off x="5376672" y="5687568"/>
            <a:ext cx="1536192" cy="658368"/>
          </a:xfrm>
          <a:prstGeom prst="roundRect">
            <a:avLst>
              <a:gd name="adj" fmla="val 8000"/>
            </a:avLst>
          </a:prstGeom>
          <a:solidFill>
            <a:srgbClr val="FFFFFF"/>
          </a:solidFill>
          <a:ln w="12700">
            <a:solidFill>
              <a:srgbClr val="E3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04688" y="5733288"/>
            <a:ext cx="731520" cy="365760"/>
          </a:xfrm>
          <a:prstGeom prst="rect">
            <a:avLst/>
          </a:prstGeom>
          <a:noFill/>
        </p:spPr>
        <p:txBody>
          <a:bodyPr wrap="square" lIns="0" rIns="0" tIns="0" bIns="0" anchor="t"/>
          <a:lstStyle/>
          <a:p>
            <a:pPr algn="l"/>
            <a:r>
              <a:rPr sz="1800" b="1" i="0">
                <a:solidFill>
                  <a:srgbClr val="0A1628"/>
                </a:solidFill>
                <a:latin typeface="Calibri"/>
              </a:rPr>
              <a:t>7.8</a:t>
            </a:r>
          </a:p>
        </p:txBody>
      </p:sp>
      <p:sp>
        <p:nvSpPr>
          <p:cNvPr id="20" name="TextBox 19"/>
          <p:cNvSpPr txBox="1"/>
          <p:nvPr/>
        </p:nvSpPr>
        <p:spPr>
          <a:xfrm>
            <a:off x="6126480" y="5815584"/>
            <a:ext cx="749808" cy="274320"/>
          </a:xfrm>
          <a:prstGeom prst="rect">
            <a:avLst/>
          </a:prstGeom>
          <a:noFill/>
        </p:spPr>
        <p:txBody>
          <a:bodyPr wrap="square" lIns="0" rIns="0" tIns="0" bIns="0" anchor="t"/>
          <a:lstStyle/>
          <a:p>
            <a:pPr algn="l"/>
            <a:r>
              <a:rPr sz="1100" b="0" i="0">
                <a:solidFill>
                  <a:srgbClr val="5C6874"/>
                </a:solidFill>
                <a:latin typeface="Calibri"/>
              </a:rPr>
              <a:t>48 hours</a:t>
            </a:r>
          </a:p>
        </p:txBody>
      </p:sp>
      <p:sp>
        <p:nvSpPr>
          <p:cNvPr id="21" name="Rounded Rectangle 20"/>
          <p:cNvSpPr/>
          <p:nvPr/>
        </p:nvSpPr>
        <p:spPr>
          <a:xfrm>
            <a:off x="7178040" y="1417320"/>
            <a:ext cx="4572000" cy="1261872"/>
          </a:xfrm>
          <a:prstGeom prst="roundRect">
            <a:avLst>
              <a:gd name="adj" fmla="val 8000"/>
            </a:avLst>
          </a:prstGeom>
          <a:solidFill>
            <a:srgbClr val="12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60920" y="1554480"/>
            <a:ext cx="4251960" cy="292608"/>
          </a:xfrm>
          <a:prstGeom prst="rect">
            <a:avLst/>
          </a:prstGeom>
          <a:noFill/>
        </p:spPr>
        <p:txBody>
          <a:bodyPr wrap="square" lIns="0" rIns="0" tIns="0" bIns="0" anchor="t"/>
          <a:lstStyle/>
          <a:p>
            <a:pPr algn="l"/>
            <a:r>
              <a:rPr sz="1300" b="1" i="0">
                <a:solidFill>
                  <a:srgbClr val="FFFFFF"/>
                </a:solidFill>
                <a:latin typeface="Calibri"/>
              </a:rPr>
              <a:t>Score = 2 x ln(1 + hours) + (vessels - 1) + 1.5 x composition</a:t>
            </a:r>
          </a:p>
        </p:txBody>
      </p:sp>
      <p:sp>
        <p:nvSpPr>
          <p:cNvPr id="23" name="TextBox 22"/>
          <p:cNvSpPr txBox="1"/>
          <p:nvPr/>
        </p:nvSpPr>
        <p:spPr>
          <a:xfrm>
            <a:off x="7360920" y="1920240"/>
            <a:ext cx="4251960" cy="685800"/>
          </a:xfrm>
          <a:prstGeom prst="rect">
            <a:avLst/>
          </a:prstGeom>
          <a:noFill/>
        </p:spPr>
        <p:txBody>
          <a:bodyPr wrap="square" lIns="0" rIns="0" tIns="0" bIns="0" anchor="t"/>
          <a:lstStyle/>
          <a:p>
            <a:pPr algn="l"/>
            <a:r>
              <a:rPr sz="1100" b="0" i="0">
                <a:solidFill>
                  <a:srgbClr val="D5E0E8"/>
                </a:solidFill>
                <a:latin typeface="Calibri"/>
              </a:rPr>
              <a:t>Hours: time the cluster has been open.  Vessels: number in the cluster.  Composition: 1.0 with two or more tankers, 0.5 with two or more cargo ships, otherwise 0.</a:t>
            </a:r>
          </a:p>
        </p:txBody>
      </p:sp>
      <p:sp>
        <p:nvSpPr>
          <p:cNvPr id="24" name="TextBox 23"/>
          <p:cNvSpPr txBox="1"/>
          <p:nvPr/>
        </p:nvSpPr>
        <p:spPr>
          <a:xfrm>
            <a:off x="7178040" y="2834640"/>
            <a:ext cx="4572000" cy="201168"/>
          </a:xfrm>
          <a:prstGeom prst="rect">
            <a:avLst/>
          </a:prstGeom>
          <a:noFill/>
        </p:spPr>
        <p:txBody>
          <a:bodyPr wrap="square" lIns="0" rIns="0" tIns="0" bIns="0" anchor="t"/>
          <a:lstStyle/>
          <a:p>
            <a:pPr algn="l"/>
            <a:r>
              <a:rPr sz="1050" b="1" i="0">
                <a:solidFill>
                  <a:srgbClr val="0E6E7C"/>
                </a:solidFill>
                <a:latin typeface="Calibri"/>
              </a:rPr>
              <a:t>WHY DURATION USES A LOGARITHM</a:t>
            </a:r>
          </a:p>
        </p:txBody>
      </p:sp>
      <p:sp>
        <p:nvSpPr>
          <p:cNvPr id="25" name="Rectangle 24"/>
          <p:cNvSpPr/>
          <p:nvPr/>
        </p:nvSpPr>
        <p:spPr>
          <a:xfrm>
            <a:off x="7178040" y="3081528"/>
            <a:ext cx="4572000" cy="18288"/>
          </a:xfrm>
          <a:prstGeom prst="rect">
            <a:avLst/>
          </a:prstGeom>
          <a:solidFill>
            <a:srgbClr val="E3D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78040" y="3182112"/>
            <a:ext cx="4572000" cy="2240280"/>
          </a:xfrm>
          <a:prstGeom prst="rect">
            <a:avLst/>
          </a:prstGeom>
          <a:noFill/>
        </p:spPr>
        <p:txBody>
          <a:bodyPr wrap="square" lIns="0" rIns="0" tIns="0" bIns="0"/>
          <a:lstStyle/>
          <a:p>
            <a:pPr>
              <a:spcAft>
                <a:spcPts val="400"/>
              </a:spcAft>
            </a:pPr>
            <a:r>
              <a:rPr sz="1050" b="1" i="0">
                <a:solidFill>
                  <a:srgbClr val="162333"/>
                </a:solidFill>
                <a:latin typeface="Calibri"/>
              </a:rPr>
              <a:t>Starts at zero.</a:t>
            </a:r>
            <a:r>
              <a:rPr sz="1050" b="0" i="0">
                <a:solidFill>
                  <a:srgbClr val="243140"/>
                </a:solidFill>
                <a:latin typeface="Calibri"/>
              </a:rPr>
              <a:t>  ln(1 + 0) = 0, so a pair that has only just formed carries no duration weight.</a:t>
            </a:r>
          </a:p>
          <a:p>
            <a:pPr>
              <a:spcAft>
                <a:spcPts val="400"/>
              </a:spcAft>
            </a:pPr>
            <a:r>
              <a:rPr sz="1050" b="1" i="0">
                <a:solidFill>
                  <a:srgbClr val="162333"/>
                </a:solidFill>
                <a:latin typeface="Calibri"/>
              </a:rPr>
              <a:t>Diminishing returns.</a:t>
            </a:r>
            <a:r>
              <a:rPr sz="1050" b="0" i="0">
                <a:solidFill>
                  <a:srgbClr val="243140"/>
                </a:solidFill>
                <a:latin typeface="Calibri"/>
              </a:rPr>
              <a:t>  The first hours carry the most weight. The first six hours add 3.9 points; the whole second day adds 1.3. A long routine wait still raises the score, but not by a fixed amount every hour.</a:t>
            </a:r>
          </a:p>
          <a:p>
            <a:pPr>
              <a:spcAft>
                <a:spcPts val="400"/>
              </a:spcAft>
            </a:pPr>
            <a:r>
              <a:rPr sz="1050" b="1" i="0">
                <a:solidFill>
                  <a:srgbClr val="162333"/>
                </a:solidFill>
                <a:latin typeface="Calibri"/>
              </a:rPr>
              <a:t>Balance between terms.</a:t>
            </a:r>
            <a:r>
              <a:rPr sz="1050" b="0" i="0">
                <a:solidFill>
                  <a:srgbClr val="243140"/>
                </a:solidFill>
                <a:latin typeface="Calibri"/>
              </a:rPr>
              <a:t>  Because duration flattens, the vessel count (+1.0 per additional vessel) and the composition term (up to +1.5) keep their influence. With a linear term, a long berth wait would outrank a shorter meeting with a more significant composition.</a:t>
            </a:r>
          </a:p>
          <a:p>
            <a:pPr>
              <a:spcAft>
                <a:spcPts val="400"/>
              </a:spcAft>
            </a:pPr>
            <a:r>
              <a:rPr sz="1050" b="1" i="0">
                <a:solidFill>
                  <a:srgbClr val="162333"/>
                </a:solidFill>
                <a:latin typeface="Calibri"/>
              </a:rPr>
              <a:t>Scale.</a:t>
            </a:r>
            <a:r>
              <a:rPr sz="1050" b="0" i="0">
                <a:solidFill>
                  <a:srgbClr val="243140"/>
                </a:solidFill>
                <a:latin typeface="Calibri"/>
              </a:rPr>
              <a:t>  The coefficient 2.0 sets how quickly duration accumulates. The weights follow operational rules today and will be calibrated against analyst-reviewed cases in the modelling phase.</a:t>
            </a:r>
          </a:p>
        </p:txBody>
      </p:sp>
      <p:sp>
        <p:nvSpPr>
          <p:cNvPr id="27" name="TextBox 26"/>
          <p:cNvSpPr txBox="1"/>
          <p:nvPr/>
        </p:nvSpPr>
        <p:spPr>
          <a:xfrm>
            <a:off x="7178040" y="5440680"/>
            <a:ext cx="4572000" cy="201168"/>
          </a:xfrm>
          <a:prstGeom prst="rect">
            <a:avLst/>
          </a:prstGeom>
          <a:noFill/>
        </p:spPr>
        <p:txBody>
          <a:bodyPr wrap="square" lIns="0" rIns="0" tIns="0" bIns="0" anchor="t"/>
          <a:lstStyle/>
          <a:p>
            <a:pPr algn="l"/>
            <a:r>
              <a:rPr sz="1000" b="1" i="0">
                <a:solidFill>
                  <a:srgbClr val="0E6E7C"/>
                </a:solidFill>
                <a:latin typeface="Calibri"/>
              </a:rPr>
              <a:t>TIME TO REACH 4.5</a:t>
            </a:r>
          </a:p>
        </p:txBody>
      </p:sp>
      <p:sp>
        <p:nvSpPr>
          <p:cNvPr id="28" name="Rounded Rectangle 27"/>
          <p:cNvSpPr/>
          <p:nvPr/>
        </p:nvSpPr>
        <p:spPr>
          <a:xfrm>
            <a:off x="7178040" y="5687568"/>
            <a:ext cx="1463040" cy="658368"/>
          </a:xfrm>
          <a:prstGeom prst="roundRect">
            <a:avLst>
              <a:gd name="adj" fmla="val 8000"/>
            </a:avLst>
          </a:prstGeom>
          <a:solidFill>
            <a:srgbClr val="FFFFFF"/>
          </a:solidFill>
          <a:ln w="12700">
            <a:solidFill>
              <a:srgbClr val="E3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87768" y="5724144"/>
            <a:ext cx="1280160" cy="292608"/>
          </a:xfrm>
          <a:prstGeom prst="rect">
            <a:avLst/>
          </a:prstGeom>
          <a:noFill/>
        </p:spPr>
        <p:txBody>
          <a:bodyPr wrap="square" lIns="0" rIns="0" tIns="0" bIns="0" anchor="t"/>
          <a:lstStyle/>
          <a:p>
            <a:pPr algn="l"/>
            <a:r>
              <a:rPr sz="1500" b="1" i="0">
                <a:solidFill>
                  <a:srgbClr val="0A1628"/>
                </a:solidFill>
                <a:latin typeface="Calibri"/>
              </a:rPr>
              <a:t>1.7 h</a:t>
            </a:r>
          </a:p>
        </p:txBody>
      </p:sp>
      <p:sp>
        <p:nvSpPr>
          <p:cNvPr id="30" name="TextBox 29"/>
          <p:cNvSpPr txBox="1"/>
          <p:nvPr/>
        </p:nvSpPr>
        <p:spPr>
          <a:xfrm>
            <a:off x="7287768" y="6016752"/>
            <a:ext cx="1325880" cy="274320"/>
          </a:xfrm>
          <a:prstGeom prst="rect">
            <a:avLst/>
          </a:prstGeom>
          <a:noFill/>
        </p:spPr>
        <p:txBody>
          <a:bodyPr wrap="square" lIns="0" rIns="0" tIns="0" bIns="0" anchor="t"/>
          <a:lstStyle/>
          <a:p>
            <a:pPr algn="l"/>
            <a:r>
              <a:rPr sz="950" b="0" i="0">
                <a:solidFill>
                  <a:srgbClr val="5C6874"/>
                </a:solidFill>
                <a:latin typeface="Calibri"/>
              </a:rPr>
              <a:t>Tanker and tanker</a:t>
            </a:r>
          </a:p>
        </p:txBody>
      </p:sp>
      <p:sp>
        <p:nvSpPr>
          <p:cNvPr id="31" name="Rounded Rectangle 30"/>
          <p:cNvSpPr/>
          <p:nvPr/>
        </p:nvSpPr>
        <p:spPr>
          <a:xfrm>
            <a:off x="8723376" y="5687568"/>
            <a:ext cx="1463040" cy="658368"/>
          </a:xfrm>
          <a:prstGeom prst="roundRect">
            <a:avLst>
              <a:gd name="adj" fmla="val 8000"/>
            </a:avLst>
          </a:prstGeom>
          <a:solidFill>
            <a:srgbClr val="FFFFFF"/>
          </a:solidFill>
          <a:ln w="12700">
            <a:solidFill>
              <a:srgbClr val="E3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33103" y="5724144"/>
            <a:ext cx="1280160" cy="292608"/>
          </a:xfrm>
          <a:prstGeom prst="rect">
            <a:avLst/>
          </a:prstGeom>
          <a:noFill/>
        </p:spPr>
        <p:txBody>
          <a:bodyPr wrap="square" lIns="0" rIns="0" tIns="0" bIns="0" anchor="t"/>
          <a:lstStyle/>
          <a:p>
            <a:pPr algn="l"/>
            <a:r>
              <a:rPr sz="1500" b="1" i="0">
                <a:solidFill>
                  <a:srgbClr val="0A1628"/>
                </a:solidFill>
                <a:latin typeface="Calibri"/>
              </a:rPr>
              <a:t>3.0 h</a:t>
            </a:r>
          </a:p>
        </p:txBody>
      </p:sp>
      <p:sp>
        <p:nvSpPr>
          <p:cNvPr id="33" name="TextBox 32"/>
          <p:cNvSpPr txBox="1"/>
          <p:nvPr/>
        </p:nvSpPr>
        <p:spPr>
          <a:xfrm>
            <a:off x="8833103" y="6016752"/>
            <a:ext cx="1325880" cy="274320"/>
          </a:xfrm>
          <a:prstGeom prst="rect">
            <a:avLst/>
          </a:prstGeom>
          <a:noFill/>
        </p:spPr>
        <p:txBody>
          <a:bodyPr wrap="square" lIns="0" rIns="0" tIns="0" bIns="0" anchor="t"/>
          <a:lstStyle/>
          <a:p>
            <a:pPr algn="l"/>
            <a:r>
              <a:rPr sz="950" b="0" i="0">
                <a:solidFill>
                  <a:srgbClr val="5C6874"/>
                </a:solidFill>
                <a:latin typeface="Calibri"/>
              </a:rPr>
              <a:t>Cargo and cargo</a:t>
            </a:r>
          </a:p>
        </p:txBody>
      </p:sp>
      <p:sp>
        <p:nvSpPr>
          <p:cNvPr id="34" name="Rounded Rectangle 33"/>
          <p:cNvSpPr/>
          <p:nvPr/>
        </p:nvSpPr>
        <p:spPr>
          <a:xfrm>
            <a:off x="10268712" y="5687568"/>
            <a:ext cx="1463040" cy="658368"/>
          </a:xfrm>
          <a:prstGeom prst="roundRect">
            <a:avLst>
              <a:gd name="adj" fmla="val 8000"/>
            </a:avLst>
          </a:prstGeom>
          <a:solidFill>
            <a:srgbClr val="FFFFFF"/>
          </a:solidFill>
          <a:ln w="12700">
            <a:solidFill>
              <a:srgbClr val="E3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78440" y="5724144"/>
            <a:ext cx="1280160" cy="292608"/>
          </a:xfrm>
          <a:prstGeom prst="rect">
            <a:avLst/>
          </a:prstGeom>
          <a:noFill/>
        </p:spPr>
        <p:txBody>
          <a:bodyPr wrap="square" lIns="0" rIns="0" tIns="0" bIns="0" anchor="t"/>
          <a:lstStyle/>
          <a:p>
            <a:pPr algn="l"/>
            <a:r>
              <a:rPr sz="1500" b="1" i="0">
                <a:solidFill>
                  <a:srgbClr val="0A1628"/>
                </a:solidFill>
                <a:latin typeface="Calibri"/>
              </a:rPr>
              <a:t>4.8 h</a:t>
            </a:r>
          </a:p>
        </p:txBody>
      </p:sp>
      <p:sp>
        <p:nvSpPr>
          <p:cNvPr id="36" name="TextBox 35"/>
          <p:cNvSpPr txBox="1"/>
          <p:nvPr/>
        </p:nvSpPr>
        <p:spPr>
          <a:xfrm>
            <a:off x="10378440" y="6016752"/>
            <a:ext cx="1325880" cy="274320"/>
          </a:xfrm>
          <a:prstGeom prst="rect">
            <a:avLst/>
          </a:prstGeom>
          <a:noFill/>
        </p:spPr>
        <p:txBody>
          <a:bodyPr wrap="square" lIns="0" rIns="0" tIns="0" bIns="0" anchor="t"/>
          <a:lstStyle/>
          <a:p>
            <a:pPr algn="l"/>
            <a:r>
              <a:rPr sz="950" b="0" i="0">
                <a:solidFill>
                  <a:srgbClr val="5C6874"/>
                </a:solidFill>
                <a:latin typeface="Calibri"/>
              </a:rPr>
              <a:t>Cargo and tanker</a:t>
            </a:r>
          </a:p>
        </p:txBody>
      </p:sp>
      <p:sp>
        <p:nvSpPr>
          <p:cNvPr id="37" name="TextBox 36"/>
          <p:cNvSpPr txBox="1"/>
          <p:nvPr/>
        </p:nvSpPr>
        <p:spPr>
          <a:xfrm>
            <a:off x="438912" y="6492240"/>
            <a:ext cx="5486400" cy="237744"/>
          </a:xfrm>
          <a:prstGeom prst="rect">
            <a:avLst/>
          </a:prstGeom>
          <a:noFill/>
        </p:spPr>
        <p:txBody>
          <a:bodyPr wrap="square" lIns="0" rIns="0" tIns="0" bIns="0" anchor="t"/>
          <a:lstStyle/>
          <a:p>
            <a:pPr algn="l"/>
            <a:r>
              <a:rPr sz="1000" b="1" i="0">
                <a:solidFill>
                  <a:srgbClr val="5C6874"/>
                </a:solidFill>
                <a:latin typeface="Calibri"/>
              </a:rPr>
              <a:t>MANTIS  |  Maritime Intelligence &amp; Intercept System</a:t>
            </a:r>
          </a:p>
        </p:txBody>
      </p:sp>
      <p:sp>
        <p:nvSpPr>
          <p:cNvPr id="38" name="TextBox 37"/>
          <p:cNvSpPr txBox="1"/>
          <p:nvPr/>
        </p:nvSpPr>
        <p:spPr>
          <a:xfrm>
            <a:off x="4754880" y="6492240"/>
            <a:ext cx="2743200" cy="237744"/>
          </a:xfrm>
          <a:prstGeom prst="rect">
            <a:avLst/>
          </a:prstGeom>
          <a:noFill/>
        </p:spPr>
        <p:txBody>
          <a:bodyPr wrap="square" lIns="0" rIns="0" tIns="0" bIns="0" anchor="t"/>
          <a:lstStyle/>
          <a:p>
            <a:pPr algn="ctr"/>
            <a:r>
              <a:rPr sz="1000" b="0" i="0">
                <a:solidFill>
                  <a:srgbClr val="5C6874"/>
                </a:solidFill>
                <a:latin typeface="Calibri"/>
              </a:rPr>
              <a:t>October 2026</a:t>
            </a:r>
          </a:p>
        </p:txBody>
      </p:sp>
      <p:sp>
        <p:nvSpPr>
          <p:cNvPr id="39" name="TextBox 38"/>
          <p:cNvSpPr txBox="1"/>
          <p:nvPr/>
        </p:nvSpPr>
        <p:spPr>
          <a:xfrm>
            <a:off x="10332720" y="6492240"/>
            <a:ext cx="1417320" cy="237744"/>
          </a:xfrm>
          <a:prstGeom prst="rect">
            <a:avLst/>
          </a:prstGeom>
          <a:noFill/>
        </p:spPr>
        <p:txBody>
          <a:bodyPr wrap="square" lIns="0" rIns="0" tIns="0" bIns="0" anchor="t"/>
          <a:lstStyle/>
          <a:p>
            <a:pPr algn="r"/>
            <a:r>
              <a:rPr sz="1000" b="0" i="0">
                <a:solidFill>
                  <a:srgbClr val="5C6874"/>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1FA7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56032"/>
            <a:ext cx="8229600" cy="219456"/>
          </a:xfrm>
          <a:prstGeom prst="rect">
            <a:avLst/>
          </a:prstGeom>
          <a:noFill/>
        </p:spPr>
        <p:txBody>
          <a:bodyPr wrap="square" lIns="0" rIns="0" tIns="0" bIns="0" anchor="t"/>
          <a:lstStyle/>
          <a:p>
            <a:pPr algn="l"/>
            <a:r>
              <a:rPr sz="1100" b="1" i="0">
                <a:solidFill>
                  <a:srgbClr val="0E6E7C"/>
                </a:solidFill>
                <a:latin typeface="Calibri"/>
              </a:rPr>
              <a:t>ANALYTICS MODULE  |  SHIP-TO-SHIP TRANSFER</a:t>
            </a:r>
          </a:p>
        </p:txBody>
      </p:sp>
      <p:sp>
        <p:nvSpPr>
          <p:cNvPr id="5" name="TextBox 4"/>
          <p:cNvSpPr txBox="1"/>
          <p:nvPr/>
        </p:nvSpPr>
        <p:spPr>
          <a:xfrm>
            <a:off x="420624" y="457200"/>
            <a:ext cx="11338560" cy="457200"/>
          </a:xfrm>
          <a:prstGeom prst="rect">
            <a:avLst/>
          </a:prstGeom>
          <a:noFill/>
        </p:spPr>
        <p:txBody>
          <a:bodyPr wrap="square" lIns="0" rIns="0" tIns="0" bIns="0" anchor="t"/>
          <a:lstStyle/>
          <a:p>
            <a:pPr algn="l"/>
            <a:r>
              <a:rPr sz="2600" b="1" i="0">
                <a:solidFill>
                  <a:srgbClr val="0A1628"/>
                </a:solidFill>
                <a:latin typeface="Calibri"/>
              </a:rPr>
              <a:t>Vessel composition: why tanker-to-tanker carries the highest weight</a:t>
            </a:r>
          </a:p>
        </p:txBody>
      </p:sp>
      <p:sp>
        <p:nvSpPr>
          <p:cNvPr id="6" name="TextBox 5"/>
          <p:cNvSpPr txBox="1"/>
          <p:nvPr/>
        </p:nvSpPr>
        <p:spPr>
          <a:xfrm>
            <a:off x="438912" y="932688"/>
            <a:ext cx="11292840" cy="384048"/>
          </a:xfrm>
          <a:prstGeom prst="rect">
            <a:avLst/>
          </a:prstGeom>
          <a:noFill/>
        </p:spPr>
        <p:txBody>
          <a:bodyPr wrap="square" lIns="0" rIns="0" tIns="0" bIns="0" anchor="t"/>
          <a:lstStyle/>
          <a:p>
            <a:pPr algn="l"/>
            <a:r>
              <a:rPr sz="1350" b="0" i="0">
                <a:solidFill>
                  <a:srgbClr val="5C6874"/>
                </a:solidFill>
                <a:latin typeface="Calibri"/>
              </a:rPr>
              <a:t>The composition term reflects how transfers are carried out in Malaysian waters. Cargo is AIS type 70 to 79; tanker is 80 to 89.</a:t>
            </a:r>
          </a:p>
        </p:txBody>
      </p:sp>
      <p:graphicFrame>
        <p:nvGraphicFramePr>
          <p:cNvPr id="7" name="Table 6"/>
          <p:cNvGraphicFramePr>
            <a:graphicFrameLocks noGrp="1"/>
          </p:cNvGraphicFramePr>
          <p:nvPr/>
        </p:nvGraphicFramePr>
        <p:xfrm>
          <a:off x="438912" y="1508760"/>
          <a:ext cx="11292840" cy="2606040"/>
        </p:xfrm>
        <a:graphic>
          <a:graphicData uri="http://schemas.openxmlformats.org/drawingml/2006/table">
            <a:tbl>
              <a:tblPr firstRow="1" bandRow="1">
                <a:tableStyleId>{5C22544A-7EE6-4342-B048-85BDC9FD1C3A}</a:tableStyleId>
              </a:tblPr>
              <a:tblGrid>
                <a:gridCol w="2743200"/>
                <a:gridCol w="914400"/>
                <a:gridCol w="3291840"/>
                <a:gridCol w="4343400"/>
              </a:tblGrid>
              <a:tr h="411480">
                <a:tc>
                  <a:txBody>
                    <a:bodyPr wrap="square"/>
                    <a:lstStyle/>
                    <a:p>
                      <a:r>
                        <a:rPr sz="1200" b="1" i="0">
                          <a:solidFill>
                            <a:srgbClr val="FFFFFF"/>
                          </a:solidFill>
                          <a:latin typeface="Calibri"/>
                        </a:rPr>
                        <a:t>Cluster composition</a:t>
                      </a:r>
                    </a:p>
                  </a:txBody>
                  <a:tcPr marL="109728" marR="109728" marT="64008" marB="64008">
                    <a:solidFill>
                      <a:srgbClr val="122438"/>
                    </a:solidFill>
                  </a:tcPr>
                </a:tc>
                <a:tc>
                  <a:txBody>
                    <a:bodyPr wrap="square"/>
                    <a:lstStyle/>
                    <a:p>
                      <a:r>
                        <a:rPr sz="1200" b="1" i="0">
                          <a:solidFill>
                            <a:srgbClr val="FFFFFF"/>
                          </a:solidFill>
                          <a:latin typeface="Calibri"/>
                        </a:rPr>
                        <a:t>Weight</a:t>
                      </a:r>
                    </a:p>
                  </a:txBody>
                  <a:tcPr marL="109728" marR="109728" marT="64008" marB="64008">
                    <a:solidFill>
                      <a:srgbClr val="122438"/>
                    </a:solidFill>
                  </a:tcPr>
                </a:tc>
                <a:tc>
                  <a:txBody>
                    <a:bodyPr wrap="square"/>
                    <a:lstStyle/>
                    <a:p>
                      <a:r>
                        <a:rPr sz="1200" b="1" i="0">
                          <a:solidFill>
                            <a:srgbClr val="FFFFFF"/>
                          </a:solidFill>
                          <a:latin typeface="Calibri"/>
                        </a:rPr>
                        <a:t>Typical activity</a:t>
                      </a:r>
                    </a:p>
                  </a:txBody>
                  <a:tcPr marL="109728" marR="109728" marT="64008" marB="64008">
                    <a:solidFill>
                      <a:srgbClr val="122438"/>
                    </a:solidFill>
                  </a:tcPr>
                </a:tc>
                <a:tc>
                  <a:txBody>
                    <a:bodyPr wrap="square"/>
                    <a:lstStyle/>
                    <a:p>
                      <a:r>
                        <a:rPr sz="1200" b="1" i="0">
                          <a:solidFill>
                            <a:srgbClr val="FFFFFF"/>
                          </a:solidFill>
                          <a:latin typeface="Calibri"/>
                        </a:rPr>
                        <a:t>Interpretation</a:t>
                      </a:r>
                    </a:p>
                  </a:txBody>
                  <a:tcPr marL="109728" marR="109728" marT="64008" marB="64008">
                    <a:solidFill>
                      <a:srgbClr val="122438"/>
                    </a:solidFill>
                  </a:tcPr>
                </a:tc>
              </a:tr>
              <a:tr h="731520">
                <a:tc>
                  <a:txBody>
                    <a:bodyPr wrap="square"/>
                    <a:lstStyle/>
                    <a:p>
                      <a:r>
                        <a:rPr sz="1200" b="1" i="0">
                          <a:solidFill>
                            <a:srgbClr val="0A1628"/>
                          </a:solidFill>
                          <a:latin typeface="Calibri"/>
                        </a:rPr>
                        <a:t>Two or more tankers</a:t>
                      </a:r>
                      <a:br/>
                      <a:r>
                        <a:rPr sz="1200" b="1" i="0">
                          <a:solidFill>
                            <a:srgbClr val="0A1628"/>
                          </a:solidFill>
                          <a:latin typeface="Calibri"/>
                        </a:rPr>
                        <a:t>(a cargo ship may also be present)</a:t>
                      </a:r>
                    </a:p>
                  </a:txBody>
                  <a:tcPr marL="109728" marR="109728" marT="64008" marB="64008">
                    <a:solidFill>
                      <a:srgbClr val="E8F4F6"/>
                    </a:solidFill>
                  </a:tcPr>
                </a:tc>
                <a:tc>
                  <a:txBody>
                    <a:bodyPr wrap="square"/>
                    <a:lstStyle/>
                    <a:p>
                      <a:r>
                        <a:rPr sz="1500" b="1" i="0">
                          <a:solidFill>
                            <a:srgbClr val="0A1628"/>
                          </a:solidFill>
                          <a:latin typeface="Calibri"/>
                        </a:rPr>
                        <a:t>+1.5</a:t>
                      </a:r>
                    </a:p>
                  </a:txBody>
                  <a:tcPr marL="109728" marR="109728" marT="64008" marB="64008">
                    <a:solidFill>
                      <a:srgbClr val="E8F4F6"/>
                    </a:solidFill>
                  </a:tcPr>
                </a:tc>
                <a:tc>
                  <a:txBody>
                    <a:bodyPr wrap="square"/>
                    <a:lstStyle/>
                    <a:p>
                      <a:r>
                        <a:rPr sz="1200" b="0" i="0">
                          <a:solidFill>
                            <a:srgbClr val="243140"/>
                          </a:solidFill>
                          <a:latin typeface="Calibri"/>
                        </a:rPr>
                        <a:t>Crude oil or fuel moved from one tanker to another.</a:t>
                      </a:r>
                    </a:p>
                  </a:txBody>
                  <a:tcPr marL="109728" marR="109728" marT="64008" marB="64008">
                    <a:solidFill>
                      <a:srgbClr val="E8F4F6"/>
                    </a:solidFill>
                  </a:tcPr>
                </a:tc>
                <a:tc>
                  <a:txBody>
                    <a:bodyPr wrap="square"/>
                    <a:lstStyle/>
                    <a:p>
                      <a:r>
                        <a:rPr sz="1200" b="0" i="0">
                          <a:solidFill>
                            <a:srgbClr val="243140"/>
                          </a:solidFill>
                          <a:latin typeface="Calibri"/>
                        </a:rPr>
                        <a:t>The pattern used to change the vessel carrying a cargo and obscure where it came from. Highest weight.</a:t>
                      </a:r>
                    </a:p>
                  </a:txBody>
                  <a:tcPr marL="109728" marR="109728" marT="64008" marB="64008">
                    <a:solidFill>
                      <a:srgbClr val="E8F4F6"/>
                    </a:solidFill>
                  </a:tcPr>
                </a:tc>
              </a:tr>
              <a:tr h="731520">
                <a:tc>
                  <a:txBody>
                    <a:bodyPr wrap="square"/>
                    <a:lstStyle/>
                    <a:p>
                      <a:r>
                        <a:rPr sz="1200" b="1" i="0">
                          <a:solidFill>
                            <a:srgbClr val="0A1628"/>
                          </a:solidFill>
                          <a:latin typeface="Calibri"/>
                        </a:rPr>
                        <a:t>Two or more cargo ships</a:t>
                      </a:r>
                    </a:p>
                  </a:txBody>
                  <a:tcPr marL="109728" marR="109728" marT="64008" marB="64008">
                    <a:solidFill>
                      <a:srgbClr val="FFFFFF"/>
                    </a:solidFill>
                  </a:tcPr>
                </a:tc>
                <a:tc>
                  <a:txBody>
                    <a:bodyPr wrap="square"/>
                    <a:lstStyle/>
                    <a:p>
                      <a:r>
                        <a:rPr sz="1500" b="1" i="0">
                          <a:solidFill>
                            <a:srgbClr val="0A1628"/>
                          </a:solidFill>
                          <a:latin typeface="Calibri"/>
                        </a:rPr>
                        <a:t>+0.75</a:t>
                      </a:r>
                    </a:p>
                  </a:txBody>
                  <a:tcPr marL="109728" marR="109728" marT="64008" marB="64008">
                    <a:solidFill>
                      <a:srgbClr val="FFFFFF"/>
                    </a:solidFill>
                  </a:tcPr>
                </a:tc>
                <a:tc>
                  <a:txBody>
                    <a:bodyPr wrap="square"/>
                    <a:lstStyle/>
                    <a:p>
                      <a:r>
                        <a:rPr sz="1200" b="0" i="0">
                          <a:solidFill>
                            <a:srgbClr val="243140"/>
                          </a:solidFill>
                          <a:latin typeface="Calibri"/>
                        </a:rPr>
                        <a:t>Bulk transhipment, for example dredged sand or minerals.</a:t>
                      </a:r>
                    </a:p>
                  </a:txBody>
                  <a:tcPr marL="109728" marR="109728" marT="64008" marB="64008">
                    <a:solidFill>
                      <a:srgbClr val="FFFFFF"/>
                    </a:solidFill>
                  </a:tcPr>
                </a:tc>
                <a:tc>
                  <a:txBody>
                    <a:bodyPr wrap="square"/>
                    <a:lstStyle/>
                    <a:p>
                      <a:r>
                        <a:rPr sz="1200" b="0" i="0">
                          <a:solidFill>
                            <a:srgbClr val="243140"/>
                          </a:solidFill>
                          <a:latin typeface="Calibri"/>
                        </a:rPr>
                        <a:t>Often lawful, but also used to move undeclared bulk cargo. Moderate weight.</a:t>
                      </a:r>
                    </a:p>
                  </a:txBody>
                  <a:tcPr marL="109728" marR="109728" marT="64008" marB="64008">
                    <a:solidFill>
                      <a:srgbClr val="FFFFFF"/>
                    </a:solidFill>
                  </a:tcPr>
                </a:tc>
              </a:tr>
              <a:tr h="731520">
                <a:tc>
                  <a:txBody>
                    <a:bodyPr wrap="square"/>
                    <a:lstStyle/>
                    <a:p>
                      <a:r>
                        <a:rPr sz="1200" b="1" i="0">
                          <a:solidFill>
                            <a:srgbClr val="0A1628"/>
                          </a:solidFill>
                          <a:latin typeface="Calibri"/>
                        </a:rPr>
                        <a:t>Cargo ship beside one tanker</a:t>
                      </a:r>
                    </a:p>
                  </a:txBody>
                  <a:tcPr marL="109728" marR="109728" marT="64008" marB="64008">
                    <a:solidFill>
                      <a:srgbClr val="FFFFFF"/>
                    </a:solidFill>
                  </a:tcPr>
                </a:tc>
                <a:tc>
                  <a:txBody>
                    <a:bodyPr wrap="square"/>
                    <a:lstStyle/>
                    <a:p>
                      <a:r>
                        <a:rPr sz="1500" b="1" i="0">
                          <a:solidFill>
                            <a:srgbClr val="0A1628"/>
                          </a:solidFill>
                          <a:latin typeface="Calibri"/>
                        </a:rPr>
                        <a:t>0</a:t>
                      </a:r>
                    </a:p>
                  </a:txBody>
                  <a:tcPr marL="109728" marR="109728" marT="64008" marB="64008">
                    <a:solidFill>
                      <a:srgbClr val="FFFFFF"/>
                    </a:solidFill>
                  </a:tcPr>
                </a:tc>
                <a:tc>
                  <a:txBody>
                    <a:bodyPr wrap="square"/>
                    <a:lstStyle/>
                    <a:p>
                      <a:r>
                        <a:rPr sz="1200" b="0" i="0">
                          <a:solidFill>
                            <a:srgbClr val="243140"/>
                          </a:solidFill>
                          <a:latin typeface="Calibri"/>
                        </a:rPr>
                        <a:t>Bunkering: a bunker tanker refuelling a cargo ship.</a:t>
                      </a:r>
                    </a:p>
                  </a:txBody>
                  <a:tcPr marL="109728" marR="109728" marT="64008" marB="64008">
                    <a:solidFill>
                      <a:srgbClr val="FFFFFF"/>
                    </a:solidFill>
                  </a:tcPr>
                </a:tc>
                <a:tc>
                  <a:txBody>
                    <a:bodyPr wrap="square"/>
                    <a:lstStyle/>
                    <a:p>
                      <a:r>
                        <a:rPr sz="1200" b="0" i="0">
                          <a:solidFill>
                            <a:srgbClr val="243140"/>
                          </a:solidFill>
                          <a:latin typeface="Calibri"/>
                        </a:rPr>
                        <a:t>Routine across the Straits, one of the largest bunkering markets in the world. No weight, so bunkering does not crowd the review queue.</a:t>
                      </a:r>
                    </a:p>
                  </a:txBody>
                  <a:tcPr marL="109728" marR="109728" marT="64008" marB="64008">
                    <a:solidFill>
                      <a:srgbClr val="FFFFFF"/>
                    </a:solidFill>
                  </a:tcPr>
                </a:tc>
              </a:tr>
            </a:tbl>
          </a:graphicData>
        </a:graphic>
      </p:graphicFrame>
      <p:sp>
        <p:nvSpPr>
          <p:cNvPr id="8" name="TextBox 7"/>
          <p:cNvSpPr txBox="1"/>
          <p:nvPr/>
        </p:nvSpPr>
        <p:spPr>
          <a:xfrm>
            <a:off x="438912" y="4434840"/>
            <a:ext cx="11292840" cy="201168"/>
          </a:xfrm>
          <a:prstGeom prst="rect">
            <a:avLst/>
          </a:prstGeom>
          <a:noFill/>
        </p:spPr>
        <p:txBody>
          <a:bodyPr wrap="square" lIns="0" rIns="0" tIns="0" bIns="0" anchor="t"/>
          <a:lstStyle/>
          <a:p>
            <a:pPr algn="l"/>
            <a:r>
              <a:rPr sz="1050" b="1" i="0">
                <a:solidFill>
                  <a:srgbClr val="0E6E7C"/>
                </a:solidFill>
                <a:latin typeface="Calibri"/>
              </a:rPr>
              <a:t>WHY TANKER-TO-TANKER TRANSFERS RANK FIRST IN MALAYSIAN WATERS</a:t>
            </a:r>
          </a:p>
        </p:txBody>
      </p:sp>
      <p:sp>
        <p:nvSpPr>
          <p:cNvPr id="9" name="Rectangle 8"/>
          <p:cNvSpPr/>
          <p:nvPr/>
        </p:nvSpPr>
        <p:spPr>
          <a:xfrm>
            <a:off x="438912" y="4681727"/>
            <a:ext cx="11292840" cy="18288"/>
          </a:xfrm>
          <a:prstGeom prst="rect">
            <a:avLst/>
          </a:prstGeom>
          <a:solidFill>
            <a:srgbClr val="E3D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 y="4800600"/>
            <a:ext cx="11292840" cy="1600200"/>
          </a:xfrm>
          <a:prstGeom prst="rect">
            <a:avLst/>
          </a:prstGeom>
          <a:noFill/>
        </p:spPr>
        <p:txBody>
          <a:bodyPr wrap="square" lIns="0" rIns="0" tIns="0" bIns="0"/>
          <a:lstStyle/>
          <a:p>
            <a:pPr>
              <a:spcAft>
                <a:spcPts val="500"/>
              </a:spcAft>
            </a:pPr>
            <a:r>
              <a:rPr sz="1200" b="1" i="0">
                <a:solidFill>
                  <a:srgbClr val="162333"/>
                </a:solidFill>
                <a:latin typeface="Calibri"/>
              </a:rPr>
              <a:t>Regional transfer area.</a:t>
            </a:r>
            <a:r>
              <a:rPr sz="1200" b="0" i="0">
                <a:solidFill>
                  <a:srgbClr val="243140"/>
                </a:solidFill>
                <a:latin typeface="Calibri"/>
              </a:rPr>
              <a:t>  Waters off eastern Johor and the southern South China Sea are widely reported as a transfer area where crude from sanctioned sources is moved between tankers and re-documented before onward shipment.</a:t>
            </a:r>
          </a:p>
          <a:p>
            <a:pPr>
              <a:spcAft>
                <a:spcPts val="500"/>
              </a:spcAft>
            </a:pPr>
            <a:r>
              <a:rPr sz="1200" b="1" i="0">
                <a:solidFill>
                  <a:srgbClr val="162333"/>
                </a:solidFill>
                <a:latin typeface="Calibri"/>
              </a:rPr>
              <a:t>Change of carrying vessel.</a:t>
            </a:r>
            <a:r>
              <a:rPr sz="1200" b="0" i="0">
                <a:solidFill>
                  <a:srgbClr val="243140"/>
                </a:solidFill>
                <a:latin typeface="Calibri"/>
              </a:rPr>
              <a:t>  A tanker-to-tanker transfer moves the cargo onto a different hull, which breaks the documented link between origin and destination. A bunker delivery to a cargo ship does not change who carries the cargo.</a:t>
            </a:r>
          </a:p>
          <a:p>
            <a:pPr>
              <a:spcAft>
                <a:spcPts val="500"/>
              </a:spcAft>
            </a:pPr>
            <a:r>
              <a:rPr sz="1200" b="1" i="0">
                <a:solidFill>
                  <a:srgbClr val="162333"/>
                </a:solidFill>
                <a:latin typeface="Calibri"/>
              </a:rPr>
              <a:t>Lawful transfers have a known setting.</a:t>
            </a:r>
            <a:r>
              <a:rPr sz="1200" b="0" i="0">
                <a:solidFill>
                  <a:srgbClr val="243140"/>
                </a:solidFill>
                <a:latin typeface="Calibri"/>
              </a:rPr>
              <a:t>  Authorised lightering normally takes place in designated areas with approval. A tanker pair outside the anchorage area, or alongside a dark or sanctioned vessel, is the case analysts need to see first.</a:t>
            </a:r>
          </a:p>
        </p:txBody>
      </p:sp>
      <p:sp>
        <p:nvSpPr>
          <p:cNvPr id="11" name="TextBox 10"/>
          <p:cNvSpPr txBox="1"/>
          <p:nvPr/>
        </p:nvSpPr>
        <p:spPr>
          <a:xfrm>
            <a:off x="438912" y="6492240"/>
            <a:ext cx="5486400" cy="237744"/>
          </a:xfrm>
          <a:prstGeom prst="rect">
            <a:avLst/>
          </a:prstGeom>
          <a:noFill/>
        </p:spPr>
        <p:txBody>
          <a:bodyPr wrap="square" lIns="0" rIns="0" tIns="0" bIns="0" anchor="t"/>
          <a:lstStyle/>
          <a:p>
            <a:pPr algn="l"/>
            <a:r>
              <a:rPr sz="1000" b="1" i="0">
                <a:solidFill>
                  <a:srgbClr val="5C6874"/>
                </a:solidFill>
                <a:latin typeface="Calibri"/>
              </a:rPr>
              <a:t>MANTIS  |  Maritime Intelligence &amp; Intercept System</a:t>
            </a:r>
          </a:p>
        </p:txBody>
      </p:sp>
      <p:sp>
        <p:nvSpPr>
          <p:cNvPr id="12" name="TextBox 11"/>
          <p:cNvSpPr txBox="1"/>
          <p:nvPr/>
        </p:nvSpPr>
        <p:spPr>
          <a:xfrm>
            <a:off x="4754880" y="6492240"/>
            <a:ext cx="2743200" cy="237744"/>
          </a:xfrm>
          <a:prstGeom prst="rect">
            <a:avLst/>
          </a:prstGeom>
          <a:noFill/>
        </p:spPr>
        <p:txBody>
          <a:bodyPr wrap="square" lIns="0" rIns="0" tIns="0" bIns="0" anchor="t"/>
          <a:lstStyle/>
          <a:p>
            <a:pPr algn="ctr"/>
            <a:r>
              <a:rPr sz="1000" b="0" i="0">
                <a:solidFill>
                  <a:srgbClr val="5C6874"/>
                </a:solidFill>
                <a:latin typeface="Calibri"/>
              </a:rPr>
              <a:t>October 2026</a:t>
            </a:r>
          </a:p>
        </p:txBody>
      </p:sp>
      <p:sp>
        <p:nvSpPr>
          <p:cNvPr id="13" name="TextBox 12"/>
          <p:cNvSpPr txBox="1"/>
          <p:nvPr/>
        </p:nvSpPr>
        <p:spPr>
          <a:xfrm>
            <a:off x="10332720" y="6492240"/>
            <a:ext cx="1417320" cy="237744"/>
          </a:xfrm>
          <a:prstGeom prst="rect">
            <a:avLst/>
          </a:prstGeom>
          <a:noFill/>
        </p:spPr>
        <p:txBody>
          <a:bodyPr wrap="square" lIns="0" rIns="0" tIns="0" bIns="0" anchor="t"/>
          <a:lstStyle/>
          <a:p>
            <a:pPr algn="r"/>
            <a:r>
              <a:rPr sz="1000" b="0" i="0">
                <a:solidFill>
                  <a:srgbClr val="5C6874"/>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1FA7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56032"/>
            <a:ext cx="8229600" cy="219456"/>
          </a:xfrm>
          <a:prstGeom prst="rect">
            <a:avLst/>
          </a:prstGeom>
          <a:noFill/>
        </p:spPr>
        <p:txBody>
          <a:bodyPr wrap="square" lIns="0" rIns="0" tIns="0" bIns="0" anchor="t"/>
          <a:lstStyle/>
          <a:p>
            <a:pPr algn="l"/>
            <a:r>
              <a:rPr sz="1100" b="1" i="0">
                <a:solidFill>
                  <a:srgbClr val="0E6E7C"/>
                </a:solidFill>
                <a:latin typeface="Calibri"/>
              </a:rPr>
              <a:t>ANALYTICS MODULE  |  DARK VESSELS</a:t>
            </a:r>
          </a:p>
        </p:txBody>
      </p:sp>
      <p:sp>
        <p:nvSpPr>
          <p:cNvPr id="5" name="TextBox 4"/>
          <p:cNvSpPr txBox="1"/>
          <p:nvPr/>
        </p:nvSpPr>
        <p:spPr>
          <a:xfrm>
            <a:off x="420624" y="457200"/>
            <a:ext cx="11338560" cy="457200"/>
          </a:xfrm>
          <a:prstGeom prst="rect">
            <a:avLst/>
          </a:prstGeom>
          <a:noFill/>
        </p:spPr>
        <p:txBody>
          <a:bodyPr wrap="square" lIns="0" rIns="0" tIns="0" bIns="0" anchor="t"/>
          <a:lstStyle/>
          <a:p>
            <a:pPr algn="l"/>
            <a:r>
              <a:rPr sz="2600" b="1" i="0">
                <a:solidFill>
                  <a:srgbClr val="0A1628"/>
                </a:solidFill>
                <a:latin typeface="Calibri"/>
              </a:rPr>
              <a:t>Dark vessels</a:t>
            </a:r>
          </a:p>
        </p:txBody>
      </p:sp>
      <p:sp>
        <p:nvSpPr>
          <p:cNvPr id="6" name="TextBox 5"/>
          <p:cNvSpPr txBox="1"/>
          <p:nvPr/>
        </p:nvSpPr>
        <p:spPr>
          <a:xfrm>
            <a:off x="438912" y="932688"/>
            <a:ext cx="11292840" cy="384048"/>
          </a:xfrm>
          <a:prstGeom prst="rect">
            <a:avLst/>
          </a:prstGeom>
          <a:noFill/>
        </p:spPr>
        <p:txBody>
          <a:bodyPr wrap="square" lIns="0" rIns="0" tIns="0" bIns="0" anchor="t"/>
          <a:lstStyle/>
          <a:p>
            <a:pPr algn="l"/>
            <a:r>
              <a:rPr sz="1350" b="0" i="0">
                <a:solidFill>
                  <a:srgbClr val="5C6874"/>
                </a:solidFill>
                <a:latin typeface="Calibri"/>
              </a:rPr>
              <a:t>Flags large vessels that slowed down and then stopped transmitting AIS while still in the area.</a:t>
            </a:r>
          </a:p>
        </p:txBody>
      </p:sp>
      <p:sp>
        <p:nvSpPr>
          <p:cNvPr id="7" name="TextBox 6"/>
          <p:cNvSpPr txBox="1"/>
          <p:nvPr/>
        </p:nvSpPr>
        <p:spPr>
          <a:xfrm>
            <a:off x="438912" y="1444752"/>
            <a:ext cx="4114800" cy="201168"/>
          </a:xfrm>
          <a:prstGeom prst="rect">
            <a:avLst/>
          </a:prstGeom>
          <a:noFill/>
        </p:spPr>
        <p:txBody>
          <a:bodyPr wrap="square" lIns="0" rIns="0" tIns="0" bIns="0" anchor="t"/>
          <a:lstStyle/>
          <a:p>
            <a:pPr algn="l"/>
            <a:r>
              <a:rPr sz="1050" b="1" i="0">
                <a:solidFill>
                  <a:srgbClr val="0E6E7C"/>
                </a:solidFill>
                <a:latin typeface="Calibri"/>
              </a:rPr>
              <a:t>DATA PIPELINE AND PROCESSING LOGIC</a:t>
            </a:r>
          </a:p>
        </p:txBody>
      </p:sp>
      <p:sp>
        <p:nvSpPr>
          <p:cNvPr id="8" name="Rectangle 7"/>
          <p:cNvSpPr/>
          <p:nvPr/>
        </p:nvSpPr>
        <p:spPr>
          <a:xfrm>
            <a:off x="438912" y="1691640"/>
            <a:ext cx="4114800" cy="18288"/>
          </a:xfrm>
          <a:prstGeom prst="rect">
            <a:avLst/>
          </a:prstGeom>
          <a:solidFill>
            <a:srgbClr val="E3D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810512"/>
            <a:ext cx="4114800" cy="4526280"/>
          </a:xfrm>
          <a:prstGeom prst="rect">
            <a:avLst/>
          </a:prstGeom>
          <a:noFill/>
        </p:spPr>
        <p:txBody>
          <a:bodyPr wrap="square" lIns="0" rIns="0" tIns="0" bIns="0"/>
          <a:lstStyle/>
          <a:p>
            <a:pPr>
              <a:spcAft>
                <a:spcPts val="700"/>
              </a:spcAft>
            </a:pPr>
            <a:r>
              <a:rPr sz="1200" b="1" i="0">
                <a:solidFill>
                  <a:srgbClr val="0E6E7C"/>
                </a:solidFill>
                <a:latin typeface="Calibri"/>
              </a:rPr>
              <a:t>1.  </a:t>
            </a:r>
            <a:r>
              <a:rPr sz="1200" b="1" i="0">
                <a:solidFill>
                  <a:srgbClr val="162333"/>
                </a:solidFill>
                <a:latin typeface="Calibri"/>
              </a:rPr>
              <a:t>Slow-movement tracking.</a:t>
            </a:r>
            <a:r>
              <a:rPr sz="1200" b="0" i="0">
                <a:solidFill>
                  <a:srgbClr val="243140"/>
                </a:solidFill>
                <a:latin typeface="Calibri"/>
              </a:rPr>
              <a:t>  Every 20 seconds the pipeline reads the latest AIS report per vessel. A report at or below 3 knots opens or extends a slow-movement record, which counts position updates and keeps the latest position, speed and time.</a:t>
            </a:r>
          </a:p>
          <a:p>
            <a:pPr>
              <a:spcAft>
                <a:spcPts val="700"/>
              </a:spcAft>
            </a:pPr>
            <a:r>
              <a:rPr sz="1200" b="1" i="0">
                <a:solidFill>
                  <a:srgbClr val="0E6E7C"/>
                </a:solidFill>
                <a:latin typeface="Calibri"/>
              </a:rPr>
              <a:t>2.  </a:t>
            </a:r>
            <a:r>
              <a:rPr sz="1200" b="1" i="0">
                <a:solidFill>
                  <a:srgbClr val="162333"/>
                </a:solidFill>
                <a:latin typeface="Calibri"/>
              </a:rPr>
              <a:t>Stop marking.</a:t>
            </a:r>
            <a:r>
              <a:rPr sz="1200" b="0" i="0">
                <a:solidFill>
                  <a:srgbClr val="243140"/>
                </a:solidFill>
                <a:latin typeface="Calibri"/>
              </a:rPr>
              <a:t>  A record is marked stopped when it reaches 30 updates within 30 m (a stop that is still being transmitted), or when no new report has arrived for 30 minutes (a transmission gap).</a:t>
            </a:r>
          </a:p>
          <a:p>
            <a:pPr>
              <a:spcAft>
                <a:spcPts val="700"/>
              </a:spcAft>
            </a:pPr>
            <a:r>
              <a:rPr sz="1200" b="1" i="0">
                <a:solidFill>
                  <a:srgbClr val="0E6E7C"/>
                </a:solidFill>
                <a:latin typeface="Calibri"/>
              </a:rPr>
              <a:t>3.  </a:t>
            </a:r>
            <a:r>
              <a:rPr sz="1200" b="1" i="0">
                <a:solidFill>
                  <a:srgbClr val="162333"/>
                </a:solidFill>
                <a:latin typeface="Calibri"/>
              </a:rPr>
              <a:t>Record closure.</a:t>
            </a:r>
            <a:r>
              <a:rPr sz="1200" b="0" i="0">
                <a:solidFill>
                  <a:srgbClr val="243140"/>
                </a:solidFill>
                <a:latin typeface="Calibri"/>
              </a:rPr>
              <a:t>  A record is closed once the vessel sustains a speed above 3 knots and has moved at least 100 m from where the record started.</a:t>
            </a:r>
          </a:p>
          <a:p>
            <a:pPr>
              <a:spcAft>
                <a:spcPts val="700"/>
              </a:spcAft>
            </a:pPr>
            <a:r>
              <a:rPr sz="1200" b="1" i="0">
                <a:solidFill>
                  <a:srgbClr val="0E6E7C"/>
                </a:solidFill>
                <a:latin typeface="Calibri"/>
              </a:rPr>
              <a:t>4.  </a:t>
            </a:r>
            <a:r>
              <a:rPr sz="1200" b="1" i="0">
                <a:solidFill>
                  <a:srgbClr val="162333"/>
                </a:solidFill>
                <a:latin typeface="Calibri"/>
              </a:rPr>
              <a:t>Candidate rule.</a:t>
            </a:r>
            <a:r>
              <a:rPr sz="1200" b="0" i="0">
                <a:solidFill>
                  <a:srgbClr val="243140"/>
                </a:solidFill>
                <a:latin typeface="Calibri"/>
              </a:rPr>
              <a:t>  The API selects open, stopped records for AIS type 70 to 89 with fewer than 30 updates and a last report at least 30 minutes old. Records with 30 or more updates are excluded because the vessel was still transmitting when it stopped.</a:t>
            </a:r>
          </a:p>
          <a:p>
            <a:pPr>
              <a:spcAft>
                <a:spcPts val="700"/>
              </a:spcAft>
            </a:pPr>
            <a:r>
              <a:rPr sz="1200" b="1" i="0">
                <a:solidFill>
                  <a:srgbClr val="0E6E7C"/>
                </a:solidFill>
                <a:latin typeface="Calibri"/>
              </a:rPr>
              <a:t>5.  </a:t>
            </a:r>
            <a:r>
              <a:rPr sz="1200" b="1" i="0">
                <a:solidFill>
                  <a:srgbClr val="162333"/>
                </a:solidFill>
                <a:latin typeface="Calibri"/>
              </a:rPr>
              <a:t>Location labelling.</a:t>
            </a:r>
            <a:r>
              <a:rPr sz="1200" b="0" i="0">
                <a:solidFill>
                  <a:srgbClr val="243140"/>
                </a:solidFill>
                <a:latin typeface="Calibri"/>
              </a:rPr>
              <a:t>  The last position is labelled with the anchorage or exclusion zone it falls in. Zones label a record; they never remove it.</a:t>
            </a:r>
          </a:p>
        </p:txBody>
      </p:sp>
      <p:sp>
        <p:nvSpPr>
          <p:cNvPr id="10" name="TextBox 9"/>
          <p:cNvSpPr txBox="1"/>
          <p:nvPr/>
        </p:nvSpPr>
        <p:spPr>
          <a:xfrm>
            <a:off x="4800600" y="1444752"/>
            <a:ext cx="3154680" cy="201168"/>
          </a:xfrm>
          <a:prstGeom prst="rect">
            <a:avLst/>
          </a:prstGeom>
          <a:noFill/>
        </p:spPr>
        <p:txBody>
          <a:bodyPr wrap="square" lIns="0" rIns="0" tIns="0" bIns="0" anchor="t"/>
          <a:lstStyle/>
          <a:p>
            <a:pPr algn="l"/>
            <a:r>
              <a:rPr sz="1050" b="1" i="0">
                <a:solidFill>
                  <a:srgbClr val="0E6E7C"/>
                </a:solidFill>
                <a:latin typeface="Calibri"/>
              </a:rPr>
              <a:t>HOW THE DASHBOARD FIGURES ARE DERIVED</a:t>
            </a:r>
          </a:p>
        </p:txBody>
      </p:sp>
      <p:sp>
        <p:nvSpPr>
          <p:cNvPr id="11" name="Rectangle 10"/>
          <p:cNvSpPr/>
          <p:nvPr/>
        </p:nvSpPr>
        <p:spPr>
          <a:xfrm>
            <a:off x="4800600" y="1691640"/>
            <a:ext cx="3154680" cy="18288"/>
          </a:xfrm>
          <a:prstGeom prst="rect">
            <a:avLst/>
          </a:prstGeom>
          <a:solidFill>
            <a:srgbClr val="E3D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00600" y="1810512"/>
            <a:ext cx="3154680" cy="4526280"/>
          </a:xfrm>
          <a:prstGeom prst="rect">
            <a:avLst/>
          </a:prstGeom>
          <a:noFill/>
        </p:spPr>
        <p:txBody>
          <a:bodyPr wrap="square" lIns="0" rIns="0" tIns="0" bIns="0"/>
          <a:lstStyle/>
          <a:p>
            <a:pPr>
              <a:spcAft>
                <a:spcPts val="100"/>
              </a:spcAft>
            </a:pPr>
            <a:r>
              <a:rPr sz="1150" b="1" i="0">
                <a:solidFill>
                  <a:srgbClr val="162333"/>
                </a:solidFill>
                <a:latin typeface="Calibri"/>
              </a:rPr>
              <a:t>Candidates</a:t>
            </a:r>
          </a:p>
          <a:p>
            <a:pPr>
              <a:spcAft>
                <a:spcPts val="700"/>
              </a:spcAft>
            </a:pPr>
            <a:r>
              <a:rPr sz="1100" b="0" i="0">
                <a:solidFill>
                  <a:srgbClr val="243140"/>
                </a:solidFill>
                <a:latin typeface="Calibri"/>
              </a:rPr>
              <a:t>Records passing the candidate rule. The Slowdown Only view removes possible coverage exits.</a:t>
            </a:r>
          </a:p>
          <a:p>
            <a:pPr>
              <a:spcAft>
                <a:spcPts val="100"/>
              </a:spcAft>
            </a:pPr>
            <a:r>
              <a:rPr sz="1150" b="1" i="0">
                <a:solidFill>
                  <a:srgbClr val="162333"/>
                </a:solidFill>
                <a:latin typeface="Calibri"/>
              </a:rPr>
              <a:t>Suspected dark</a:t>
            </a:r>
          </a:p>
          <a:p>
            <a:pPr>
              <a:spcAft>
                <a:spcPts val="700"/>
              </a:spcAft>
            </a:pPr>
            <a:r>
              <a:rPr sz="1100" b="0" i="0">
                <a:solidFill>
                  <a:srgbClr val="243140"/>
                </a:solidFill>
                <a:latin typeface="Calibri"/>
              </a:rPr>
              <a:t>5 to 29 updates during the slowdown and a last report within the past 3 days.</a:t>
            </a:r>
          </a:p>
          <a:p>
            <a:pPr>
              <a:spcAft>
                <a:spcPts val="100"/>
              </a:spcAft>
            </a:pPr>
            <a:r>
              <a:rPr sz="1150" b="1" i="0">
                <a:solidFill>
                  <a:srgbClr val="162333"/>
                </a:solidFill>
                <a:latin typeface="Calibri"/>
              </a:rPr>
              <a:t>Coverage exit</a:t>
            </a:r>
          </a:p>
          <a:p>
            <a:pPr>
              <a:spcAft>
                <a:spcPts val="700"/>
              </a:spcAft>
            </a:pPr>
            <a:r>
              <a:rPr sz="1100" b="0" i="0">
                <a:solidFill>
                  <a:srgbClr val="243140"/>
                </a:solidFill>
                <a:latin typeface="Calibri"/>
              </a:rPr>
              <a:t>Last report older than 3 days, or last speed above 3 knots. The vessel has more likely left receiver coverage.</a:t>
            </a:r>
          </a:p>
          <a:p>
            <a:pPr>
              <a:spcAft>
                <a:spcPts val="100"/>
              </a:spcAft>
            </a:pPr>
            <a:r>
              <a:rPr sz="1150" b="1" i="0">
                <a:solidFill>
                  <a:srgbClr val="162333"/>
                </a:solidFill>
                <a:latin typeface="Calibri"/>
              </a:rPr>
              <a:t>High confidence</a:t>
            </a:r>
          </a:p>
          <a:p>
            <a:pPr>
              <a:spcAft>
                <a:spcPts val="700"/>
              </a:spcAft>
            </a:pPr>
            <a:r>
              <a:rPr sz="1100" b="0" i="0">
                <a:solidFill>
                  <a:srgbClr val="243140"/>
                </a:solidFill>
                <a:latin typeface="Calibri"/>
              </a:rPr>
              <a:t>Same condition as suspected dark. Coverage exits are low confidence; the remainder is medium.</a:t>
            </a:r>
          </a:p>
          <a:p>
            <a:pPr>
              <a:spcAft>
                <a:spcPts val="100"/>
              </a:spcAft>
            </a:pPr>
            <a:r>
              <a:rPr sz="1150" b="1" i="0">
                <a:solidFill>
                  <a:srgbClr val="162333"/>
                </a:solidFill>
                <a:latin typeface="Calibri"/>
              </a:rPr>
              <a:t>Sanctioned</a:t>
            </a:r>
          </a:p>
          <a:p>
            <a:pPr>
              <a:spcAft>
                <a:spcPts val="700"/>
              </a:spcAft>
            </a:pPr>
            <a:r>
              <a:rPr sz="1100" b="0" i="0">
                <a:solidFill>
                  <a:srgbClr val="243140"/>
                </a:solidFill>
                <a:latin typeface="Calibri"/>
              </a:rPr>
              <a:t>Candidates matching the OFAC list.</a:t>
            </a:r>
          </a:p>
        </p:txBody>
      </p:sp>
      <p:sp>
        <p:nvSpPr>
          <p:cNvPr id="13" name="Rectangle 12"/>
          <p:cNvSpPr/>
          <p:nvPr/>
        </p:nvSpPr>
        <p:spPr>
          <a:xfrm>
            <a:off x="8147304" y="1426464"/>
            <a:ext cx="3639312" cy="3385695"/>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02-dark.png"/>
          <p:cNvPicPr>
            <a:picLocks noChangeAspect="1"/>
          </p:cNvPicPr>
          <p:nvPr/>
        </p:nvPicPr>
        <p:blipFill>
          <a:blip r:embed="rId2"/>
          <a:stretch>
            <a:fillRect/>
          </a:stretch>
        </p:blipFill>
        <p:spPr>
          <a:xfrm>
            <a:off x="8183879" y="1463040"/>
            <a:ext cx="3566160" cy="3312543"/>
          </a:xfrm>
          <a:prstGeom prst="rect">
            <a:avLst/>
          </a:prstGeom>
        </p:spPr>
      </p:pic>
      <p:sp>
        <p:nvSpPr>
          <p:cNvPr id="15" name="TextBox 14"/>
          <p:cNvSpPr txBox="1"/>
          <p:nvPr/>
        </p:nvSpPr>
        <p:spPr>
          <a:xfrm>
            <a:off x="8183879" y="4867023"/>
            <a:ext cx="3566160" cy="237744"/>
          </a:xfrm>
          <a:prstGeom prst="rect">
            <a:avLst/>
          </a:prstGeom>
          <a:noFill/>
        </p:spPr>
        <p:txBody>
          <a:bodyPr wrap="square" lIns="0" rIns="0" tIns="0" bIns="0" anchor="t"/>
          <a:lstStyle/>
          <a:p>
            <a:pPr algn="l"/>
            <a:r>
              <a:rPr sz="1050" b="1" i="0">
                <a:solidFill>
                  <a:srgbClr val="0E6E7C"/>
                </a:solidFill>
                <a:latin typeface="Calibri"/>
              </a:rPr>
              <a:t>Dashboard location:  Intelligence  &gt;  Dark Vessels</a:t>
            </a:r>
          </a:p>
        </p:txBody>
      </p:sp>
      <p:sp>
        <p:nvSpPr>
          <p:cNvPr id="16" name="Rounded Rectangle 15"/>
          <p:cNvSpPr/>
          <p:nvPr/>
        </p:nvSpPr>
        <p:spPr>
          <a:xfrm>
            <a:off x="8183879" y="5187063"/>
            <a:ext cx="3566160" cy="1168016"/>
          </a:xfrm>
          <a:prstGeom prst="roundRect">
            <a:avLst>
              <a:gd name="adj" fmla="val 8000"/>
            </a:avLst>
          </a:prstGeom>
          <a:solidFill>
            <a:srgbClr val="12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9327" y="5278503"/>
            <a:ext cx="3291840" cy="201168"/>
          </a:xfrm>
          <a:prstGeom prst="rect">
            <a:avLst/>
          </a:prstGeom>
          <a:noFill/>
        </p:spPr>
        <p:txBody>
          <a:bodyPr wrap="square" lIns="0" rIns="0" tIns="0" bIns="0" anchor="t"/>
          <a:lstStyle/>
          <a:p>
            <a:pPr algn="l"/>
            <a:r>
              <a:rPr sz="950" b="1" i="0">
                <a:solidFill>
                  <a:srgbClr val="1FA7B8"/>
                </a:solidFill>
                <a:latin typeface="Calibri"/>
              </a:rPr>
              <a:t>KEY PARAMETERS</a:t>
            </a:r>
          </a:p>
        </p:txBody>
      </p:sp>
      <p:sp>
        <p:nvSpPr>
          <p:cNvPr id="18" name="TextBox 17"/>
          <p:cNvSpPr txBox="1"/>
          <p:nvPr/>
        </p:nvSpPr>
        <p:spPr>
          <a:xfrm>
            <a:off x="8339327" y="5516247"/>
            <a:ext cx="3291840" cy="802256"/>
          </a:xfrm>
          <a:prstGeom prst="rect">
            <a:avLst/>
          </a:prstGeom>
          <a:noFill/>
        </p:spPr>
        <p:txBody>
          <a:bodyPr wrap="square" lIns="0" rIns="0" tIns="0" bIns="0"/>
          <a:lstStyle/>
          <a:p>
            <a:pPr>
              <a:spcAft>
                <a:spcPts val="200"/>
              </a:spcAft>
            </a:pPr>
            <a:r>
              <a:rPr sz="950" b="1" i="0">
                <a:solidFill>
                  <a:srgbClr val="FFFFFF"/>
                </a:solidFill>
                <a:latin typeface="Calibri"/>
              </a:rPr>
              <a:t>Slow speed</a:t>
            </a:r>
            <a:r>
              <a:rPr sz="950" b="0" i="0">
                <a:solidFill>
                  <a:srgbClr val="D5E0E8"/>
                </a:solidFill>
                <a:latin typeface="Calibri"/>
              </a:rPr>
              <a:t>  3 knots or below</a:t>
            </a:r>
          </a:p>
          <a:p>
            <a:pPr>
              <a:spcAft>
                <a:spcPts val="200"/>
              </a:spcAft>
            </a:pPr>
            <a:r>
              <a:rPr sz="950" b="1" i="0">
                <a:solidFill>
                  <a:srgbClr val="FFFFFF"/>
                </a:solidFill>
                <a:latin typeface="Calibri"/>
              </a:rPr>
              <a:t>Silence</a:t>
            </a:r>
            <a:r>
              <a:rPr sz="950" b="0" i="0">
                <a:solidFill>
                  <a:srgbClr val="D5E0E8"/>
                </a:solidFill>
                <a:latin typeface="Calibri"/>
              </a:rPr>
              <a:t>  30 minutes since the last report</a:t>
            </a:r>
          </a:p>
          <a:p>
            <a:pPr>
              <a:spcAft>
                <a:spcPts val="200"/>
              </a:spcAft>
            </a:pPr>
            <a:r>
              <a:rPr sz="950" b="1" i="0">
                <a:solidFill>
                  <a:srgbClr val="FFFFFF"/>
                </a:solidFill>
                <a:latin typeface="Calibri"/>
              </a:rPr>
              <a:t>Confirmed stop</a:t>
            </a:r>
            <a:r>
              <a:rPr sz="950" b="0" i="0">
                <a:solidFill>
                  <a:srgbClr val="D5E0E8"/>
                </a:solidFill>
                <a:latin typeface="Calibri"/>
              </a:rPr>
              <a:t>  30 updates within 30 m</a:t>
            </a:r>
          </a:p>
          <a:p>
            <a:pPr>
              <a:spcAft>
                <a:spcPts val="200"/>
              </a:spcAft>
            </a:pPr>
            <a:r>
              <a:rPr sz="950" b="1" i="0">
                <a:solidFill>
                  <a:srgbClr val="FFFFFF"/>
                </a:solidFill>
                <a:latin typeface="Calibri"/>
              </a:rPr>
              <a:t>Coverage window</a:t>
            </a:r>
            <a:r>
              <a:rPr sz="950" b="0" i="0">
                <a:solidFill>
                  <a:srgbClr val="D5E0E8"/>
                </a:solidFill>
                <a:latin typeface="Calibri"/>
              </a:rPr>
              <a:t>  3 days</a:t>
            </a:r>
          </a:p>
        </p:txBody>
      </p:sp>
      <p:sp>
        <p:nvSpPr>
          <p:cNvPr id="19" name="TextBox 18"/>
          <p:cNvSpPr txBox="1"/>
          <p:nvPr/>
        </p:nvSpPr>
        <p:spPr>
          <a:xfrm>
            <a:off x="438912" y="6492240"/>
            <a:ext cx="5486400" cy="237744"/>
          </a:xfrm>
          <a:prstGeom prst="rect">
            <a:avLst/>
          </a:prstGeom>
          <a:noFill/>
        </p:spPr>
        <p:txBody>
          <a:bodyPr wrap="square" lIns="0" rIns="0" tIns="0" bIns="0" anchor="t"/>
          <a:lstStyle/>
          <a:p>
            <a:pPr algn="l"/>
            <a:r>
              <a:rPr sz="1000" b="1" i="0">
                <a:solidFill>
                  <a:srgbClr val="5C6874"/>
                </a:solidFill>
                <a:latin typeface="Calibri"/>
              </a:rPr>
              <a:t>MANTIS  |  Maritime Intelligence &amp; Intercept System</a:t>
            </a:r>
          </a:p>
        </p:txBody>
      </p:sp>
      <p:sp>
        <p:nvSpPr>
          <p:cNvPr id="20" name="TextBox 19"/>
          <p:cNvSpPr txBox="1"/>
          <p:nvPr/>
        </p:nvSpPr>
        <p:spPr>
          <a:xfrm>
            <a:off x="4754880" y="6492240"/>
            <a:ext cx="2743200" cy="237744"/>
          </a:xfrm>
          <a:prstGeom prst="rect">
            <a:avLst/>
          </a:prstGeom>
          <a:noFill/>
        </p:spPr>
        <p:txBody>
          <a:bodyPr wrap="square" lIns="0" rIns="0" tIns="0" bIns="0" anchor="t"/>
          <a:lstStyle/>
          <a:p>
            <a:pPr algn="ctr"/>
            <a:r>
              <a:rPr sz="1000" b="0" i="0">
                <a:solidFill>
                  <a:srgbClr val="5C6874"/>
                </a:solidFill>
                <a:latin typeface="Calibri"/>
              </a:rPr>
              <a:t>October 2026</a:t>
            </a:r>
          </a:p>
        </p:txBody>
      </p:sp>
      <p:sp>
        <p:nvSpPr>
          <p:cNvPr id="21" name="TextBox 20"/>
          <p:cNvSpPr txBox="1"/>
          <p:nvPr/>
        </p:nvSpPr>
        <p:spPr>
          <a:xfrm>
            <a:off x="10332720" y="6492240"/>
            <a:ext cx="1417320" cy="237744"/>
          </a:xfrm>
          <a:prstGeom prst="rect">
            <a:avLst/>
          </a:prstGeom>
          <a:noFill/>
        </p:spPr>
        <p:txBody>
          <a:bodyPr wrap="square" lIns="0" rIns="0" tIns="0" bIns="0" anchor="t"/>
          <a:lstStyle/>
          <a:p>
            <a:pPr algn="r"/>
            <a:r>
              <a:rPr sz="1000" b="0" i="0">
                <a:solidFill>
                  <a:srgbClr val="5C6874"/>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1FA7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56032"/>
            <a:ext cx="8229600" cy="219456"/>
          </a:xfrm>
          <a:prstGeom prst="rect">
            <a:avLst/>
          </a:prstGeom>
          <a:noFill/>
        </p:spPr>
        <p:txBody>
          <a:bodyPr wrap="square" lIns="0" rIns="0" tIns="0" bIns="0" anchor="t"/>
          <a:lstStyle/>
          <a:p>
            <a:pPr algn="l"/>
            <a:r>
              <a:rPr sz="1100" b="1" i="0">
                <a:solidFill>
                  <a:srgbClr val="0E6E7C"/>
                </a:solidFill>
                <a:latin typeface="Calibri"/>
              </a:rPr>
              <a:t>ANALYTICS MODULE  |  ILLEGAL ANCHORING</a:t>
            </a:r>
          </a:p>
        </p:txBody>
      </p:sp>
      <p:sp>
        <p:nvSpPr>
          <p:cNvPr id="5" name="TextBox 4"/>
          <p:cNvSpPr txBox="1"/>
          <p:nvPr/>
        </p:nvSpPr>
        <p:spPr>
          <a:xfrm>
            <a:off x="420624" y="457200"/>
            <a:ext cx="11338560" cy="457200"/>
          </a:xfrm>
          <a:prstGeom prst="rect">
            <a:avLst/>
          </a:prstGeom>
          <a:noFill/>
        </p:spPr>
        <p:txBody>
          <a:bodyPr wrap="square" lIns="0" rIns="0" tIns="0" bIns="0" anchor="t"/>
          <a:lstStyle/>
          <a:p>
            <a:pPr algn="l"/>
            <a:r>
              <a:rPr sz="2600" b="1" i="0">
                <a:solidFill>
                  <a:srgbClr val="0A1628"/>
                </a:solidFill>
                <a:latin typeface="Calibri"/>
              </a:rPr>
              <a:t>Illegal anchoring</a:t>
            </a:r>
          </a:p>
        </p:txBody>
      </p:sp>
      <p:sp>
        <p:nvSpPr>
          <p:cNvPr id="6" name="TextBox 5"/>
          <p:cNvSpPr txBox="1"/>
          <p:nvPr/>
        </p:nvSpPr>
        <p:spPr>
          <a:xfrm>
            <a:off x="438912" y="932688"/>
            <a:ext cx="11292840" cy="384048"/>
          </a:xfrm>
          <a:prstGeom prst="rect">
            <a:avLst/>
          </a:prstGeom>
          <a:noFill/>
        </p:spPr>
        <p:txBody>
          <a:bodyPr wrap="square" lIns="0" rIns="0" tIns="0" bIns="0" anchor="t"/>
          <a:lstStyle/>
          <a:p>
            <a:pPr algn="l"/>
            <a:r>
              <a:rPr sz="1350" b="0" i="0">
                <a:solidFill>
                  <a:srgbClr val="5C6874"/>
                </a:solidFill>
                <a:latin typeface="Calibri"/>
              </a:rPr>
              <a:t>Flags large vessels that have stopped inside restricted or monitored waters.</a:t>
            </a:r>
          </a:p>
        </p:txBody>
      </p:sp>
      <p:sp>
        <p:nvSpPr>
          <p:cNvPr id="7" name="TextBox 6"/>
          <p:cNvSpPr txBox="1"/>
          <p:nvPr/>
        </p:nvSpPr>
        <p:spPr>
          <a:xfrm>
            <a:off x="438912" y="1444752"/>
            <a:ext cx="4114800" cy="201168"/>
          </a:xfrm>
          <a:prstGeom prst="rect">
            <a:avLst/>
          </a:prstGeom>
          <a:noFill/>
        </p:spPr>
        <p:txBody>
          <a:bodyPr wrap="square" lIns="0" rIns="0" tIns="0" bIns="0" anchor="t"/>
          <a:lstStyle/>
          <a:p>
            <a:pPr algn="l"/>
            <a:r>
              <a:rPr sz="1050" b="1" i="0">
                <a:solidFill>
                  <a:srgbClr val="0E6E7C"/>
                </a:solidFill>
                <a:latin typeface="Calibri"/>
              </a:rPr>
              <a:t>DATA PIPELINE AND PROCESSING LOGIC</a:t>
            </a:r>
          </a:p>
        </p:txBody>
      </p:sp>
      <p:sp>
        <p:nvSpPr>
          <p:cNvPr id="8" name="Rectangle 7"/>
          <p:cNvSpPr/>
          <p:nvPr/>
        </p:nvSpPr>
        <p:spPr>
          <a:xfrm>
            <a:off x="438912" y="1691640"/>
            <a:ext cx="4114800" cy="18288"/>
          </a:xfrm>
          <a:prstGeom prst="rect">
            <a:avLst/>
          </a:prstGeom>
          <a:solidFill>
            <a:srgbClr val="E3D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810512"/>
            <a:ext cx="4114800" cy="4526280"/>
          </a:xfrm>
          <a:prstGeom prst="rect">
            <a:avLst/>
          </a:prstGeom>
          <a:noFill/>
        </p:spPr>
        <p:txBody>
          <a:bodyPr wrap="square" lIns="0" rIns="0" tIns="0" bIns="0"/>
          <a:lstStyle/>
          <a:p>
            <a:pPr>
              <a:spcAft>
                <a:spcPts val="700"/>
              </a:spcAft>
            </a:pPr>
            <a:r>
              <a:rPr sz="1200" b="1" i="0">
                <a:solidFill>
                  <a:srgbClr val="0E6E7C"/>
                </a:solidFill>
                <a:latin typeface="Calibri"/>
              </a:rPr>
              <a:t>1.  </a:t>
            </a:r>
            <a:r>
              <a:rPr sz="1200" b="1" i="0">
                <a:solidFill>
                  <a:srgbClr val="162333"/>
                </a:solidFill>
                <a:latin typeface="Calibri"/>
              </a:rPr>
              <a:t>Movement tracking.</a:t>
            </a:r>
            <a:r>
              <a:rPr sz="1200" b="0" i="0">
                <a:solidFill>
                  <a:srgbClr val="243140"/>
                </a:solidFill>
                <a:latin typeface="Calibri"/>
              </a:rPr>
              <a:t>  Every 20 seconds the pipeline reads the latest AIS report per vessel. A report at or below 0.5 knots opens or extends a movement record, which is marked stopped after 20 updates within 30 m.</a:t>
            </a:r>
          </a:p>
          <a:p>
            <a:pPr>
              <a:spcAft>
                <a:spcPts val="700"/>
              </a:spcAft>
            </a:pPr>
            <a:r>
              <a:rPr sz="1200" b="1" i="0">
                <a:solidFill>
                  <a:srgbClr val="0E6E7C"/>
                </a:solidFill>
                <a:latin typeface="Calibri"/>
              </a:rPr>
              <a:t>2.  </a:t>
            </a:r>
            <a:r>
              <a:rPr sz="1200" b="1" i="0">
                <a:solidFill>
                  <a:srgbClr val="162333"/>
                </a:solidFill>
                <a:latin typeface="Calibri"/>
              </a:rPr>
              <a:t>Stopped population.</a:t>
            </a:r>
            <a:r>
              <a:rPr sz="1200" b="0" i="0">
                <a:solidFill>
                  <a:srgbClr val="243140"/>
                </a:solidFill>
                <a:latin typeface="Calibri"/>
              </a:rPr>
              <a:t>  The API takes the latest open movement record per vessel for AIS type 70 to 89 that has been stopped for at least one hour, or has not reported for 30 minutes.</a:t>
            </a:r>
          </a:p>
          <a:p>
            <a:pPr>
              <a:spcAft>
                <a:spcPts val="700"/>
              </a:spcAft>
            </a:pPr>
            <a:r>
              <a:rPr sz="1200" b="1" i="0">
                <a:solidFill>
                  <a:srgbClr val="0E6E7C"/>
                </a:solidFill>
                <a:latin typeface="Calibri"/>
              </a:rPr>
              <a:t>3.  </a:t>
            </a:r>
            <a:r>
              <a:rPr sz="1200" b="1" i="0">
                <a:solidFill>
                  <a:srgbClr val="162333"/>
                </a:solidFill>
                <a:latin typeface="Calibri"/>
              </a:rPr>
              <a:t>Zone test.</a:t>
            </a:r>
            <a:r>
              <a:rPr sz="1200" b="0" i="0">
                <a:solidFill>
                  <a:srgbClr val="243140"/>
                </a:solidFill>
                <a:latin typeface="Calibri"/>
              </a:rPr>
              <a:t>  Each last position is tested against the restricted-limit polygon and the anchorage and watch polygons using a spatial point-in-polygon query.</a:t>
            </a:r>
          </a:p>
          <a:p>
            <a:pPr>
              <a:spcAft>
                <a:spcPts val="700"/>
              </a:spcAft>
            </a:pPr>
            <a:r>
              <a:rPr sz="1200" b="1" i="0">
                <a:solidFill>
                  <a:srgbClr val="0E6E7C"/>
                </a:solidFill>
                <a:latin typeface="Calibri"/>
              </a:rPr>
              <a:t>4.  </a:t>
            </a:r>
            <a:r>
              <a:rPr sz="1200" b="1" i="0">
                <a:solidFill>
                  <a:srgbClr val="162333"/>
                </a:solidFill>
                <a:latin typeface="Calibri"/>
              </a:rPr>
              <a:t>Exclusions.</a:t>
            </a:r>
            <a:r>
              <a:rPr sz="1200" b="0" i="0">
                <a:solidFill>
                  <a:srgbClr val="243140"/>
                </a:solidFill>
                <a:latin typeface="Calibri"/>
              </a:rPr>
              <a:t>  Positions inside designated exclusion zones, which are carve-outs within a parent polygon, are removed.</a:t>
            </a:r>
          </a:p>
          <a:p>
            <a:pPr>
              <a:spcAft>
                <a:spcPts val="700"/>
              </a:spcAft>
            </a:pPr>
            <a:r>
              <a:rPr sz="1200" b="1" i="0">
                <a:solidFill>
                  <a:srgbClr val="0E6E7C"/>
                </a:solidFill>
                <a:latin typeface="Calibri"/>
              </a:rPr>
              <a:t>5.  </a:t>
            </a:r>
            <a:r>
              <a:rPr sz="1200" b="1" i="0">
                <a:solidFill>
                  <a:srgbClr val="162333"/>
                </a:solidFill>
                <a:latin typeface="Calibri"/>
              </a:rPr>
              <a:t>Labelling.</a:t>
            </a:r>
            <a:r>
              <a:rPr sz="1200" b="0" i="0">
                <a:solidFill>
                  <a:srgbClr val="243140"/>
                </a:solidFill>
                <a:latin typeface="Calibri"/>
              </a:rPr>
              <a:t>  Each vessel is labelled restricted zone, watch polygon, or both. OFAC matching is applied afterwards and sanctioned vessels are listed first.</a:t>
            </a:r>
          </a:p>
        </p:txBody>
      </p:sp>
      <p:sp>
        <p:nvSpPr>
          <p:cNvPr id="10" name="TextBox 9"/>
          <p:cNvSpPr txBox="1"/>
          <p:nvPr/>
        </p:nvSpPr>
        <p:spPr>
          <a:xfrm>
            <a:off x="4800600" y="1444752"/>
            <a:ext cx="3154680" cy="201168"/>
          </a:xfrm>
          <a:prstGeom prst="rect">
            <a:avLst/>
          </a:prstGeom>
          <a:noFill/>
        </p:spPr>
        <p:txBody>
          <a:bodyPr wrap="square" lIns="0" rIns="0" tIns="0" bIns="0" anchor="t"/>
          <a:lstStyle/>
          <a:p>
            <a:pPr algn="l"/>
            <a:r>
              <a:rPr sz="1050" b="1" i="0">
                <a:solidFill>
                  <a:srgbClr val="0E6E7C"/>
                </a:solidFill>
                <a:latin typeface="Calibri"/>
              </a:rPr>
              <a:t>HOW THE DASHBOARD FIGURES ARE DERIVED</a:t>
            </a:r>
          </a:p>
        </p:txBody>
      </p:sp>
      <p:sp>
        <p:nvSpPr>
          <p:cNvPr id="11" name="Rectangle 10"/>
          <p:cNvSpPr/>
          <p:nvPr/>
        </p:nvSpPr>
        <p:spPr>
          <a:xfrm>
            <a:off x="4800600" y="1691640"/>
            <a:ext cx="3154680" cy="18288"/>
          </a:xfrm>
          <a:prstGeom prst="rect">
            <a:avLst/>
          </a:prstGeom>
          <a:solidFill>
            <a:srgbClr val="E3D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00600" y="1810512"/>
            <a:ext cx="3154680" cy="4526280"/>
          </a:xfrm>
          <a:prstGeom prst="rect">
            <a:avLst/>
          </a:prstGeom>
          <a:noFill/>
        </p:spPr>
        <p:txBody>
          <a:bodyPr wrap="square" lIns="0" rIns="0" tIns="0" bIns="0"/>
          <a:lstStyle/>
          <a:p>
            <a:pPr>
              <a:spcAft>
                <a:spcPts val="100"/>
              </a:spcAft>
            </a:pPr>
            <a:r>
              <a:rPr sz="1150" b="1" i="0">
                <a:solidFill>
                  <a:srgbClr val="162333"/>
                </a:solidFill>
                <a:latin typeface="Calibri"/>
              </a:rPr>
              <a:t>Illegal anchorages</a:t>
            </a:r>
          </a:p>
          <a:p>
            <a:pPr>
              <a:spcAft>
                <a:spcPts val="700"/>
              </a:spcAft>
            </a:pPr>
            <a:r>
              <a:rPr sz="1100" b="0" i="0">
                <a:solidFill>
                  <a:srgbClr val="243140"/>
                </a:solidFill>
                <a:latin typeface="Calibri"/>
              </a:rPr>
              <a:t>Stopped vessels that pass the zone test after exclusions.</a:t>
            </a:r>
          </a:p>
          <a:p>
            <a:pPr>
              <a:spcAft>
                <a:spcPts val="100"/>
              </a:spcAft>
            </a:pPr>
            <a:r>
              <a:rPr sz="1150" b="1" i="0">
                <a:solidFill>
                  <a:srgbClr val="162333"/>
                </a:solidFill>
                <a:latin typeface="Calibri"/>
              </a:rPr>
              <a:t>Restricted + watch</a:t>
            </a:r>
          </a:p>
          <a:p>
            <a:pPr>
              <a:spcAft>
                <a:spcPts val="700"/>
              </a:spcAft>
            </a:pPr>
            <a:r>
              <a:rPr sz="1100" b="0" i="0">
                <a:solidFill>
                  <a:srgbClr val="243140"/>
                </a:solidFill>
                <a:latin typeface="Calibri"/>
              </a:rPr>
              <a:t>Vessels inside both the restricted limit and a watch polygon.</a:t>
            </a:r>
          </a:p>
          <a:p>
            <a:pPr>
              <a:spcAft>
                <a:spcPts val="100"/>
              </a:spcAft>
            </a:pPr>
            <a:r>
              <a:rPr sz="1150" b="1" i="0">
                <a:solidFill>
                  <a:srgbClr val="162333"/>
                </a:solidFill>
                <a:latin typeface="Calibri"/>
              </a:rPr>
              <a:t>Restricted zone</a:t>
            </a:r>
          </a:p>
          <a:p>
            <a:pPr>
              <a:spcAft>
                <a:spcPts val="700"/>
              </a:spcAft>
            </a:pPr>
            <a:r>
              <a:rPr sz="1100" b="0" i="0">
                <a:solidFill>
                  <a:srgbClr val="243140"/>
                </a:solidFill>
                <a:latin typeface="Calibri"/>
              </a:rPr>
              <a:t>Vessels inside the restricted limit only.</a:t>
            </a:r>
          </a:p>
          <a:p>
            <a:pPr>
              <a:spcAft>
                <a:spcPts val="100"/>
              </a:spcAft>
            </a:pPr>
            <a:r>
              <a:rPr sz="1150" b="1" i="0">
                <a:solidFill>
                  <a:srgbClr val="162333"/>
                </a:solidFill>
                <a:latin typeface="Calibri"/>
              </a:rPr>
              <a:t>Watch polygon</a:t>
            </a:r>
          </a:p>
          <a:p>
            <a:pPr>
              <a:spcAft>
                <a:spcPts val="700"/>
              </a:spcAft>
            </a:pPr>
            <a:r>
              <a:rPr sz="1100" b="0" i="0">
                <a:solidFill>
                  <a:srgbClr val="243140"/>
                </a:solidFill>
                <a:latin typeface="Calibri"/>
              </a:rPr>
              <a:t>Vessels inside a watch polygon only. The three zone counts do not overlap and add up to the total.</a:t>
            </a:r>
          </a:p>
          <a:p>
            <a:pPr>
              <a:spcAft>
                <a:spcPts val="100"/>
              </a:spcAft>
            </a:pPr>
            <a:r>
              <a:rPr sz="1150" b="1" i="0">
                <a:solidFill>
                  <a:srgbClr val="162333"/>
                </a:solidFill>
                <a:latin typeface="Calibri"/>
              </a:rPr>
              <a:t>Sanctioned</a:t>
            </a:r>
          </a:p>
          <a:p>
            <a:pPr>
              <a:spcAft>
                <a:spcPts val="700"/>
              </a:spcAft>
            </a:pPr>
            <a:r>
              <a:rPr sz="1100" b="0" i="0">
                <a:solidFill>
                  <a:srgbClr val="243140"/>
                </a:solidFill>
                <a:latin typeface="Calibri"/>
              </a:rPr>
              <a:t>Flagged vessels matching the OFAC list.</a:t>
            </a:r>
          </a:p>
        </p:txBody>
      </p:sp>
      <p:sp>
        <p:nvSpPr>
          <p:cNvPr id="13" name="Rectangle 12"/>
          <p:cNvSpPr/>
          <p:nvPr/>
        </p:nvSpPr>
        <p:spPr>
          <a:xfrm>
            <a:off x="8147304" y="1426464"/>
            <a:ext cx="3639312" cy="3385695"/>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04-anchoring.png"/>
          <p:cNvPicPr>
            <a:picLocks noChangeAspect="1"/>
          </p:cNvPicPr>
          <p:nvPr/>
        </p:nvPicPr>
        <p:blipFill>
          <a:blip r:embed="rId2"/>
          <a:stretch>
            <a:fillRect/>
          </a:stretch>
        </p:blipFill>
        <p:spPr>
          <a:xfrm>
            <a:off x="8183879" y="1463040"/>
            <a:ext cx="3566160" cy="3312543"/>
          </a:xfrm>
          <a:prstGeom prst="rect">
            <a:avLst/>
          </a:prstGeom>
        </p:spPr>
      </p:pic>
      <p:sp>
        <p:nvSpPr>
          <p:cNvPr id="15" name="TextBox 14"/>
          <p:cNvSpPr txBox="1"/>
          <p:nvPr/>
        </p:nvSpPr>
        <p:spPr>
          <a:xfrm>
            <a:off x="8183879" y="4867023"/>
            <a:ext cx="3566160" cy="237744"/>
          </a:xfrm>
          <a:prstGeom prst="rect">
            <a:avLst/>
          </a:prstGeom>
          <a:noFill/>
        </p:spPr>
        <p:txBody>
          <a:bodyPr wrap="square" lIns="0" rIns="0" tIns="0" bIns="0" anchor="t"/>
          <a:lstStyle/>
          <a:p>
            <a:pPr algn="l"/>
            <a:r>
              <a:rPr sz="1050" b="1" i="0">
                <a:solidFill>
                  <a:srgbClr val="0E6E7C"/>
                </a:solidFill>
                <a:latin typeface="Calibri"/>
              </a:rPr>
              <a:t>Dashboard location:  Intelligence  &gt;  Illegal Anchoring</a:t>
            </a:r>
          </a:p>
        </p:txBody>
      </p:sp>
      <p:sp>
        <p:nvSpPr>
          <p:cNvPr id="16" name="Rounded Rectangle 15"/>
          <p:cNvSpPr/>
          <p:nvPr/>
        </p:nvSpPr>
        <p:spPr>
          <a:xfrm>
            <a:off x="8183879" y="5187063"/>
            <a:ext cx="3566160" cy="1168016"/>
          </a:xfrm>
          <a:prstGeom prst="roundRect">
            <a:avLst>
              <a:gd name="adj" fmla="val 8000"/>
            </a:avLst>
          </a:prstGeom>
          <a:solidFill>
            <a:srgbClr val="12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9327" y="5278503"/>
            <a:ext cx="3291840" cy="201168"/>
          </a:xfrm>
          <a:prstGeom prst="rect">
            <a:avLst/>
          </a:prstGeom>
          <a:noFill/>
        </p:spPr>
        <p:txBody>
          <a:bodyPr wrap="square" lIns="0" rIns="0" tIns="0" bIns="0" anchor="t"/>
          <a:lstStyle/>
          <a:p>
            <a:pPr algn="l"/>
            <a:r>
              <a:rPr sz="950" b="1" i="0">
                <a:solidFill>
                  <a:srgbClr val="1FA7B8"/>
                </a:solidFill>
                <a:latin typeface="Calibri"/>
              </a:rPr>
              <a:t>KEY PARAMETERS</a:t>
            </a:r>
          </a:p>
        </p:txBody>
      </p:sp>
      <p:sp>
        <p:nvSpPr>
          <p:cNvPr id="18" name="TextBox 17"/>
          <p:cNvSpPr txBox="1"/>
          <p:nvPr/>
        </p:nvSpPr>
        <p:spPr>
          <a:xfrm>
            <a:off x="8339327" y="5516247"/>
            <a:ext cx="3291840" cy="802256"/>
          </a:xfrm>
          <a:prstGeom prst="rect">
            <a:avLst/>
          </a:prstGeom>
          <a:noFill/>
        </p:spPr>
        <p:txBody>
          <a:bodyPr wrap="square" lIns="0" rIns="0" tIns="0" bIns="0"/>
          <a:lstStyle/>
          <a:p>
            <a:pPr>
              <a:spcAft>
                <a:spcPts val="200"/>
              </a:spcAft>
            </a:pPr>
            <a:r>
              <a:rPr sz="950" b="1" i="0">
                <a:solidFill>
                  <a:srgbClr val="FFFFFF"/>
                </a:solidFill>
                <a:latin typeface="Calibri"/>
              </a:rPr>
              <a:t>Stop speed</a:t>
            </a:r>
            <a:r>
              <a:rPr sz="950" b="0" i="0">
                <a:solidFill>
                  <a:srgbClr val="D5E0E8"/>
                </a:solidFill>
                <a:latin typeface="Calibri"/>
              </a:rPr>
              <a:t>  0.5 knots or below</a:t>
            </a:r>
          </a:p>
          <a:p>
            <a:pPr>
              <a:spcAft>
                <a:spcPts val="200"/>
              </a:spcAft>
            </a:pPr>
            <a:r>
              <a:rPr sz="950" b="1" i="0">
                <a:solidFill>
                  <a:srgbClr val="FFFFFF"/>
                </a:solidFill>
                <a:latin typeface="Calibri"/>
              </a:rPr>
              <a:t>Stopped</a:t>
            </a:r>
            <a:r>
              <a:rPr sz="950" b="0" i="0">
                <a:solidFill>
                  <a:srgbClr val="D5E0E8"/>
                </a:solidFill>
                <a:latin typeface="Calibri"/>
              </a:rPr>
              <a:t>  20 updates within 30 m, held 1 hour</a:t>
            </a:r>
          </a:p>
          <a:p>
            <a:pPr>
              <a:spcAft>
                <a:spcPts val="200"/>
              </a:spcAft>
            </a:pPr>
            <a:r>
              <a:rPr sz="950" b="1" i="0">
                <a:solidFill>
                  <a:srgbClr val="FFFFFF"/>
                </a:solidFill>
                <a:latin typeface="Calibri"/>
              </a:rPr>
              <a:t>Stale report</a:t>
            </a:r>
            <a:r>
              <a:rPr sz="950" b="0" i="0">
                <a:solidFill>
                  <a:srgbClr val="D5E0E8"/>
                </a:solidFill>
                <a:latin typeface="Calibri"/>
              </a:rPr>
              <a:t>  30 minutes</a:t>
            </a:r>
          </a:p>
          <a:p>
            <a:pPr>
              <a:spcAft>
                <a:spcPts val="200"/>
              </a:spcAft>
            </a:pPr>
            <a:r>
              <a:rPr sz="950" b="1" i="0">
                <a:solidFill>
                  <a:srgbClr val="FFFFFF"/>
                </a:solidFill>
                <a:latin typeface="Calibri"/>
              </a:rPr>
              <a:t>Vessel types</a:t>
            </a:r>
            <a:r>
              <a:rPr sz="950" b="0" i="0">
                <a:solidFill>
                  <a:srgbClr val="D5E0E8"/>
                </a:solidFill>
                <a:latin typeface="Calibri"/>
              </a:rPr>
              <a:t>  AIS 70 to 89, cargo and tanker</a:t>
            </a:r>
          </a:p>
        </p:txBody>
      </p:sp>
      <p:sp>
        <p:nvSpPr>
          <p:cNvPr id="19" name="TextBox 18"/>
          <p:cNvSpPr txBox="1"/>
          <p:nvPr/>
        </p:nvSpPr>
        <p:spPr>
          <a:xfrm>
            <a:off x="438912" y="6492240"/>
            <a:ext cx="5486400" cy="237744"/>
          </a:xfrm>
          <a:prstGeom prst="rect">
            <a:avLst/>
          </a:prstGeom>
          <a:noFill/>
        </p:spPr>
        <p:txBody>
          <a:bodyPr wrap="square" lIns="0" rIns="0" tIns="0" bIns="0" anchor="t"/>
          <a:lstStyle/>
          <a:p>
            <a:pPr algn="l"/>
            <a:r>
              <a:rPr sz="1000" b="1" i="0">
                <a:solidFill>
                  <a:srgbClr val="5C6874"/>
                </a:solidFill>
                <a:latin typeface="Calibri"/>
              </a:rPr>
              <a:t>MANTIS  |  Maritime Intelligence &amp; Intercept System</a:t>
            </a:r>
          </a:p>
        </p:txBody>
      </p:sp>
      <p:sp>
        <p:nvSpPr>
          <p:cNvPr id="20" name="TextBox 19"/>
          <p:cNvSpPr txBox="1"/>
          <p:nvPr/>
        </p:nvSpPr>
        <p:spPr>
          <a:xfrm>
            <a:off x="4754880" y="6492240"/>
            <a:ext cx="2743200" cy="237744"/>
          </a:xfrm>
          <a:prstGeom prst="rect">
            <a:avLst/>
          </a:prstGeom>
          <a:noFill/>
        </p:spPr>
        <p:txBody>
          <a:bodyPr wrap="square" lIns="0" rIns="0" tIns="0" bIns="0" anchor="t"/>
          <a:lstStyle/>
          <a:p>
            <a:pPr algn="ctr"/>
            <a:r>
              <a:rPr sz="1000" b="0" i="0">
                <a:solidFill>
                  <a:srgbClr val="5C6874"/>
                </a:solidFill>
                <a:latin typeface="Calibri"/>
              </a:rPr>
              <a:t>October 2026</a:t>
            </a:r>
          </a:p>
        </p:txBody>
      </p:sp>
      <p:sp>
        <p:nvSpPr>
          <p:cNvPr id="21" name="TextBox 20"/>
          <p:cNvSpPr txBox="1"/>
          <p:nvPr/>
        </p:nvSpPr>
        <p:spPr>
          <a:xfrm>
            <a:off x="10332720" y="6492240"/>
            <a:ext cx="1417320" cy="237744"/>
          </a:xfrm>
          <a:prstGeom prst="rect">
            <a:avLst/>
          </a:prstGeom>
          <a:noFill/>
        </p:spPr>
        <p:txBody>
          <a:bodyPr wrap="square" lIns="0" rIns="0" tIns="0" bIns="0" anchor="t"/>
          <a:lstStyle/>
          <a:p>
            <a:pPr algn="r"/>
            <a:r>
              <a:rPr sz="1000" b="0" i="0">
                <a:solidFill>
                  <a:srgbClr val="5C6874"/>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1FA7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56032"/>
            <a:ext cx="8229600" cy="219456"/>
          </a:xfrm>
          <a:prstGeom prst="rect">
            <a:avLst/>
          </a:prstGeom>
          <a:noFill/>
        </p:spPr>
        <p:txBody>
          <a:bodyPr wrap="square" lIns="0" rIns="0" tIns="0" bIns="0" anchor="t"/>
          <a:lstStyle/>
          <a:p>
            <a:pPr algn="l"/>
            <a:r>
              <a:rPr sz="1100" b="1" i="0">
                <a:solidFill>
                  <a:srgbClr val="0E6E7C"/>
                </a:solidFill>
                <a:latin typeface="Calibri"/>
              </a:rPr>
              <a:t>ANALYTICS MODULE  |  AIS SPOOFING</a:t>
            </a:r>
          </a:p>
        </p:txBody>
      </p:sp>
      <p:sp>
        <p:nvSpPr>
          <p:cNvPr id="5" name="TextBox 4"/>
          <p:cNvSpPr txBox="1"/>
          <p:nvPr/>
        </p:nvSpPr>
        <p:spPr>
          <a:xfrm>
            <a:off x="420624" y="457200"/>
            <a:ext cx="11338560" cy="457200"/>
          </a:xfrm>
          <a:prstGeom prst="rect">
            <a:avLst/>
          </a:prstGeom>
          <a:noFill/>
        </p:spPr>
        <p:txBody>
          <a:bodyPr wrap="square" lIns="0" rIns="0" tIns="0" bIns="0" anchor="t"/>
          <a:lstStyle/>
          <a:p>
            <a:pPr algn="l"/>
            <a:r>
              <a:rPr sz="2600" b="1" i="0">
                <a:solidFill>
                  <a:srgbClr val="0A1628"/>
                </a:solidFill>
                <a:latin typeface="Calibri"/>
              </a:rPr>
              <a:t>AIS spoofing (position anomaly)</a:t>
            </a:r>
          </a:p>
        </p:txBody>
      </p:sp>
      <p:sp>
        <p:nvSpPr>
          <p:cNvPr id="6" name="TextBox 5"/>
          <p:cNvSpPr txBox="1"/>
          <p:nvPr/>
        </p:nvSpPr>
        <p:spPr>
          <a:xfrm>
            <a:off x="438912" y="932688"/>
            <a:ext cx="11292840" cy="384048"/>
          </a:xfrm>
          <a:prstGeom prst="rect">
            <a:avLst/>
          </a:prstGeom>
          <a:noFill/>
        </p:spPr>
        <p:txBody>
          <a:bodyPr wrap="square" lIns="0" rIns="0" tIns="0" bIns="0" anchor="t"/>
          <a:lstStyle/>
          <a:p>
            <a:pPr algn="l"/>
            <a:r>
              <a:rPr sz="1350" b="0" i="0">
                <a:solidFill>
                  <a:srgbClr val="5C6874"/>
                </a:solidFill>
                <a:latin typeface="Calibri"/>
              </a:rPr>
              <a:t>Identifies AIS position reports that imply a movement no merchant vessel can make.</a:t>
            </a:r>
          </a:p>
        </p:txBody>
      </p:sp>
      <p:sp>
        <p:nvSpPr>
          <p:cNvPr id="7" name="TextBox 6"/>
          <p:cNvSpPr txBox="1"/>
          <p:nvPr/>
        </p:nvSpPr>
        <p:spPr>
          <a:xfrm>
            <a:off x="438912" y="1444752"/>
            <a:ext cx="4114800" cy="201168"/>
          </a:xfrm>
          <a:prstGeom prst="rect">
            <a:avLst/>
          </a:prstGeom>
          <a:noFill/>
        </p:spPr>
        <p:txBody>
          <a:bodyPr wrap="square" lIns="0" rIns="0" tIns="0" bIns="0" anchor="t"/>
          <a:lstStyle/>
          <a:p>
            <a:pPr algn="l"/>
            <a:r>
              <a:rPr sz="1050" b="1" i="0">
                <a:solidFill>
                  <a:srgbClr val="0E6E7C"/>
                </a:solidFill>
                <a:latin typeface="Calibri"/>
              </a:rPr>
              <a:t>DATA PIPELINE AND PROCESSING LOGIC</a:t>
            </a:r>
          </a:p>
        </p:txBody>
      </p:sp>
      <p:sp>
        <p:nvSpPr>
          <p:cNvPr id="8" name="Rectangle 7"/>
          <p:cNvSpPr/>
          <p:nvPr/>
        </p:nvSpPr>
        <p:spPr>
          <a:xfrm>
            <a:off x="438912" y="1691640"/>
            <a:ext cx="4114800" cy="18288"/>
          </a:xfrm>
          <a:prstGeom prst="rect">
            <a:avLst/>
          </a:prstGeom>
          <a:solidFill>
            <a:srgbClr val="E3D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810512"/>
            <a:ext cx="4114800" cy="4526280"/>
          </a:xfrm>
          <a:prstGeom prst="rect">
            <a:avLst/>
          </a:prstGeom>
          <a:noFill/>
        </p:spPr>
        <p:txBody>
          <a:bodyPr wrap="square" lIns="0" rIns="0" tIns="0" bIns="0"/>
          <a:lstStyle/>
          <a:p>
            <a:pPr>
              <a:spcAft>
                <a:spcPts val="700"/>
              </a:spcAft>
            </a:pPr>
            <a:r>
              <a:rPr sz="1200" b="1" i="0">
                <a:solidFill>
                  <a:srgbClr val="0E6E7C"/>
                </a:solidFill>
                <a:latin typeface="Calibri"/>
              </a:rPr>
              <a:t>1.  </a:t>
            </a:r>
            <a:r>
              <a:rPr sz="1200" b="1" i="0">
                <a:solidFill>
                  <a:srgbClr val="162333"/>
                </a:solidFill>
                <a:latin typeface="Calibri"/>
              </a:rPr>
              <a:t>Input.</a:t>
            </a:r>
            <a:r>
              <a:rPr sz="1200" b="0" i="0">
                <a:solidFill>
                  <a:srgbClr val="243140"/>
                </a:solidFill>
                <a:latin typeface="Calibri"/>
              </a:rPr>
              <a:t>  Every 15 minutes the pipeline reads the AIS position history for cargo and tanker vessels. The list of those vessels is refreshed every 12 hours.</a:t>
            </a:r>
          </a:p>
          <a:p>
            <a:pPr>
              <a:spcAft>
                <a:spcPts val="700"/>
              </a:spcAft>
            </a:pPr>
            <a:r>
              <a:rPr sz="1200" b="1" i="0">
                <a:solidFill>
                  <a:srgbClr val="0E6E7C"/>
                </a:solidFill>
                <a:latin typeface="Calibri"/>
              </a:rPr>
              <a:t>2.  </a:t>
            </a:r>
            <a:r>
              <a:rPr sz="1200" b="1" i="0">
                <a:solidFill>
                  <a:srgbClr val="162333"/>
                </a:solidFill>
                <a:latin typeface="Calibri"/>
              </a:rPr>
              <a:t>Consecutive comparison.</a:t>
            </a:r>
            <a:r>
              <a:rPr sz="1200" b="0" i="0">
                <a:solidFill>
                  <a:srgbClr val="243140"/>
                </a:solidFill>
                <a:latin typeface="Calibri"/>
              </a:rPr>
              <a:t>  A window function pairs each report with the previous one for the same vessel and calculates great-circle distance, time gap and implied speed in knots.</a:t>
            </a:r>
          </a:p>
          <a:p>
            <a:pPr>
              <a:spcAft>
                <a:spcPts val="700"/>
              </a:spcAft>
            </a:pPr>
            <a:r>
              <a:rPr sz="1200" b="1" i="0">
                <a:solidFill>
                  <a:srgbClr val="0E6E7C"/>
                </a:solidFill>
                <a:latin typeface="Calibri"/>
              </a:rPr>
              <a:t>3.  </a:t>
            </a:r>
            <a:r>
              <a:rPr sz="1200" b="1" i="0">
                <a:solidFill>
                  <a:srgbClr val="162333"/>
                </a:solidFill>
                <a:latin typeface="Calibri"/>
              </a:rPr>
              <a:t>Threshold.</a:t>
            </a:r>
            <a:r>
              <a:rPr sz="1200" b="0" i="0">
                <a:solidFill>
                  <a:srgbClr val="243140"/>
                </a:solidFill>
                <a:latin typeface="Calibri"/>
              </a:rPr>
              <a:t>  The gap must be 10 to 900 seconds and the jump at least 1 km. The pair is kept when the jump is 20 km or more at over 50 knots (teleport), or when the implied speed exceeds 80 knots (implausible speed).</a:t>
            </a:r>
          </a:p>
          <a:p>
            <a:pPr>
              <a:spcAft>
                <a:spcPts val="700"/>
              </a:spcAft>
            </a:pPr>
            <a:r>
              <a:rPr sz="1200" b="1" i="0">
                <a:solidFill>
                  <a:srgbClr val="0E6E7C"/>
                </a:solidFill>
                <a:latin typeface="Calibri"/>
              </a:rPr>
              <a:t>4.  </a:t>
            </a:r>
            <a:r>
              <a:rPr sz="1200" b="1" i="0">
                <a:solidFill>
                  <a:srgbClr val="162333"/>
                </a:solidFill>
                <a:latin typeface="Calibri"/>
              </a:rPr>
              <a:t>Single-point filter.</a:t>
            </a:r>
            <a:r>
              <a:rPr sz="1200" b="0" i="0">
                <a:solidFill>
                  <a:srgbClr val="243140"/>
                </a:solidFill>
                <a:latin typeface="Calibri"/>
              </a:rPr>
              <a:t>  When the reports before and after a suspect point lie within 2 km of each other, and that gap is less than 10 percent of the jump, the point is treated as a bad fix and discarded.</a:t>
            </a:r>
          </a:p>
          <a:p>
            <a:pPr>
              <a:spcAft>
                <a:spcPts val="700"/>
              </a:spcAft>
            </a:pPr>
            <a:r>
              <a:rPr sz="1200" b="1" i="0">
                <a:solidFill>
                  <a:srgbClr val="0E6E7C"/>
                </a:solidFill>
                <a:latin typeface="Calibri"/>
              </a:rPr>
              <a:t>5.  </a:t>
            </a:r>
            <a:r>
              <a:rPr sz="1200" b="1" i="0">
                <a:solidFill>
                  <a:srgbClr val="162333"/>
                </a:solidFill>
                <a:latin typeface="Calibri"/>
              </a:rPr>
              <a:t>Storage.</a:t>
            </a:r>
            <a:r>
              <a:rPr sz="1200" b="0" i="0">
                <a:solidFill>
                  <a:srgbClr val="243140"/>
                </a:solidFill>
                <a:latin typeface="Calibri"/>
              </a:rPr>
              <a:t>  One row is kept per vessel per UTC day, holding the highest implied speed. It is replaced only by a faster jump on the same day. The dashboard reads these stored rows.</a:t>
            </a:r>
          </a:p>
        </p:txBody>
      </p:sp>
      <p:sp>
        <p:nvSpPr>
          <p:cNvPr id="10" name="TextBox 9"/>
          <p:cNvSpPr txBox="1"/>
          <p:nvPr/>
        </p:nvSpPr>
        <p:spPr>
          <a:xfrm>
            <a:off x="4800600" y="1444752"/>
            <a:ext cx="3154680" cy="201168"/>
          </a:xfrm>
          <a:prstGeom prst="rect">
            <a:avLst/>
          </a:prstGeom>
          <a:noFill/>
        </p:spPr>
        <p:txBody>
          <a:bodyPr wrap="square" lIns="0" rIns="0" tIns="0" bIns="0" anchor="t"/>
          <a:lstStyle/>
          <a:p>
            <a:pPr algn="l"/>
            <a:r>
              <a:rPr sz="1050" b="1" i="0">
                <a:solidFill>
                  <a:srgbClr val="0E6E7C"/>
                </a:solidFill>
                <a:latin typeface="Calibri"/>
              </a:rPr>
              <a:t>HOW THE DASHBOARD FIGURES ARE DERIVED</a:t>
            </a:r>
          </a:p>
        </p:txBody>
      </p:sp>
      <p:sp>
        <p:nvSpPr>
          <p:cNvPr id="11" name="Rectangle 10"/>
          <p:cNvSpPr/>
          <p:nvPr/>
        </p:nvSpPr>
        <p:spPr>
          <a:xfrm>
            <a:off x="4800600" y="1691640"/>
            <a:ext cx="3154680" cy="18288"/>
          </a:xfrm>
          <a:prstGeom prst="rect">
            <a:avLst/>
          </a:prstGeom>
          <a:solidFill>
            <a:srgbClr val="E3D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00600" y="1810512"/>
            <a:ext cx="3154680" cy="4526280"/>
          </a:xfrm>
          <a:prstGeom prst="rect">
            <a:avLst/>
          </a:prstGeom>
          <a:noFill/>
        </p:spPr>
        <p:txBody>
          <a:bodyPr wrap="square" lIns="0" rIns="0" tIns="0" bIns="0"/>
          <a:lstStyle/>
          <a:p>
            <a:pPr>
              <a:spcAft>
                <a:spcPts val="100"/>
              </a:spcAft>
            </a:pPr>
            <a:r>
              <a:rPr sz="1150" b="1" i="0">
                <a:solidFill>
                  <a:srgbClr val="162333"/>
                </a:solidFill>
                <a:latin typeface="Calibri"/>
              </a:rPr>
              <a:t>Events</a:t>
            </a:r>
          </a:p>
          <a:p>
            <a:pPr>
              <a:spcAft>
                <a:spcPts val="700"/>
              </a:spcAft>
            </a:pPr>
            <a:r>
              <a:rPr sz="1100" b="0" i="0">
                <a:solidFill>
                  <a:srgbClr val="243140"/>
                </a:solidFill>
                <a:latin typeface="Calibri"/>
              </a:rPr>
              <a:t>Stored daily anomalies within the last three days.</a:t>
            </a:r>
          </a:p>
          <a:p>
            <a:pPr>
              <a:spcAft>
                <a:spcPts val="100"/>
              </a:spcAft>
            </a:pPr>
            <a:r>
              <a:rPr sz="1150" b="1" i="0">
                <a:solidFill>
                  <a:srgbClr val="162333"/>
                </a:solidFill>
                <a:latin typeface="Calibri"/>
              </a:rPr>
              <a:t>Vessels</a:t>
            </a:r>
          </a:p>
          <a:p>
            <a:pPr>
              <a:spcAft>
                <a:spcPts val="700"/>
              </a:spcAft>
            </a:pPr>
            <a:r>
              <a:rPr sz="1100" b="0" i="0">
                <a:solidFill>
                  <a:srgbClr val="243140"/>
                </a:solidFill>
                <a:latin typeface="Calibri"/>
              </a:rPr>
              <a:t>Distinct vessels across those events.</a:t>
            </a:r>
          </a:p>
          <a:p>
            <a:pPr>
              <a:spcAft>
                <a:spcPts val="100"/>
              </a:spcAft>
            </a:pPr>
            <a:r>
              <a:rPr sz="1150" b="1" i="0">
                <a:solidFill>
                  <a:srgbClr val="162333"/>
                </a:solidFill>
                <a:latin typeface="Calibri"/>
              </a:rPr>
              <a:t>Teleport</a:t>
            </a:r>
          </a:p>
          <a:p>
            <a:pPr>
              <a:spcAft>
                <a:spcPts val="700"/>
              </a:spcAft>
            </a:pPr>
            <a:r>
              <a:rPr sz="1100" b="0" i="0">
                <a:solidFill>
                  <a:srgbClr val="243140"/>
                </a:solidFill>
                <a:latin typeface="Calibri"/>
              </a:rPr>
              <a:t>Jump of 20 km or more at an implied speed above 50 knots.</a:t>
            </a:r>
          </a:p>
          <a:p>
            <a:pPr>
              <a:spcAft>
                <a:spcPts val="100"/>
              </a:spcAft>
            </a:pPr>
            <a:r>
              <a:rPr sz="1150" b="1" i="0">
                <a:solidFill>
                  <a:srgbClr val="162333"/>
                </a:solidFill>
                <a:latin typeface="Calibri"/>
              </a:rPr>
              <a:t>Implausible speed</a:t>
            </a:r>
          </a:p>
          <a:p>
            <a:pPr>
              <a:spcAft>
                <a:spcPts val="700"/>
              </a:spcAft>
            </a:pPr>
            <a:r>
              <a:rPr sz="1100" b="0" i="0">
                <a:solidFill>
                  <a:srgbClr val="243140"/>
                </a:solidFill>
                <a:latin typeface="Calibri"/>
              </a:rPr>
              <a:t>Implied speed above 80 knots that is not a teleport.</a:t>
            </a:r>
          </a:p>
          <a:p>
            <a:pPr>
              <a:spcAft>
                <a:spcPts val="100"/>
              </a:spcAft>
            </a:pPr>
            <a:r>
              <a:rPr sz="1150" b="1" i="0">
                <a:solidFill>
                  <a:srgbClr val="162333"/>
                </a:solidFill>
                <a:latin typeface="Calibri"/>
              </a:rPr>
              <a:t>Sanctioned</a:t>
            </a:r>
          </a:p>
          <a:p>
            <a:pPr>
              <a:spcAft>
                <a:spcPts val="700"/>
              </a:spcAft>
            </a:pPr>
            <a:r>
              <a:rPr sz="1100" b="0" i="0">
                <a:solidFill>
                  <a:srgbClr val="243140"/>
                </a:solidFill>
                <a:latin typeface="Calibri"/>
              </a:rPr>
              <a:t>Events where the vessel matches the OFAC list.</a:t>
            </a:r>
          </a:p>
        </p:txBody>
      </p:sp>
      <p:sp>
        <p:nvSpPr>
          <p:cNvPr id="13" name="Rectangle 12"/>
          <p:cNvSpPr/>
          <p:nvPr/>
        </p:nvSpPr>
        <p:spPr>
          <a:xfrm>
            <a:off x="8147304" y="1426464"/>
            <a:ext cx="3639312" cy="3385695"/>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05-spoofing.png"/>
          <p:cNvPicPr>
            <a:picLocks noChangeAspect="1"/>
          </p:cNvPicPr>
          <p:nvPr/>
        </p:nvPicPr>
        <p:blipFill>
          <a:blip r:embed="rId2"/>
          <a:stretch>
            <a:fillRect/>
          </a:stretch>
        </p:blipFill>
        <p:spPr>
          <a:xfrm>
            <a:off x="8183879" y="1463040"/>
            <a:ext cx="3566160" cy="3312543"/>
          </a:xfrm>
          <a:prstGeom prst="rect">
            <a:avLst/>
          </a:prstGeom>
        </p:spPr>
      </p:pic>
      <p:sp>
        <p:nvSpPr>
          <p:cNvPr id="15" name="TextBox 14"/>
          <p:cNvSpPr txBox="1"/>
          <p:nvPr/>
        </p:nvSpPr>
        <p:spPr>
          <a:xfrm>
            <a:off x="8183879" y="4867023"/>
            <a:ext cx="3566160" cy="237744"/>
          </a:xfrm>
          <a:prstGeom prst="rect">
            <a:avLst/>
          </a:prstGeom>
          <a:noFill/>
        </p:spPr>
        <p:txBody>
          <a:bodyPr wrap="square" lIns="0" rIns="0" tIns="0" bIns="0" anchor="t"/>
          <a:lstStyle/>
          <a:p>
            <a:pPr algn="l"/>
            <a:r>
              <a:rPr sz="1050" b="1" i="0">
                <a:solidFill>
                  <a:srgbClr val="0E6E7C"/>
                </a:solidFill>
                <a:latin typeface="Calibri"/>
              </a:rPr>
              <a:t>Dashboard location:  Intelligence  &gt;  Spoofing</a:t>
            </a:r>
          </a:p>
        </p:txBody>
      </p:sp>
      <p:sp>
        <p:nvSpPr>
          <p:cNvPr id="16" name="Rounded Rectangle 15"/>
          <p:cNvSpPr/>
          <p:nvPr/>
        </p:nvSpPr>
        <p:spPr>
          <a:xfrm>
            <a:off x="8183879" y="5187063"/>
            <a:ext cx="3566160" cy="1168016"/>
          </a:xfrm>
          <a:prstGeom prst="roundRect">
            <a:avLst>
              <a:gd name="adj" fmla="val 8000"/>
            </a:avLst>
          </a:prstGeom>
          <a:solidFill>
            <a:srgbClr val="12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9327" y="5278503"/>
            <a:ext cx="3291840" cy="201168"/>
          </a:xfrm>
          <a:prstGeom prst="rect">
            <a:avLst/>
          </a:prstGeom>
          <a:noFill/>
        </p:spPr>
        <p:txBody>
          <a:bodyPr wrap="square" lIns="0" rIns="0" tIns="0" bIns="0" anchor="t"/>
          <a:lstStyle/>
          <a:p>
            <a:pPr algn="l"/>
            <a:r>
              <a:rPr sz="950" b="1" i="0">
                <a:solidFill>
                  <a:srgbClr val="1FA7B8"/>
                </a:solidFill>
                <a:latin typeface="Calibri"/>
              </a:rPr>
              <a:t>KEY PARAMETERS</a:t>
            </a:r>
          </a:p>
        </p:txBody>
      </p:sp>
      <p:sp>
        <p:nvSpPr>
          <p:cNvPr id="18" name="TextBox 17"/>
          <p:cNvSpPr txBox="1"/>
          <p:nvPr/>
        </p:nvSpPr>
        <p:spPr>
          <a:xfrm>
            <a:off x="8339327" y="5516247"/>
            <a:ext cx="3291840" cy="802256"/>
          </a:xfrm>
          <a:prstGeom prst="rect">
            <a:avLst/>
          </a:prstGeom>
          <a:noFill/>
        </p:spPr>
        <p:txBody>
          <a:bodyPr wrap="square" lIns="0" rIns="0" tIns="0" bIns="0"/>
          <a:lstStyle/>
          <a:p>
            <a:pPr>
              <a:spcAft>
                <a:spcPts val="200"/>
              </a:spcAft>
            </a:pPr>
            <a:r>
              <a:rPr sz="950" b="1" i="0">
                <a:solidFill>
                  <a:srgbClr val="FFFFFF"/>
                </a:solidFill>
                <a:latin typeface="Calibri"/>
              </a:rPr>
              <a:t>Time gap</a:t>
            </a:r>
            <a:r>
              <a:rPr sz="950" b="0" i="0">
                <a:solidFill>
                  <a:srgbClr val="D5E0E8"/>
                </a:solidFill>
                <a:latin typeface="Calibri"/>
              </a:rPr>
              <a:t>  10 to 900 seconds</a:t>
            </a:r>
          </a:p>
          <a:p>
            <a:pPr>
              <a:spcAft>
                <a:spcPts val="200"/>
              </a:spcAft>
            </a:pPr>
            <a:r>
              <a:rPr sz="950" b="1" i="0">
                <a:solidFill>
                  <a:srgbClr val="FFFFFF"/>
                </a:solidFill>
                <a:latin typeface="Calibri"/>
              </a:rPr>
              <a:t>Teleport</a:t>
            </a:r>
            <a:r>
              <a:rPr sz="950" b="0" i="0">
                <a:solidFill>
                  <a:srgbClr val="D5E0E8"/>
                </a:solidFill>
                <a:latin typeface="Calibri"/>
              </a:rPr>
              <a:t>  20 km or more and above 50 knots</a:t>
            </a:r>
          </a:p>
          <a:p>
            <a:pPr>
              <a:spcAft>
                <a:spcPts val="200"/>
              </a:spcAft>
            </a:pPr>
            <a:r>
              <a:rPr sz="950" b="1" i="0">
                <a:solidFill>
                  <a:srgbClr val="FFFFFF"/>
                </a:solidFill>
                <a:latin typeface="Calibri"/>
              </a:rPr>
              <a:t>Implausible speed</a:t>
            </a:r>
            <a:r>
              <a:rPr sz="950" b="0" i="0">
                <a:solidFill>
                  <a:srgbClr val="D5E0E8"/>
                </a:solidFill>
                <a:latin typeface="Calibri"/>
              </a:rPr>
              <a:t>  Above 80 knots</a:t>
            </a:r>
          </a:p>
          <a:p>
            <a:pPr>
              <a:spcAft>
                <a:spcPts val="200"/>
              </a:spcAft>
            </a:pPr>
            <a:r>
              <a:rPr sz="950" b="1" i="0">
                <a:solidFill>
                  <a:srgbClr val="FFFFFF"/>
                </a:solidFill>
                <a:latin typeface="Calibri"/>
              </a:rPr>
              <a:t>Bad-fix filter</a:t>
            </a:r>
            <a:r>
              <a:rPr sz="950" b="0" i="0">
                <a:solidFill>
                  <a:srgbClr val="D5E0E8"/>
                </a:solidFill>
                <a:latin typeface="Calibri"/>
              </a:rPr>
              <a:t>  2 km, under 10 percent of the jump</a:t>
            </a:r>
          </a:p>
        </p:txBody>
      </p:sp>
      <p:sp>
        <p:nvSpPr>
          <p:cNvPr id="19" name="TextBox 18"/>
          <p:cNvSpPr txBox="1"/>
          <p:nvPr/>
        </p:nvSpPr>
        <p:spPr>
          <a:xfrm>
            <a:off x="438912" y="6492240"/>
            <a:ext cx="5486400" cy="237744"/>
          </a:xfrm>
          <a:prstGeom prst="rect">
            <a:avLst/>
          </a:prstGeom>
          <a:noFill/>
        </p:spPr>
        <p:txBody>
          <a:bodyPr wrap="square" lIns="0" rIns="0" tIns="0" bIns="0" anchor="t"/>
          <a:lstStyle/>
          <a:p>
            <a:pPr algn="l"/>
            <a:r>
              <a:rPr sz="1000" b="1" i="0">
                <a:solidFill>
                  <a:srgbClr val="5C6874"/>
                </a:solidFill>
                <a:latin typeface="Calibri"/>
              </a:rPr>
              <a:t>MANTIS  |  Maritime Intelligence &amp; Intercept System</a:t>
            </a:r>
          </a:p>
        </p:txBody>
      </p:sp>
      <p:sp>
        <p:nvSpPr>
          <p:cNvPr id="20" name="TextBox 19"/>
          <p:cNvSpPr txBox="1"/>
          <p:nvPr/>
        </p:nvSpPr>
        <p:spPr>
          <a:xfrm>
            <a:off x="4754880" y="6492240"/>
            <a:ext cx="2743200" cy="237744"/>
          </a:xfrm>
          <a:prstGeom prst="rect">
            <a:avLst/>
          </a:prstGeom>
          <a:noFill/>
        </p:spPr>
        <p:txBody>
          <a:bodyPr wrap="square" lIns="0" rIns="0" tIns="0" bIns="0" anchor="t"/>
          <a:lstStyle/>
          <a:p>
            <a:pPr algn="ctr"/>
            <a:r>
              <a:rPr sz="1000" b="0" i="0">
                <a:solidFill>
                  <a:srgbClr val="5C6874"/>
                </a:solidFill>
                <a:latin typeface="Calibri"/>
              </a:rPr>
              <a:t>October 2026</a:t>
            </a:r>
          </a:p>
        </p:txBody>
      </p:sp>
      <p:sp>
        <p:nvSpPr>
          <p:cNvPr id="21" name="TextBox 20"/>
          <p:cNvSpPr txBox="1"/>
          <p:nvPr/>
        </p:nvSpPr>
        <p:spPr>
          <a:xfrm>
            <a:off x="10332720" y="6492240"/>
            <a:ext cx="1417320" cy="237744"/>
          </a:xfrm>
          <a:prstGeom prst="rect">
            <a:avLst/>
          </a:prstGeom>
          <a:noFill/>
        </p:spPr>
        <p:txBody>
          <a:bodyPr wrap="square" lIns="0" rIns="0" tIns="0" bIns="0" anchor="t"/>
          <a:lstStyle/>
          <a:p>
            <a:pPr algn="r"/>
            <a:r>
              <a:rPr sz="1000" b="0" i="0">
                <a:solidFill>
                  <a:srgbClr val="5C6874"/>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1FA7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56032"/>
            <a:ext cx="8229600" cy="219456"/>
          </a:xfrm>
          <a:prstGeom prst="rect">
            <a:avLst/>
          </a:prstGeom>
          <a:noFill/>
        </p:spPr>
        <p:txBody>
          <a:bodyPr wrap="square" lIns="0" rIns="0" tIns="0" bIns="0" anchor="t"/>
          <a:lstStyle/>
          <a:p>
            <a:pPr algn="l"/>
            <a:r>
              <a:rPr sz="1100" b="1" i="0">
                <a:solidFill>
                  <a:srgbClr val="0E6E7C"/>
                </a:solidFill>
                <a:latin typeface="Calibri"/>
              </a:rPr>
              <a:t>ANALYTICS MODULE  |  LOITERING</a:t>
            </a:r>
          </a:p>
        </p:txBody>
      </p:sp>
      <p:sp>
        <p:nvSpPr>
          <p:cNvPr id="5" name="TextBox 4"/>
          <p:cNvSpPr txBox="1"/>
          <p:nvPr/>
        </p:nvSpPr>
        <p:spPr>
          <a:xfrm>
            <a:off x="420624" y="457200"/>
            <a:ext cx="11338560" cy="457200"/>
          </a:xfrm>
          <a:prstGeom prst="rect">
            <a:avLst/>
          </a:prstGeom>
          <a:noFill/>
        </p:spPr>
        <p:txBody>
          <a:bodyPr wrap="square" lIns="0" rIns="0" tIns="0" bIns="0" anchor="t"/>
          <a:lstStyle/>
          <a:p>
            <a:pPr algn="l"/>
            <a:r>
              <a:rPr sz="2600" b="1" i="0">
                <a:solidFill>
                  <a:srgbClr val="0A1628"/>
                </a:solidFill>
                <a:latin typeface="Calibri"/>
              </a:rPr>
              <a:t>Loitering</a:t>
            </a:r>
          </a:p>
        </p:txBody>
      </p:sp>
      <p:sp>
        <p:nvSpPr>
          <p:cNvPr id="6" name="TextBox 5"/>
          <p:cNvSpPr txBox="1"/>
          <p:nvPr/>
        </p:nvSpPr>
        <p:spPr>
          <a:xfrm>
            <a:off x="438912" y="932688"/>
            <a:ext cx="11292840" cy="384048"/>
          </a:xfrm>
          <a:prstGeom prst="rect">
            <a:avLst/>
          </a:prstGeom>
          <a:noFill/>
        </p:spPr>
        <p:txBody>
          <a:bodyPr wrap="square" lIns="0" rIns="0" tIns="0" bIns="0" anchor="t"/>
          <a:lstStyle/>
          <a:p>
            <a:pPr algn="l"/>
            <a:r>
              <a:rPr sz="1350" b="0" i="0">
                <a:solidFill>
                  <a:srgbClr val="5C6874"/>
                </a:solidFill>
                <a:latin typeface="Calibri"/>
              </a:rPr>
              <a:t>Identifies vessels circling within a confined area for hours without making a passage.</a:t>
            </a:r>
          </a:p>
        </p:txBody>
      </p:sp>
      <p:sp>
        <p:nvSpPr>
          <p:cNvPr id="7" name="TextBox 6"/>
          <p:cNvSpPr txBox="1"/>
          <p:nvPr/>
        </p:nvSpPr>
        <p:spPr>
          <a:xfrm>
            <a:off x="438912" y="1444752"/>
            <a:ext cx="4114800" cy="201168"/>
          </a:xfrm>
          <a:prstGeom prst="rect">
            <a:avLst/>
          </a:prstGeom>
          <a:noFill/>
        </p:spPr>
        <p:txBody>
          <a:bodyPr wrap="square" lIns="0" rIns="0" tIns="0" bIns="0" anchor="t"/>
          <a:lstStyle/>
          <a:p>
            <a:pPr algn="l"/>
            <a:r>
              <a:rPr sz="1050" b="1" i="0">
                <a:solidFill>
                  <a:srgbClr val="0E6E7C"/>
                </a:solidFill>
                <a:latin typeface="Calibri"/>
              </a:rPr>
              <a:t>DATA PIPELINE AND PROCESSING LOGIC</a:t>
            </a:r>
          </a:p>
        </p:txBody>
      </p:sp>
      <p:sp>
        <p:nvSpPr>
          <p:cNvPr id="8" name="Rectangle 7"/>
          <p:cNvSpPr/>
          <p:nvPr/>
        </p:nvSpPr>
        <p:spPr>
          <a:xfrm>
            <a:off x="438912" y="1691640"/>
            <a:ext cx="4114800" cy="18288"/>
          </a:xfrm>
          <a:prstGeom prst="rect">
            <a:avLst/>
          </a:prstGeom>
          <a:solidFill>
            <a:srgbClr val="E3D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810512"/>
            <a:ext cx="4114800" cy="4526280"/>
          </a:xfrm>
          <a:prstGeom prst="rect">
            <a:avLst/>
          </a:prstGeom>
          <a:noFill/>
        </p:spPr>
        <p:txBody>
          <a:bodyPr wrap="square" lIns="0" rIns="0" tIns="0" bIns="0"/>
          <a:lstStyle/>
          <a:p>
            <a:pPr>
              <a:spcAft>
                <a:spcPts val="700"/>
              </a:spcAft>
            </a:pPr>
            <a:r>
              <a:rPr sz="1200" b="1" i="0">
                <a:solidFill>
                  <a:srgbClr val="0E6E7C"/>
                </a:solidFill>
                <a:latin typeface="Calibri"/>
              </a:rPr>
              <a:t>1.  </a:t>
            </a:r>
            <a:r>
              <a:rPr sz="1200" b="1" i="0">
                <a:solidFill>
                  <a:srgbClr val="162333"/>
                </a:solidFill>
                <a:latin typeface="Calibri"/>
              </a:rPr>
              <a:t>Input.</a:t>
            </a:r>
            <a:r>
              <a:rPr sz="1200" b="0" i="0">
                <a:solidFill>
                  <a:srgbClr val="243140"/>
                </a:solidFill>
                <a:latin typeface="Calibri"/>
              </a:rPr>
              <a:t>  Every 15 minutes the pipeline reads the previous two hours of AIS track for cargo and tanker vessels.</a:t>
            </a:r>
          </a:p>
          <a:p>
            <a:pPr>
              <a:spcAft>
                <a:spcPts val="700"/>
              </a:spcAft>
            </a:pPr>
            <a:r>
              <a:rPr sz="1200" b="1" i="0">
                <a:solidFill>
                  <a:srgbClr val="0E6E7C"/>
                </a:solidFill>
                <a:latin typeface="Calibri"/>
              </a:rPr>
              <a:t>2.  </a:t>
            </a:r>
            <a:r>
              <a:rPr sz="1200" b="1" i="0">
                <a:solidFill>
                  <a:srgbClr val="162333"/>
                </a:solidFill>
                <a:latin typeface="Calibri"/>
              </a:rPr>
              <a:t>Track geometry.</a:t>
            </a:r>
            <a:r>
              <a:rPr sz="1200" b="0" i="0">
                <a:solidFill>
                  <a:srgbClr val="243140"/>
                </a:solidFill>
                <a:latin typeface="Calibri"/>
              </a:rPr>
              <a:t>  For each vessel it calculates the centre of the track, the radius (furthest point from the centre), the path length and the net displacement between the first and last position.</a:t>
            </a:r>
          </a:p>
          <a:p>
            <a:pPr>
              <a:spcAft>
                <a:spcPts val="700"/>
              </a:spcAft>
            </a:pPr>
            <a:r>
              <a:rPr sz="1200" b="1" i="0">
                <a:solidFill>
                  <a:srgbClr val="0E6E7C"/>
                </a:solidFill>
                <a:latin typeface="Calibri"/>
              </a:rPr>
              <a:t>3.  </a:t>
            </a:r>
            <a:r>
              <a:rPr sz="1200" b="1" i="0">
                <a:solidFill>
                  <a:srgbClr val="162333"/>
                </a:solidFill>
                <a:latin typeface="Calibri"/>
              </a:rPr>
              <a:t>Storage rule.</a:t>
            </a:r>
            <a:r>
              <a:rPr sz="1200" b="0" i="0">
                <a:solidFill>
                  <a:srgbClr val="243140"/>
                </a:solidFill>
                <a:latin typeface="Calibri"/>
              </a:rPr>
              <a:t>  An event is stored when the track spans at least 2 hours with 8 or more reports, the radius is 100 m to 6 nautical miles, net displacement is under 0.5 nautical miles and net displacement is under 20 percent of the path.</a:t>
            </a:r>
          </a:p>
          <a:p>
            <a:pPr>
              <a:spcAft>
                <a:spcPts val="700"/>
              </a:spcAft>
            </a:pPr>
            <a:r>
              <a:rPr sz="1200" b="1" i="0">
                <a:solidFill>
                  <a:srgbClr val="0E6E7C"/>
                </a:solidFill>
                <a:latin typeface="Calibri"/>
              </a:rPr>
              <a:t>4.  </a:t>
            </a:r>
            <a:r>
              <a:rPr sz="1200" b="1" i="0">
                <a:solidFill>
                  <a:srgbClr val="162333"/>
                </a:solidFill>
                <a:latin typeface="Calibri"/>
              </a:rPr>
              <a:t>Context flags.</a:t>
            </a:r>
            <a:r>
              <a:rPr sz="1200" b="0" i="0">
                <a:solidFill>
                  <a:srgbClr val="243140"/>
                </a:solidFill>
                <a:latin typeface="Calibri"/>
              </a:rPr>
              <a:t>  Outside anchorage: the centre is not in an anchorage polygon. Near restricted: inside or within 5 nautical miles of the restricted limit. Before STS: an STS observation for the vessel starts during the event or within 6 hours after it, within 5 nautical miles.</a:t>
            </a:r>
          </a:p>
          <a:p>
            <a:pPr>
              <a:spcAft>
                <a:spcPts val="700"/>
              </a:spcAft>
            </a:pPr>
            <a:r>
              <a:rPr sz="1200" b="1" i="0">
                <a:solidFill>
                  <a:srgbClr val="0E6E7C"/>
                </a:solidFill>
                <a:latin typeface="Calibri"/>
              </a:rPr>
              <a:t>5.  </a:t>
            </a:r>
            <a:r>
              <a:rPr sz="1200" b="1" i="0">
                <a:solidFill>
                  <a:srgbClr val="162333"/>
                </a:solidFill>
                <a:latin typeface="Calibri"/>
              </a:rPr>
              <a:t>Pattern separation.</a:t>
            </a:r>
            <a:r>
              <a:rPr sz="1200" b="0" i="0">
                <a:solidFill>
                  <a:srgbClr val="243140"/>
                </a:solidFill>
                <a:latin typeface="Calibri"/>
              </a:rPr>
              <a:t>  Loitering requires a path of 2 nautical miles or more and a radius at least the hull length. A radius smaller than the hull is classified as anchor swing, which is normal behaviour.</a:t>
            </a:r>
          </a:p>
        </p:txBody>
      </p:sp>
      <p:sp>
        <p:nvSpPr>
          <p:cNvPr id="10" name="TextBox 9"/>
          <p:cNvSpPr txBox="1"/>
          <p:nvPr/>
        </p:nvSpPr>
        <p:spPr>
          <a:xfrm>
            <a:off x="4800600" y="1444752"/>
            <a:ext cx="3154680" cy="201168"/>
          </a:xfrm>
          <a:prstGeom prst="rect">
            <a:avLst/>
          </a:prstGeom>
          <a:noFill/>
        </p:spPr>
        <p:txBody>
          <a:bodyPr wrap="square" lIns="0" rIns="0" tIns="0" bIns="0" anchor="t"/>
          <a:lstStyle/>
          <a:p>
            <a:pPr algn="l"/>
            <a:r>
              <a:rPr sz="1050" b="1" i="0">
                <a:solidFill>
                  <a:srgbClr val="0E6E7C"/>
                </a:solidFill>
                <a:latin typeface="Calibri"/>
              </a:rPr>
              <a:t>HOW THE DASHBOARD FIGURES ARE DERIVED</a:t>
            </a:r>
          </a:p>
        </p:txBody>
      </p:sp>
      <p:sp>
        <p:nvSpPr>
          <p:cNvPr id="11" name="Rectangle 10"/>
          <p:cNvSpPr/>
          <p:nvPr/>
        </p:nvSpPr>
        <p:spPr>
          <a:xfrm>
            <a:off x="4800600" y="1691640"/>
            <a:ext cx="3154680" cy="18288"/>
          </a:xfrm>
          <a:prstGeom prst="rect">
            <a:avLst/>
          </a:prstGeom>
          <a:solidFill>
            <a:srgbClr val="E3D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00600" y="1810512"/>
            <a:ext cx="3154680" cy="4526280"/>
          </a:xfrm>
          <a:prstGeom prst="rect">
            <a:avLst/>
          </a:prstGeom>
          <a:noFill/>
        </p:spPr>
        <p:txBody>
          <a:bodyPr wrap="square" lIns="0" rIns="0" tIns="0" bIns="0"/>
          <a:lstStyle/>
          <a:p>
            <a:pPr>
              <a:spcAft>
                <a:spcPts val="100"/>
              </a:spcAft>
            </a:pPr>
            <a:r>
              <a:rPr sz="1150" b="1" i="0">
                <a:solidFill>
                  <a:srgbClr val="162333"/>
                </a:solidFill>
                <a:latin typeface="Calibri"/>
              </a:rPr>
              <a:t>Events</a:t>
            </a:r>
          </a:p>
          <a:p>
            <a:pPr>
              <a:spcAft>
                <a:spcPts val="700"/>
              </a:spcAft>
            </a:pPr>
            <a:r>
              <a:rPr sz="1100" b="0" i="0">
                <a:solidFill>
                  <a:srgbClr val="243140"/>
                </a:solidFill>
                <a:latin typeface="Calibri"/>
              </a:rPr>
              <a:t>Open events carrying at least one context flag.</a:t>
            </a:r>
          </a:p>
          <a:p>
            <a:pPr>
              <a:spcAft>
                <a:spcPts val="100"/>
              </a:spcAft>
            </a:pPr>
            <a:r>
              <a:rPr sz="1150" b="1" i="0">
                <a:solidFill>
                  <a:srgbClr val="162333"/>
                </a:solidFill>
                <a:latin typeface="Calibri"/>
              </a:rPr>
              <a:t>Outside anchorage</a:t>
            </a:r>
          </a:p>
          <a:p>
            <a:pPr>
              <a:spcAft>
                <a:spcPts val="700"/>
              </a:spcAft>
            </a:pPr>
            <a:r>
              <a:rPr sz="1100" b="0" i="0">
                <a:solidFill>
                  <a:srgbClr val="243140"/>
                </a:solidFill>
                <a:latin typeface="Calibri"/>
              </a:rPr>
              <a:t>Events whose centre is outside every anchorage polygon.</a:t>
            </a:r>
          </a:p>
          <a:p>
            <a:pPr>
              <a:spcAft>
                <a:spcPts val="100"/>
              </a:spcAft>
            </a:pPr>
            <a:r>
              <a:rPr sz="1150" b="1" i="0">
                <a:solidFill>
                  <a:srgbClr val="162333"/>
                </a:solidFill>
                <a:latin typeface="Calibri"/>
              </a:rPr>
              <a:t>Near restricted</a:t>
            </a:r>
          </a:p>
          <a:p>
            <a:pPr>
              <a:spcAft>
                <a:spcPts val="700"/>
              </a:spcAft>
            </a:pPr>
            <a:r>
              <a:rPr sz="1100" b="0" i="0">
                <a:solidFill>
                  <a:srgbClr val="243140"/>
                </a:solidFill>
                <a:latin typeface="Calibri"/>
              </a:rPr>
              <a:t>Events inside or within 5 nautical miles of the restricted limit.</a:t>
            </a:r>
          </a:p>
          <a:p>
            <a:pPr>
              <a:spcAft>
                <a:spcPts val="100"/>
              </a:spcAft>
            </a:pPr>
            <a:r>
              <a:rPr sz="1150" b="1" i="0">
                <a:solidFill>
                  <a:srgbClr val="162333"/>
                </a:solidFill>
                <a:latin typeface="Calibri"/>
              </a:rPr>
              <a:t>Before STS</a:t>
            </a:r>
          </a:p>
          <a:p>
            <a:pPr>
              <a:spcAft>
                <a:spcPts val="700"/>
              </a:spcAft>
            </a:pPr>
            <a:r>
              <a:rPr sz="1100" b="0" i="0">
                <a:solidFill>
                  <a:srgbClr val="243140"/>
                </a:solidFill>
                <a:latin typeface="Calibri"/>
              </a:rPr>
              <a:t>Events followed by an STS observation for the same vessel within 6 hours.</a:t>
            </a:r>
          </a:p>
          <a:p>
            <a:pPr>
              <a:spcAft>
                <a:spcPts val="100"/>
              </a:spcAft>
            </a:pPr>
            <a:r>
              <a:rPr sz="1150" b="1" i="0">
                <a:solidFill>
                  <a:srgbClr val="162333"/>
                </a:solidFill>
                <a:latin typeface="Calibri"/>
              </a:rPr>
              <a:t>Sanctioned</a:t>
            </a:r>
          </a:p>
          <a:p>
            <a:pPr>
              <a:spcAft>
                <a:spcPts val="700"/>
              </a:spcAft>
            </a:pPr>
            <a:r>
              <a:rPr sz="1100" b="0" i="0">
                <a:solidFill>
                  <a:srgbClr val="243140"/>
                </a:solidFill>
                <a:latin typeface="Calibri"/>
              </a:rPr>
              <a:t>Events where the vessel matches the OFAC list.</a:t>
            </a:r>
          </a:p>
        </p:txBody>
      </p:sp>
      <p:sp>
        <p:nvSpPr>
          <p:cNvPr id="13" name="Rectangle 12"/>
          <p:cNvSpPr/>
          <p:nvPr/>
        </p:nvSpPr>
        <p:spPr>
          <a:xfrm>
            <a:off x="8147304" y="1426464"/>
            <a:ext cx="3639312" cy="3385695"/>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06-loitering.png"/>
          <p:cNvPicPr>
            <a:picLocks noChangeAspect="1"/>
          </p:cNvPicPr>
          <p:nvPr/>
        </p:nvPicPr>
        <p:blipFill>
          <a:blip r:embed="rId2"/>
          <a:stretch>
            <a:fillRect/>
          </a:stretch>
        </p:blipFill>
        <p:spPr>
          <a:xfrm>
            <a:off x="8183879" y="1463040"/>
            <a:ext cx="3566160" cy="3312543"/>
          </a:xfrm>
          <a:prstGeom prst="rect">
            <a:avLst/>
          </a:prstGeom>
        </p:spPr>
      </p:pic>
      <p:sp>
        <p:nvSpPr>
          <p:cNvPr id="15" name="TextBox 14"/>
          <p:cNvSpPr txBox="1"/>
          <p:nvPr/>
        </p:nvSpPr>
        <p:spPr>
          <a:xfrm>
            <a:off x="8183879" y="4867023"/>
            <a:ext cx="3566160" cy="237744"/>
          </a:xfrm>
          <a:prstGeom prst="rect">
            <a:avLst/>
          </a:prstGeom>
          <a:noFill/>
        </p:spPr>
        <p:txBody>
          <a:bodyPr wrap="square" lIns="0" rIns="0" tIns="0" bIns="0" anchor="t"/>
          <a:lstStyle/>
          <a:p>
            <a:pPr algn="l"/>
            <a:r>
              <a:rPr sz="1050" b="1" i="0">
                <a:solidFill>
                  <a:srgbClr val="0E6E7C"/>
                </a:solidFill>
                <a:latin typeface="Calibri"/>
              </a:rPr>
              <a:t>Dashboard location:  Intelligence  &gt;  Loitering</a:t>
            </a:r>
          </a:p>
        </p:txBody>
      </p:sp>
      <p:sp>
        <p:nvSpPr>
          <p:cNvPr id="16" name="Rounded Rectangle 15"/>
          <p:cNvSpPr/>
          <p:nvPr/>
        </p:nvSpPr>
        <p:spPr>
          <a:xfrm>
            <a:off x="8183879" y="5187063"/>
            <a:ext cx="3566160" cy="1168016"/>
          </a:xfrm>
          <a:prstGeom prst="roundRect">
            <a:avLst>
              <a:gd name="adj" fmla="val 8000"/>
            </a:avLst>
          </a:prstGeom>
          <a:solidFill>
            <a:srgbClr val="12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9327" y="5278503"/>
            <a:ext cx="3291840" cy="201168"/>
          </a:xfrm>
          <a:prstGeom prst="rect">
            <a:avLst/>
          </a:prstGeom>
          <a:noFill/>
        </p:spPr>
        <p:txBody>
          <a:bodyPr wrap="square" lIns="0" rIns="0" tIns="0" bIns="0" anchor="t"/>
          <a:lstStyle/>
          <a:p>
            <a:pPr algn="l"/>
            <a:r>
              <a:rPr sz="950" b="1" i="0">
                <a:solidFill>
                  <a:srgbClr val="1FA7B8"/>
                </a:solidFill>
                <a:latin typeface="Calibri"/>
              </a:rPr>
              <a:t>KEY PARAMETERS</a:t>
            </a:r>
          </a:p>
        </p:txBody>
      </p:sp>
      <p:sp>
        <p:nvSpPr>
          <p:cNvPr id="18" name="TextBox 17"/>
          <p:cNvSpPr txBox="1"/>
          <p:nvPr/>
        </p:nvSpPr>
        <p:spPr>
          <a:xfrm>
            <a:off x="8339327" y="5516247"/>
            <a:ext cx="3291840" cy="802256"/>
          </a:xfrm>
          <a:prstGeom prst="rect">
            <a:avLst/>
          </a:prstGeom>
          <a:noFill/>
        </p:spPr>
        <p:txBody>
          <a:bodyPr wrap="square" lIns="0" rIns="0" tIns="0" bIns="0"/>
          <a:lstStyle/>
          <a:p>
            <a:pPr>
              <a:spcAft>
                <a:spcPts val="200"/>
              </a:spcAft>
            </a:pPr>
            <a:r>
              <a:rPr sz="950" b="1" i="0">
                <a:solidFill>
                  <a:srgbClr val="FFFFFF"/>
                </a:solidFill>
                <a:latin typeface="Calibri"/>
              </a:rPr>
              <a:t>Window</a:t>
            </a:r>
            <a:r>
              <a:rPr sz="950" b="0" i="0">
                <a:solidFill>
                  <a:srgbClr val="D5E0E8"/>
                </a:solidFill>
                <a:latin typeface="Calibri"/>
              </a:rPr>
              <a:t>  2 hours, at least 8 reports</a:t>
            </a:r>
          </a:p>
          <a:p>
            <a:pPr>
              <a:spcAft>
                <a:spcPts val="200"/>
              </a:spcAft>
            </a:pPr>
            <a:r>
              <a:rPr sz="950" b="1" i="0">
                <a:solidFill>
                  <a:srgbClr val="FFFFFF"/>
                </a:solidFill>
                <a:latin typeface="Calibri"/>
              </a:rPr>
              <a:t>Radius</a:t>
            </a:r>
            <a:r>
              <a:rPr sz="950" b="0" i="0">
                <a:solidFill>
                  <a:srgbClr val="D5E0E8"/>
                </a:solidFill>
                <a:latin typeface="Calibri"/>
              </a:rPr>
              <a:t>  100 m to 6 nautical miles</a:t>
            </a:r>
          </a:p>
          <a:p>
            <a:pPr>
              <a:spcAft>
                <a:spcPts val="200"/>
              </a:spcAft>
            </a:pPr>
            <a:r>
              <a:rPr sz="950" b="1" i="0">
                <a:solidFill>
                  <a:srgbClr val="FFFFFF"/>
                </a:solidFill>
                <a:latin typeface="Calibri"/>
              </a:rPr>
              <a:t>Net movement</a:t>
            </a:r>
            <a:r>
              <a:rPr sz="950" b="0" i="0">
                <a:solidFill>
                  <a:srgbClr val="D5E0E8"/>
                </a:solidFill>
                <a:latin typeface="Calibri"/>
              </a:rPr>
              <a:t>  Under 0.5 nautical miles</a:t>
            </a:r>
          </a:p>
          <a:p>
            <a:pPr>
              <a:spcAft>
                <a:spcPts val="200"/>
              </a:spcAft>
            </a:pPr>
            <a:r>
              <a:rPr sz="950" b="1" i="0">
                <a:solidFill>
                  <a:srgbClr val="FFFFFF"/>
                </a:solidFill>
                <a:latin typeface="Calibri"/>
              </a:rPr>
              <a:t>Hull floor</a:t>
            </a:r>
            <a:r>
              <a:rPr sz="950" b="0" i="0">
                <a:solidFill>
                  <a:srgbClr val="D5E0E8"/>
                </a:solidFill>
                <a:latin typeface="Calibri"/>
              </a:rPr>
              <a:t>  Lengths under 300 m treated as 300 m</a:t>
            </a:r>
          </a:p>
        </p:txBody>
      </p:sp>
      <p:sp>
        <p:nvSpPr>
          <p:cNvPr id="19" name="TextBox 18"/>
          <p:cNvSpPr txBox="1"/>
          <p:nvPr/>
        </p:nvSpPr>
        <p:spPr>
          <a:xfrm>
            <a:off x="438912" y="6492240"/>
            <a:ext cx="5486400" cy="237744"/>
          </a:xfrm>
          <a:prstGeom prst="rect">
            <a:avLst/>
          </a:prstGeom>
          <a:noFill/>
        </p:spPr>
        <p:txBody>
          <a:bodyPr wrap="square" lIns="0" rIns="0" tIns="0" bIns="0" anchor="t"/>
          <a:lstStyle/>
          <a:p>
            <a:pPr algn="l"/>
            <a:r>
              <a:rPr sz="1000" b="1" i="0">
                <a:solidFill>
                  <a:srgbClr val="5C6874"/>
                </a:solidFill>
                <a:latin typeface="Calibri"/>
              </a:rPr>
              <a:t>MANTIS  |  Maritime Intelligence &amp; Intercept System</a:t>
            </a:r>
          </a:p>
        </p:txBody>
      </p:sp>
      <p:sp>
        <p:nvSpPr>
          <p:cNvPr id="20" name="TextBox 19"/>
          <p:cNvSpPr txBox="1"/>
          <p:nvPr/>
        </p:nvSpPr>
        <p:spPr>
          <a:xfrm>
            <a:off x="4754880" y="6492240"/>
            <a:ext cx="2743200" cy="237744"/>
          </a:xfrm>
          <a:prstGeom prst="rect">
            <a:avLst/>
          </a:prstGeom>
          <a:noFill/>
        </p:spPr>
        <p:txBody>
          <a:bodyPr wrap="square" lIns="0" rIns="0" tIns="0" bIns="0" anchor="t"/>
          <a:lstStyle/>
          <a:p>
            <a:pPr algn="ctr"/>
            <a:r>
              <a:rPr sz="1000" b="0" i="0">
                <a:solidFill>
                  <a:srgbClr val="5C6874"/>
                </a:solidFill>
                <a:latin typeface="Calibri"/>
              </a:rPr>
              <a:t>October 2026</a:t>
            </a:r>
          </a:p>
        </p:txBody>
      </p:sp>
      <p:sp>
        <p:nvSpPr>
          <p:cNvPr id="21" name="TextBox 20"/>
          <p:cNvSpPr txBox="1"/>
          <p:nvPr/>
        </p:nvSpPr>
        <p:spPr>
          <a:xfrm>
            <a:off x="10332720" y="6492240"/>
            <a:ext cx="1417320" cy="237744"/>
          </a:xfrm>
          <a:prstGeom prst="rect">
            <a:avLst/>
          </a:prstGeom>
          <a:noFill/>
        </p:spPr>
        <p:txBody>
          <a:bodyPr wrap="square" lIns="0" rIns="0" tIns="0" bIns="0" anchor="t"/>
          <a:lstStyle/>
          <a:p>
            <a:pPr algn="r"/>
            <a:r>
              <a:rPr sz="1000" b="0" i="0">
                <a:solidFill>
                  <a:srgbClr val="5C6874"/>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1FA7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56032"/>
            <a:ext cx="8229600" cy="219456"/>
          </a:xfrm>
          <a:prstGeom prst="rect">
            <a:avLst/>
          </a:prstGeom>
          <a:noFill/>
        </p:spPr>
        <p:txBody>
          <a:bodyPr wrap="square" lIns="0" rIns="0" tIns="0" bIns="0" anchor="t"/>
          <a:lstStyle/>
          <a:p>
            <a:pPr algn="l"/>
            <a:r>
              <a:rPr sz="1100" b="1" i="0">
                <a:solidFill>
                  <a:srgbClr val="0E6E7C"/>
                </a:solidFill>
                <a:latin typeface="Calibri"/>
              </a:rPr>
              <a:t>ANALYTICS MODULE  |  IDENTITY CONFLICT</a:t>
            </a:r>
          </a:p>
        </p:txBody>
      </p:sp>
      <p:sp>
        <p:nvSpPr>
          <p:cNvPr id="5" name="TextBox 4"/>
          <p:cNvSpPr txBox="1"/>
          <p:nvPr/>
        </p:nvSpPr>
        <p:spPr>
          <a:xfrm>
            <a:off x="420624" y="457200"/>
            <a:ext cx="11338560" cy="457200"/>
          </a:xfrm>
          <a:prstGeom prst="rect">
            <a:avLst/>
          </a:prstGeom>
          <a:noFill/>
        </p:spPr>
        <p:txBody>
          <a:bodyPr wrap="square" lIns="0" rIns="0" tIns="0" bIns="0" anchor="t"/>
          <a:lstStyle/>
          <a:p>
            <a:pPr algn="l"/>
            <a:r>
              <a:rPr sz="2600" b="1" i="0">
                <a:solidFill>
                  <a:srgbClr val="0A1628"/>
                </a:solidFill>
                <a:latin typeface="Calibri"/>
              </a:rPr>
              <a:t>Identity conflict</a:t>
            </a:r>
          </a:p>
        </p:txBody>
      </p:sp>
      <p:sp>
        <p:nvSpPr>
          <p:cNvPr id="6" name="TextBox 5"/>
          <p:cNvSpPr txBox="1"/>
          <p:nvPr/>
        </p:nvSpPr>
        <p:spPr>
          <a:xfrm>
            <a:off x="438912" y="932688"/>
            <a:ext cx="11292840" cy="384048"/>
          </a:xfrm>
          <a:prstGeom prst="rect">
            <a:avLst/>
          </a:prstGeom>
          <a:noFill/>
        </p:spPr>
        <p:txBody>
          <a:bodyPr wrap="square" lIns="0" rIns="0" tIns="0" bIns="0" anchor="t"/>
          <a:lstStyle/>
          <a:p>
            <a:pPr algn="l"/>
            <a:r>
              <a:rPr sz="1350" b="0" i="0">
                <a:solidFill>
                  <a:srgbClr val="5C6874"/>
                </a:solidFill>
                <a:latin typeface="Calibri"/>
              </a:rPr>
              <a:t>Finds a single physical vessel that is broadcasting under more than one MMSI.</a:t>
            </a:r>
          </a:p>
        </p:txBody>
      </p:sp>
      <p:sp>
        <p:nvSpPr>
          <p:cNvPr id="7" name="TextBox 6"/>
          <p:cNvSpPr txBox="1"/>
          <p:nvPr/>
        </p:nvSpPr>
        <p:spPr>
          <a:xfrm>
            <a:off x="438912" y="1444752"/>
            <a:ext cx="4114800" cy="201168"/>
          </a:xfrm>
          <a:prstGeom prst="rect">
            <a:avLst/>
          </a:prstGeom>
          <a:noFill/>
        </p:spPr>
        <p:txBody>
          <a:bodyPr wrap="square" lIns="0" rIns="0" tIns="0" bIns="0" anchor="t"/>
          <a:lstStyle/>
          <a:p>
            <a:pPr algn="l"/>
            <a:r>
              <a:rPr sz="1050" b="1" i="0">
                <a:solidFill>
                  <a:srgbClr val="0E6E7C"/>
                </a:solidFill>
                <a:latin typeface="Calibri"/>
              </a:rPr>
              <a:t>DATA PIPELINE AND PROCESSING LOGIC</a:t>
            </a:r>
          </a:p>
        </p:txBody>
      </p:sp>
      <p:sp>
        <p:nvSpPr>
          <p:cNvPr id="8" name="Rectangle 7"/>
          <p:cNvSpPr/>
          <p:nvPr/>
        </p:nvSpPr>
        <p:spPr>
          <a:xfrm>
            <a:off x="438912" y="1691640"/>
            <a:ext cx="4114800" cy="18288"/>
          </a:xfrm>
          <a:prstGeom prst="rect">
            <a:avLst/>
          </a:prstGeom>
          <a:solidFill>
            <a:srgbClr val="E3D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810512"/>
            <a:ext cx="4114800" cy="4526280"/>
          </a:xfrm>
          <a:prstGeom prst="rect">
            <a:avLst/>
          </a:prstGeom>
          <a:noFill/>
        </p:spPr>
        <p:txBody>
          <a:bodyPr wrap="square" lIns="0" rIns="0" tIns="0" bIns="0"/>
          <a:lstStyle/>
          <a:p>
            <a:pPr>
              <a:spcAft>
                <a:spcPts val="700"/>
              </a:spcAft>
            </a:pPr>
            <a:r>
              <a:rPr sz="1200" b="1" i="0">
                <a:solidFill>
                  <a:srgbClr val="0E6E7C"/>
                </a:solidFill>
                <a:latin typeface="Calibri"/>
              </a:rPr>
              <a:t>1.  </a:t>
            </a:r>
            <a:r>
              <a:rPr sz="1200" b="1" i="0">
                <a:solidFill>
                  <a:srgbClr val="162333"/>
                </a:solidFill>
                <a:latin typeface="Calibri"/>
              </a:rPr>
              <a:t>Input.</a:t>
            </a:r>
            <a:r>
              <a:rPr sz="1200" b="0" i="0">
                <a:solidFill>
                  <a:srgbClr val="243140"/>
                </a:solidFill>
                <a:latin typeface="Calibri"/>
              </a:rPr>
              <a:t>  On each request the API reads the current static record per MMSI for AIS type 70 to 89, joined to the vessel's last reported position.</a:t>
            </a:r>
          </a:p>
          <a:p>
            <a:pPr>
              <a:spcAft>
                <a:spcPts val="700"/>
              </a:spcAft>
            </a:pPr>
            <a:r>
              <a:rPr sz="1200" b="1" i="0">
                <a:solidFill>
                  <a:srgbClr val="0E6E7C"/>
                </a:solidFill>
                <a:latin typeface="Calibri"/>
              </a:rPr>
              <a:t>2.  </a:t>
            </a:r>
            <a:r>
              <a:rPr sz="1200" b="1" i="0">
                <a:solidFill>
                  <a:srgbClr val="162333"/>
                </a:solidFill>
                <a:latin typeface="Calibri"/>
              </a:rPr>
              <a:t>Normalisation.</a:t>
            </a:r>
            <a:r>
              <a:rPr sz="1200" b="0" i="0">
                <a:solidFill>
                  <a:srgbClr val="243140"/>
                </a:solidFill>
                <a:latin typeface="Calibri"/>
              </a:rPr>
              <a:t>  Names and call signs are upper-cased and AIS padding is removed. Values under 3 characters are ignored. An IMO must be 7 digits; placeholder and repeated-digit IMOs are discarded.</a:t>
            </a:r>
          </a:p>
          <a:p>
            <a:pPr>
              <a:spcAft>
                <a:spcPts val="700"/>
              </a:spcAft>
            </a:pPr>
            <a:r>
              <a:rPr sz="1200" b="1" i="0">
                <a:solidFill>
                  <a:srgbClr val="0E6E7C"/>
                </a:solidFill>
                <a:latin typeface="Calibri"/>
              </a:rPr>
              <a:t>3.  </a:t>
            </a:r>
            <a:r>
              <a:rPr sz="1200" b="1" i="0">
                <a:solidFill>
                  <a:srgbClr val="162333"/>
                </a:solidFill>
                <a:latin typeface="Calibri"/>
              </a:rPr>
              <a:t>Matching.</a:t>
            </a:r>
            <a:r>
              <a:rPr sz="1200" b="0" i="0">
                <a:solidFill>
                  <a:srgbClr val="243140"/>
                </a:solidFill>
                <a:latin typeface="Calibri"/>
              </a:rPr>
              <a:t>  Two MMSIs describe the same hull when the IMO matches together with the name, call sign or dimensions, or when the name matches together with the call sign or dimensions. One shared field is never sufficient.</a:t>
            </a:r>
          </a:p>
          <a:p>
            <a:pPr>
              <a:spcAft>
                <a:spcPts val="700"/>
              </a:spcAft>
            </a:pPr>
            <a:r>
              <a:rPr sz="1200" b="1" i="0">
                <a:solidFill>
                  <a:srgbClr val="0E6E7C"/>
                </a:solidFill>
                <a:latin typeface="Calibri"/>
              </a:rPr>
              <a:t>4.  </a:t>
            </a:r>
            <a:r>
              <a:rPr sz="1200" b="1" i="0">
                <a:solidFill>
                  <a:srgbClr val="162333"/>
                </a:solidFill>
                <a:latin typeface="Calibri"/>
              </a:rPr>
              <a:t>Grouping.</a:t>
            </a:r>
            <a:r>
              <a:rPr sz="1200" b="0" i="0">
                <a:solidFill>
                  <a:srgbClr val="243140"/>
                </a:solidFill>
                <a:latin typeface="Calibri"/>
              </a:rPr>
              <a:t>  Matched pairs are merged into groups of two or more MMSIs using a union-find structure. Each group carries its latest AIS time and the distance between its members' last positions.</a:t>
            </a:r>
          </a:p>
          <a:p>
            <a:pPr>
              <a:spcAft>
                <a:spcPts val="700"/>
              </a:spcAft>
            </a:pPr>
            <a:r>
              <a:rPr sz="1200" b="1" i="0">
                <a:solidFill>
                  <a:srgbClr val="0E6E7C"/>
                </a:solidFill>
                <a:latin typeface="Calibri"/>
              </a:rPr>
              <a:t>5.  </a:t>
            </a:r>
            <a:r>
              <a:rPr sz="1200" b="1" i="0">
                <a:solidFill>
                  <a:srgbClr val="162333"/>
                </a:solidFill>
                <a:latin typeface="Calibri"/>
              </a:rPr>
              <a:t>Screening.</a:t>
            </a:r>
            <a:r>
              <a:rPr sz="1200" b="0" i="0">
                <a:solidFill>
                  <a:srgbClr val="243140"/>
                </a:solidFill>
                <a:latin typeface="Calibri"/>
              </a:rPr>
              <a:t>  OFAC matching is applied to every member and sanctioned groups are listed first.</a:t>
            </a:r>
          </a:p>
        </p:txBody>
      </p:sp>
      <p:sp>
        <p:nvSpPr>
          <p:cNvPr id="10" name="TextBox 9"/>
          <p:cNvSpPr txBox="1"/>
          <p:nvPr/>
        </p:nvSpPr>
        <p:spPr>
          <a:xfrm>
            <a:off x="4800600" y="1444752"/>
            <a:ext cx="3154680" cy="201168"/>
          </a:xfrm>
          <a:prstGeom prst="rect">
            <a:avLst/>
          </a:prstGeom>
          <a:noFill/>
        </p:spPr>
        <p:txBody>
          <a:bodyPr wrap="square" lIns="0" rIns="0" tIns="0" bIns="0" anchor="t"/>
          <a:lstStyle/>
          <a:p>
            <a:pPr algn="l"/>
            <a:r>
              <a:rPr sz="1050" b="1" i="0">
                <a:solidFill>
                  <a:srgbClr val="0E6E7C"/>
                </a:solidFill>
                <a:latin typeface="Calibri"/>
              </a:rPr>
              <a:t>HOW THE DASHBOARD FIGURES ARE DERIVED</a:t>
            </a:r>
          </a:p>
        </p:txBody>
      </p:sp>
      <p:sp>
        <p:nvSpPr>
          <p:cNvPr id="11" name="Rectangle 10"/>
          <p:cNvSpPr/>
          <p:nvPr/>
        </p:nvSpPr>
        <p:spPr>
          <a:xfrm>
            <a:off x="4800600" y="1691640"/>
            <a:ext cx="3154680" cy="18288"/>
          </a:xfrm>
          <a:prstGeom prst="rect">
            <a:avLst/>
          </a:prstGeom>
          <a:solidFill>
            <a:srgbClr val="E3D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00600" y="1810512"/>
            <a:ext cx="3154680" cy="4526280"/>
          </a:xfrm>
          <a:prstGeom prst="rect">
            <a:avLst/>
          </a:prstGeom>
          <a:noFill/>
        </p:spPr>
        <p:txBody>
          <a:bodyPr wrap="square" lIns="0" rIns="0" tIns="0" bIns="0"/>
          <a:lstStyle/>
          <a:p>
            <a:pPr>
              <a:spcAft>
                <a:spcPts val="100"/>
              </a:spcAft>
            </a:pPr>
            <a:r>
              <a:rPr sz="1150" b="1" i="0">
                <a:solidFill>
                  <a:srgbClr val="162333"/>
                </a:solidFill>
                <a:latin typeface="Calibri"/>
              </a:rPr>
              <a:t>Conflict groups</a:t>
            </a:r>
          </a:p>
          <a:p>
            <a:pPr>
              <a:spcAft>
                <a:spcPts val="700"/>
              </a:spcAft>
            </a:pPr>
            <a:r>
              <a:rPr sz="1100" b="0" i="0">
                <a:solidFill>
                  <a:srgbClr val="243140"/>
                </a:solidFill>
                <a:latin typeface="Calibri"/>
              </a:rPr>
              <a:t>Groups of two or more MMSIs resolved to one hull.</a:t>
            </a:r>
          </a:p>
          <a:p>
            <a:pPr>
              <a:spcAft>
                <a:spcPts val="100"/>
              </a:spcAft>
            </a:pPr>
            <a:r>
              <a:rPr sz="1150" b="1" i="0">
                <a:solidFill>
                  <a:srgbClr val="162333"/>
                </a:solidFill>
                <a:latin typeface="Calibri"/>
              </a:rPr>
              <a:t>Identities involved</a:t>
            </a:r>
          </a:p>
          <a:p>
            <a:pPr>
              <a:spcAft>
                <a:spcPts val="700"/>
              </a:spcAft>
            </a:pPr>
            <a:r>
              <a:rPr sz="1100" b="0" i="0">
                <a:solidFill>
                  <a:srgbClr val="243140"/>
                </a:solidFill>
                <a:latin typeface="Calibri"/>
              </a:rPr>
              <a:t>MMSIs across all groups.</a:t>
            </a:r>
          </a:p>
          <a:p>
            <a:pPr>
              <a:spcAft>
                <a:spcPts val="100"/>
              </a:spcAft>
            </a:pPr>
            <a:r>
              <a:rPr sz="1150" b="1" i="0">
                <a:solidFill>
                  <a:srgbClr val="162333"/>
                </a:solidFill>
                <a:latin typeface="Calibri"/>
              </a:rPr>
              <a:t>Confirmed</a:t>
            </a:r>
          </a:p>
          <a:p>
            <a:pPr>
              <a:spcAft>
                <a:spcPts val="700"/>
              </a:spcAft>
            </a:pPr>
            <a:r>
              <a:rPr sz="1100" b="0" i="0">
                <a:solidFill>
                  <a:srgbClr val="243140"/>
                </a:solidFill>
                <a:latin typeface="Calibri"/>
              </a:rPr>
              <a:t>Groups whose match is anchored on a shared, valid IMO number.</a:t>
            </a:r>
          </a:p>
          <a:p>
            <a:pPr>
              <a:spcAft>
                <a:spcPts val="100"/>
              </a:spcAft>
            </a:pPr>
            <a:r>
              <a:rPr sz="1150" b="1" i="0">
                <a:solidFill>
                  <a:srgbClr val="162333"/>
                </a:solidFill>
                <a:latin typeface="Calibri"/>
              </a:rPr>
              <a:t>Sanctioned groups</a:t>
            </a:r>
          </a:p>
          <a:p>
            <a:pPr>
              <a:spcAft>
                <a:spcPts val="700"/>
              </a:spcAft>
            </a:pPr>
            <a:r>
              <a:rPr sz="1100" b="0" i="0">
                <a:solidFill>
                  <a:srgbClr val="243140"/>
                </a:solidFill>
                <a:latin typeface="Calibri"/>
              </a:rPr>
              <a:t>Groups with at least one member matching the OFAC list.</a:t>
            </a:r>
          </a:p>
          <a:p>
            <a:pPr>
              <a:spcAft>
                <a:spcPts val="100"/>
              </a:spcAft>
            </a:pPr>
            <a:r>
              <a:rPr sz="1150" b="1" i="0">
                <a:solidFill>
                  <a:srgbClr val="162333"/>
                </a:solidFill>
                <a:latin typeface="Calibri"/>
              </a:rPr>
              <a:t>Candidates scanned</a:t>
            </a:r>
          </a:p>
          <a:p>
            <a:pPr>
              <a:spcAft>
                <a:spcPts val="700"/>
              </a:spcAft>
            </a:pPr>
            <a:r>
              <a:rPr sz="1100" b="0" i="0">
                <a:solidFill>
                  <a:srgbClr val="243140"/>
                </a:solidFill>
                <a:latin typeface="Calibri"/>
              </a:rPr>
              <a:t>Static records evaluated on this request.</a:t>
            </a:r>
          </a:p>
        </p:txBody>
      </p:sp>
      <p:sp>
        <p:nvSpPr>
          <p:cNvPr id="13" name="Rectangle 12"/>
          <p:cNvSpPr/>
          <p:nvPr/>
        </p:nvSpPr>
        <p:spPr>
          <a:xfrm>
            <a:off x="8147304" y="1426464"/>
            <a:ext cx="3639312" cy="3385695"/>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07-identity.png"/>
          <p:cNvPicPr>
            <a:picLocks noChangeAspect="1"/>
          </p:cNvPicPr>
          <p:nvPr/>
        </p:nvPicPr>
        <p:blipFill>
          <a:blip r:embed="rId2"/>
          <a:stretch>
            <a:fillRect/>
          </a:stretch>
        </p:blipFill>
        <p:spPr>
          <a:xfrm>
            <a:off x="8183879" y="1463040"/>
            <a:ext cx="3566160" cy="3312543"/>
          </a:xfrm>
          <a:prstGeom prst="rect">
            <a:avLst/>
          </a:prstGeom>
        </p:spPr>
      </p:pic>
      <p:sp>
        <p:nvSpPr>
          <p:cNvPr id="15" name="TextBox 14"/>
          <p:cNvSpPr txBox="1"/>
          <p:nvPr/>
        </p:nvSpPr>
        <p:spPr>
          <a:xfrm>
            <a:off x="8183879" y="4867023"/>
            <a:ext cx="3566160" cy="237744"/>
          </a:xfrm>
          <a:prstGeom prst="rect">
            <a:avLst/>
          </a:prstGeom>
          <a:noFill/>
        </p:spPr>
        <p:txBody>
          <a:bodyPr wrap="square" lIns="0" rIns="0" tIns="0" bIns="0" anchor="t"/>
          <a:lstStyle/>
          <a:p>
            <a:pPr algn="l"/>
            <a:r>
              <a:rPr sz="1050" b="1" i="0">
                <a:solidFill>
                  <a:srgbClr val="0E6E7C"/>
                </a:solidFill>
                <a:latin typeface="Calibri"/>
              </a:rPr>
              <a:t>Dashboard location:  Intelligence  &gt;  Identity Conflict</a:t>
            </a:r>
          </a:p>
        </p:txBody>
      </p:sp>
      <p:sp>
        <p:nvSpPr>
          <p:cNvPr id="16" name="Rounded Rectangle 15"/>
          <p:cNvSpPr/>
          <p:nvPr/>
        </p:nvSpPr>
        <p:spPr>
          <a:xfrm>
            <a:off x="8183879" y="5187063"/>
            <a:ext cx="3566160" cy="1168016"/>
          </a:xfrm>
          <a:prstGeom prst="roundRect">
            <a:avLst>
              <a:gd name="adj" fmla="val 8000"/>
            </a:avLst>
          </a:prstGeom>
          <a:solidFill>
            <a:srgbClr val="12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9327" y="5278503"/>
            <a:ext cx="3291840" cy="201168"/>
          </a:xfrm>
          <a:prstGeom prst="rect">
            <a:avLst/>
          </a:prstGeom>
          <a:noFill/>
        </p:spPr>
        <p:txBody>
          <a:bodyPr wrap="square" lIns="0" rIns="0" tIns="0" bIns="0" anchor="t"/>
          <a:lstStyle/>
          <a:p>
            <a:pPr algn="l"/>
            <a:r>
              <a:rPr sz="950" b="1" i="0">
                <a:solidFill>
                  <a:srgbClr val="1FA7B8"/>
                </a:solidFill>
                <a:latin typeface="Calibri"/>
              </a:rPr>
              <a:t>KEY PARAMETERS</a:t>
            </a:r>
          </a:p>
        </p:txBody>
      </p:sp>
      <p:sp>
        <p:nvSpPr>
          <p:cNvPr id="18" name="TextBox 17"/>
          <p:cNvSpPr txBox="1"/>
          <p:nvPr/>
        </p:nvSpPr>
        <p:spPr>
          <a:xfrm>
            <a:off x="8339327" y="5516247"/>
            <a:ext cx="3291840" cy="802256"/>
          </a:xfrm>
          <a:prstGeom prst="rect">
            <a:avLst/>
          </a:prstGeom>
          <a:noFill/>
        </p:spPr>
        <p:txBody>
          <a:bodyPr wrap="square" lIns="0" rIns="0" tIns="0" bIns="0"/>
          <a:lstStyle/>
          <a:p>
            <a:pPr>
              <a:spcAft>
                <a:spcPts val="200"/>
              </a:spcAft>
            </a:pPr>
            <a:r>
              <a:rPr sz="950" b="1" i="0">
                <a:solidFill>
                  <a:srgbClr val="FFFFFF"/>
                </a:solidFill>
                <a:latin typeface="Calibri"/>
              </a:rPr>
              <a:t>Match rule</a:t>
            </a:r>
            <a:r>
              <a:rPr sz="950" b="0" i="0">
                <a:solidFill>
                  <a:srgbClr val="D5E0E8"/>
                </a:solidFill>
                <a:latin typeface="Calibri"/>
              </a:rPr>
              <a:t>  IMO + one field, or name + one field</a:t>
            </a:r>
          </a:p>
          <a:p>
            <a:pPr>
              <a:spcAft>
                <a:spcPts val="200"/>
              </a:spcAft>
            </a:pPr>
            <a:r>
              <a:rPr sz="950" b="1" i="0">
                <a:solidFill>
                  <a:srgbClr val="FFFFFF"/>
                </a:solidFill>
                <a:latin typeface="Calibri"/>
              </a:rPr>
              <a:t>Fields</a:t>
            </a:r>
            <a:r>
              <a:rPr sz="950" b="0" i="0">
                <a:solidFill>
                  <a:srgbClr val="D5E0E8"/>
                </a:solidFill>
                <a:latin typeface="Calibri"/>
              </a:rPr>
              <a:t>  IMO, name, call sign, dimensions</a:t>
            </a:r>
          </a:p>
          <a:p>
            <a:pPr>
              <a:spcAft>
                <a:spcPts val="200"/>
              </a:spcAft>
            </a:pPr>
            <a:r>
              <a:rPr sz="950" b="1" i="0">
                <a:solidFill>
                  <a:srgbClr val="FFFFFF"/>
                </a:solidFill>
                <a:latin typeface="Calibri"/>
              </a:rPr>
              <a:t>Ignored</a:t>
            </a:r>
            <a:r>
              <a:rPr sz="950" b="0" i="0">
                <a:solidFill>
                  <a:srgbClr val="D5E0E8"/>
                </a:solidFill>
                <a:latin typeface="Calibri"/>
              </a:rPr>
              <a:t>  Placeholder IMOs, short names</a:t>
            </a:r>
          </a:p>
          <a:p>
            <a:pPr>
              <a:spcAft>
                <a:spcPts val="200"/>
              </a:spcAft>
            </a:pPr>
            <a:r>
              <a:rPr sz="950" b="1" i="0">
                <a:solidFill>
                  <a:srgbClr val="FFFFFF"/>
                </a:solidFill>
                <a:latin typeface="Calibri"/>
              </a:rPr>
              <a:t>Vessel types</a:t>
            </a:r>
            <a:r>
              <a:rPr sz="950" b="0" i="0">
                <a:solidFill>
                  <a:srgbClr val="D5E0E8"/>
                </a:solidFill>
                <a:latin typeface="Calibri"/>
              </a:rPr>
              <a:t>  AIS 70 to 89</a:t>
            </a:r>
          </a:p>
        </p:txBody>
      </p:sp>
      <p:sp>
        <p:nvSpPr>
          <p:cNvPr id="19" name="TextBox 18"/>
          <p:cNvSpPr txBox="1"/>
          <p:nvPr/>
        </p:nvSpPr>
        <p:spPr>
          <a:xfrm>
            <a:off x="438912" y="6492240"/>
            <a:ext cx="5486400" cy="237744"/>
          </a:xfrm>
          <a:prstGeom prst="rect">
            <a:avLst/>
          </a:prstGeom>
          <a:noFill/>
        </p:spPr>
        <p:txBody>
          <a:bodyPr wrap="square" lIns="0" rIns="0" tIns="0" bIns="0" anchor="t"/>
          <a:lstStyle/>
          <a:p>
            <a:pPr algn="l"/>
            <a:r>
              <a:rPr sz="1000" b="1" i="0">
                <a:solidFill>
                  <a:srgbClr val="5C6874"/>
                </a:solidFill>
                <a:latin typeface="Calibri"/>
              </a:rPr>
              <a:t>MANTIS  |  Maritime Intelligence &amp; Intercept System</a:t>
            </a:r>
          </a:p>
        </p:txBody>
      </p:sp>
      <p:sp>
        <p:nvSpPr>
          <p:cNvPr id="20" name="TextBox 19"/>
          <p:cNvSpPr txBox="1"/>
          <p:nvPr/>
        </p:nvSpPr>
        <p:spPr>
          <a:xfrm>
            <a:off x="4754880" y="6492240"/>
            <a:ext cx="2743200" cy="237744"/>
          </a:xfrm>
          <a:prstGeom prst="rect">
            <a:avLst/>
          </a:prstGeom>
          <a:noFill/>
        </p:spPr>
        <p:txBody>
          <a:bodyPr wrap="square" lIns="0" rIns="0" tIns="0" bIns="0" anchor="t"/>
          <a:lstStyle/>
          <a:p>
            <a:pPr algn="ctr"/>
            <a:r>
              <a:rPr sz="1000" b="0" i="0">
                <a:solidFill>
                  <a:srgbClr val="5C6874"/>
                </a:solidFill>
                <a:latin typeface="Calibri"/>
              </a:rPr>
              <a:t>October 2026</a:t>
            </a:r>
          </a:p>
        </p:txBody>
      </p:sp>
      <p:sp>
        <p:nvSpPr>
          <p:cNvPr id="21" name="TextBox 20"/>
          <p:cNvSpPr txBox="1"/>
          <p:nvPr/>
        </p:nvSpPr>
        <p:spPr>
          <a:xfrm>
            <a:off x="10332720" y="6492240"/>
            <a:ext cx="1417320" cy="237744"/>
          </a:xfrm>
          <a:prstGeom prst="rect">
            <a:avLst/>
          </a:prstGeom>
          <a:noFill/>
        </p:spPr>
        <p:txBody>
          <a:bodyPr wrap="square" lIns="0" rIns="0" tIns="0" bIns="0" anchor="t"/>
          <a:lstStyle/>
          <a:p>
            <a:pPr algn="r"/>
            <a:r>
              <a:rPr sz="1000" b="0" i="0">
                <a:solidFill>
                  <a:srgbClr val="5C6874"/>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1FA7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56032"/>
            <a:ext cx="8229600" cy="219456"/>
          </a:xfrm>
          <a:prstGeom prst="rect">
            <a:avLst/>
          </a:prstGeom>
          <a:noFill/>
        </p:spPr>
        <p:txBody>
          <a:bodyPr wrap="square" lIns="0" rIns="0" tIns="0" bIns="0" anchor="t"/>
          <a:lstStyle/>
          <a:p>
            <a:pPr algn="l"/>
            <a:r>
              <a:rPr sz="1100" b="1" i="0">
                <a:solidFill>
                  <a:srgbClr val="0E6E7C"/>
                </a:solidFill>
                <a:latin typeface="Calibri"/>
              </a:rPr>
              <a:t>ANALYTICS MODULE  |  SANCTIONS SCREENING</a:t>
            </a:r>
          </a:p>
        </p:txBody>
      </p:sp>
      <p:sp>
        <p:nvSpPr>
          <p:cNvPr id="5" name="TextBox 4"/>
          <p:cNvSpPr txBox="1"/>
          <p:nvPr/>
        </p:nvSpPr>
        <p:spPr>
          <a:xfrm>
            <a:off x="420624" y="457200"/>
            <a:ext cx="11338560" cy="457200"/>
          </a:xfrm>
          <a:prstGeom prst="rect">
            <a:avLst/>
          </a:prstGeom>
          <a:noFill/>
        </p:spPr>
        <p:txBody>
          <a:bodyPr wrap="square" lIns="0" rIns="0" tIns="0" bIns="0" anchor="t"/>
          <a:lstStyle/>
          <a:p>
            <a:pPr algn="l"/>
            <a:r>
              <a:rPr sz="2600" b="1" i="0">
                <a:solidFill>
                  <a:srgbClr val="0A1628"/>
                </a:solidFill>
                <a:latin typeface="Calibri"/>
              </a:rPr>
              <a:t>Sanctions screening</a:t>
            </a:r>
          </a:p>
        </p:txBody>
      </p:sp>
      <p:sp>
        <p:nvSpPr>
          <p:cNvPr id="6" name="TextBox 5"/>
          <p:cNvSpPr txBox="1"/>
          <p:nvPr/>
        </p:nvSpPr>
        <p:spPr>
          <a:xfrm>
            <a:off x="438912" y="932688"/>
            <a:ext cx="11292840" cy="384048"/>
          </a:xfrm>
          <a:prstGeom prst="rect">
            <a:avLst/>
          </a:prstGeom>
          <a:noFill/>
        </p:spPr>
        <p:txBody>
          <a:bodyPr wrap="square" lIns="0" rIns="0" tIns="0" bIns="0" anchor="t"/>
          <a:lstStyle/>
          <a:p>
            <a:pPr algn="l"/>
            <a:r>
              <a:rPr sz="1350" b="0" i="0">
                <a:solidFill>
                  <a:srgbClr val="5C6874"/>
                </a:solidFill>
                <a:latin typeface="Calibri"/>
              </a:rPr>
              <a:t>Screens every vessel surfaced by the analytics modules against the OFAC sanctions lists.</a:t>
            </a:r>
          </a:p>
        </p:txBody>
      </p:sp>
      <p:sp>
        <p:nvSpPr>
          <p:cNvPr id="7" name="TextBox 6"/>
          <p:cNvSpPr txBox="1"/>
          <p:nvPr/>
        </p:nvSpPr>
        <p:spPr>
          <a:xfrm>
            <a:off x="438912" y="1444752"/>
            <a:ext cx="4114800" cy="201168"/>
          </a:xfrm>
          <a:prstGeom prst="rect">
            <a:avLst/>
          </a:prstGeom>
          <a:noFill/>
        </p:spPr>
        <p:txBody>
          <a:bodyPr wrap="square" lIns="0" rIns="0" tIns="0" bIns="0" anchor="t"/>
          <a:lstStyle/>
          <a:p>
            <a:pPr algn="l"/>
            <a:r>
              <a:rPr sz="1050" b="1" i="0">
                <a:solidFill>
                  <a:srgbClr val="0E6E7C"/>
                </a:solidFill>
                <a:latin typeface="Calibri"/>
              </a:rPr>
              <a:t>DATA PIPELINE AND PROCESSING LOGIC</a:t>
            </a:r>
          </a:p>
        </p:txBody>
      </p:sp>
      <p:sp>
        <p:nvSpPr>
          <p:cNvPr id="8" name="Rectangle 7"/>
          <p:cNvSpPr/>
          <p:nvPr/>
        </p:nvSpPr>
        <p:spPr>
          <a:xfrm>
            <a:off x="438912" y="1691640"/>
            <a:ext cx="4114800" cy="18288"/>
          </a:xfrm>
          <a:prstGeom prst="rect">
            <a:avLst/>
          </a:prstGeom>
          <a:solidFill>
            <a:srgbClr val="E3D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810512"/>
            <a:ext cx="4114800" cy="4526280"/>
          </a:xfrm>
          <a:prstGeom prst="rect">
            <a:avLst/>
          </a:prstGeom>
          <a:noFill/>
        </p:spPr>
        <p:txBody>
          <a:bodyPr wrap="square" lIns="0" rIns="0" tIns="0" bIns="0"/>
          <a:lstStyle/>
          <a:p>
            <a:pPr>
              <a:spcAft>
                <a:spcPts val="700"/>
              </a:spcAft>
            </a:pPr>
            <a:r>
              <a:rPr sz="1200" b="1" i="0">
                <a:solidFill>
                  <a:srgbClr val="0E6E7C"/>
                </a:solidFill>
                <a:latin typeface="Calibri"/>
              </a:rPr>
              <a:t>1.  </a:t>
            </a:r>
            <a:r>
              <a:rPr sz="1200" b="1" i="0">
                <a:solidFill>
                  <a:srgbClr val="162333"/>
                </a:solidFill>
                <a:latin typeface="Calibri"/>
              </a:rPr>
              <a:t>Reference data.</a:t>
            </a:r>
            <a:r>
              <a:rPr sz="1200" b="0" i="0">
                <a:solidFill>
                  <a:srgbClr val="243140"/>
                </a:solidFill>
                <a:latin typeface="Calibri"/>
              </a:rPr>
              <a:t>  OFAC SDN and Consolidated vessel entries are held in the operational database. IMO and MMSI numbers are extracted from each entry and indexed in the API, refreshed every 5 minutes.</a:t>
            </a:r>
          </a:p>
          <a:p>
            <a:pPr>
              <a:spcAft>
                <a:spcPts val="700"/>
              </a:spcAft>
            </a:pPr>
            <a:r>
              <a:rPr sz="1200" b="1" i="0">
                <a:solidFill>
                  <a:srgbClr val="0E6E7C"/>
                </a:solidFill>
                <a:latin typeface="Calibri"/>
              </a:rPr>
              <a:t>2.  </a:t>
            </a:r>
            <a:r>
              <a:rPr sz="1200" b="1" i="0">
                <a:solidFill>
                  <a:srgbClr val="162333"/>
                </a:solidFill>
                <a:latin typeface="Calibri"/>
              </a:rPr>
              <a:t>Match order.</a:t>
            </a:r>
            <a:r>
              <a:rPr sz="1200" b="0" i="0">
                <a:solidFill>
                  <a:srgbClr val="243140"/>
                </a:solidFill>
                <a:latin typeface="Calibri"/>
              </a:rPr>
              <a:t>  An IMO match is recorded as confirmed. An MMSI match is used only when the vessel has no IMO and is recorded as possible. If the vessel has an IMO that does not match, the MMSI is not used, which avoids false matches on reassigned MMSIs. Names are not matched.</a:t>
            </a:r>
          </a:p>
          <a:p>
            <a:pPr>
              <a:spcAft>
                <a:spcPts val="700"/>
              </a:spcAft>
            </a:pPr>
            <a:r>
              <a:rPr sz="1200" b="1" i="0">
                <a:solidFill>
                  <a:srgbClr val="0E6E7C"/>
                </a:solidFill>
                <a:latin typeface="Calibri"/>
              </a:rPr>
              <a:t>3.  </a:t>
            </a:r>
            <a:r>
              <a:rPr sz="1200" b="1" i="0">
                <a:solidFill>
                  <a:srgbClr val="162333"/>
                </a:solidFill>
                <a:latin typeface="Calibri"/>
              </a:rPr>
              <a:t>Application.</a:t>
            </a:r>
            <a:r>
              <a:rPr sz="1200" b="0" i="0">
                <a:solidFill>
                  <a:srgbClr val="243140"/>
                </a:solidFill>
                <a:latin typeface="Calibri"/>
              </a:rPr>
              <a:t>  The label is attached to dark vessels, both sides of an STS pair, illegal anchoring, spoofing, loitering and identity groups. Sanctioned vessels are sorted to the top of every list.</a:t>
            </a:r>
          </a:p>
          <a:p>
            <a:pPr>
              <a:spcAft>
                <a:spcPts val="700"/>
              </a:spcAft>
            </a:pPr>
            <a:r>
              <a:rPr sz="1200" b="1" i="0">
                <a:solidFill>
                  <a:srgbClr val="0E6E7C"/>
                </a:solidFill>
                <a:latin typeface="Calibri"/>
              </a:rPr>
              <a:t>4.  </a:t>
            </a:r>
            <a:r>
              <a:rPr sz="1200" b="1" i="0">
                <a:solidFill>
                  <a:srgbClr val="162333"/>
                </a:solidFill>
                <a:latin typeface="Calibri"/>
              </a:rPr>
              <a:t>Scoring.</a:t>
            </a:r>
            <a:r>
              <a:rPr sz="1200" b="0" i="0">
                <a:solidFill>
                  <a:srgbClr val="243140"/>
                </a:solidFill>
                <a:latin typeface="Calibri"/>
              </a:rPr>
              <a:t>  The sanctions label affects priority only. It does not change the STS suspicion score or dark-vessel confidence.</a:t>
            </a:r>
          </a:p>
        </p:txBody>
      </p:sp>
      <p:sp>
        <p:nvSpPr>
          <p:cNvPr id="10" name="TextBox 9"/>
          <p:cNvSpPr txBox="1"/>
          <p:nvPr/>
        </p:nvSpPr>
        <p:spPr>
          <a:xfrm>
            <a:off x="4800600" y="1444752"/>
            <a:ext cx="3154680" cy="201168"/>
          </a:xfrm>
          <a:prstGeom prst="rect">
            <a:avLst/>
          </a:prstGeom>
          <a:noFill/>
        </p:spPr>
        <p:txBody>
          <a:bodyPr wrap="square" lIns="0" rIns="0" tIns="0" bIns="0" anchor="t"/>
          <a:lstStyle/>
          <a:p>
            <a:pPr algn="l"/>
            <a:r>
              <a:rPr sz="1050" b="1" i="0">
                <a:solidFill>
                  <a:srgbClr val="0E6E7C"/>
                </a:solidFill>
                <a:latin typeface="Calibri"/>
              </a:rPr>
              <a:t>HOW THE DASHBOARD FIGURES ARE DERIVED</a:t>
            </a:r>
          </a:p>
        </p:txBody>
      </p:sp>
      <p:sp>
        <p:nvSpPr>
          <p:cNvPr id="11" name="Rectangle 10"/>
          <p:cNvSpPr/>
          <p:nvPr/>
        </p:nvSpPr>
        <p:spPr>
          <a:xfrm>
            <a:off x="4800600" y="1691640"/>
            <a:ext cx="3154680" cy="18288"/>
          </a:xfrm>
          <a:prstGeom prst="rect">
            <a:avLst/>
          </a:prstGeom>
          <a:solidFill>
            <a:srgbClr val="E3D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00600" y="1810512"/>
            <a:ext cx="3154680" cy="4526280"/>
          </a:xfrm>
          <a:prstGeom prst="rect">
            <a:avLst/>
          </a:prstGeom>
          <a:noFill/>
        </p:spPr>
        <p:txBody>
          <a:bodyPr wrap="square" lIns="0" rIns="0" tIns="0" bIns="0"/>
          <a:lstStyle/>
          <a:p>
            <a:pPr>
              <a:spcAft>
                <a:spcPts val="100"/>
              </a:spcAft>
            </a:pPr>
            <a:r>
              <a:rPr sz="1150" b="1" i="0">
                <a:solidFill>
                  <a:srgbClr val="162333"/>
                </a:solidFill>
                <a:latin typeface="Calibri"/>
              </a:rPr>
              <a:t>Listed vessels</a:t>
            </a:r>
          </a:p>
          <a:p>
            <a:pPr>
              <a:spcAft>
                <a:spcPts val="700"/>
              </a:spcAft>
            </a:pPr>
            <a:r>
              <a:rPr sz="1100" b="0" i="0">
                <a:solidFill>
                  <a:srgbClr val="243140"/>
                </a:solidFill>
                <a:latin typeface="Calibri"/>
              </a:rPr>
              <a:t>Vessel entries in the sanctions registry.</a:t>
            </a:r>
          </a:p>
          <a:p>
            <a:pPr>
              <a:spcAft>
                <a:spcPts val="100"/>
              </a:spcAft>
            </a:pPr>
            <a:r>
              <a:rPr sz="1150" b="1" i="0">
                <a:solidFill>
                  <a:srgbClr val="162333"/>
                </a:solidFill>
                <a:latin typeface="Calibri"/>
              </a:rPr>
              <a:t>Seen in region now</a:t>
            </a:r>
          </a:p>
          <a:p>
            <a:pPr>
              <a:spcAft>
                <a:spcPts val="700"/>
              </a:spcAft>
            </a:pPr>
            <a:r>
              <a:rPr sz="1100" b="0" i="0">
                <a:solidFill>
                  <a:srgbClr val="243140"/>
                </a:solidFill>
                <a:latin typeface="Calibri"/>
              </a:rPr>
              <a:t>Listed vessels present in at least one of the live module feeds.</a:t>
            </a:r>
          </a:p>
          <a:p>
            <a:pPr>
              <a:spcAft>
                <a:spcPts val="100"/>
              </a:spcAft>
            </a:pPr>
            <a:r>
              <a:rPr sz="1150" b="1" i="0">
                <a:solidFill>
                  <a:srgbClr val="162333"/>
                </a:solidFill>
                <a:latin typeface="Calibri"/>
              </a:rPr>
              <a:t>Feeds checked</a:t>
            </a:r>
          </a:p>
          <a:p>
            <a:pPr>
              <a:spcAft>
                <a:spcPts val="700"/>
              </a:spcAft>
            </a:pPr>
            <a:r>
              <a:rPr sz="1100" b="0" i="0">
                <a:solidFill>
                  <a:srgbClr val="243140"/>
                </a:solidFill>
                <a:latin typeface="Calibri"/>
              </a:rPr>
              <a:t>Live module feeds re-queried for matches: dark vessels, STS, illegal anchoring and spoofing.</a:t>
            </a:r>
          </a:p>
          <a:p>
            <a:pPr>
              <a:spcAft>
                <a:spcPts val="100"/>
              </a:spcAft>
            </a:pPr>
            <a:r>
              <a:rPr sz="1150" b="1" i="0">
                <a:solidFill>
                  <a:srgbClr val="162333"/>
                </a:solidFill>
                <a:latin typeface="Calibri"/>
              </a:rPr>
              <a:t>Programmes</a:t>
            </a:r>
          </a:p>
          <a:p>
            <a:pPr>
              <a:spcAft>
                <a:spcPts val="700"/>
              </a:spcAft>
            </a:pPr>
            <a:r>
              <a:rPr sz="1100" b="0" i="0">
                <a:solidFill>
                  <a:srgbClr val="243140"/>
                </a:solidFill>
                <a:latin typeface="Calibri"/>
              </a:rPr>
              <a:t>Distinct sanctions programmes across the listed entries.</a:t>
            </a:r>
          </a:p>
        </p:txBody>
      </p:sp>
      <p:sp>
        <p:nvSpPr>
          <p:cNvPr id="13" name="Rectangle 12"/>
          <p:cNvSpPr/>
          <p:nvPr/>
        </p:nvSpPr>
        <p:spPr>
          <a:xfrm>
            <a:off x="8147304" y="1426464"/>
            <a:ext cx="3639312" cy="3385695"/>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08-sanctions.png"/>
          <p:cNvPicPr>
            <a:picLocks noChangeAspect="1"/>
          </p:cNvPicPr>
          <p:nvPr/>
        </p:nvPicPr>
        <p:blipFill>
          <a:blip r:embed="rId2"/>
          <a:stretch>
            <a:fillRect/>
          </a:stretch>
        </p:blipFill>
        <p:spPr>
          <a:xfrm>
            <a:off x="8183879" y="1463040"/>
            <a:ext cx="3566160" cy="3312543"/>
          </a:xfrm>
          <a:prstGeom prst="rect">
            <a:avLst/>
          </a:prstGeom>
        </p:spPr>
      </p:pic>
      <p:sp>
        <p:nvSpPr>
          <p:cNvPr id="15" name="TextBox 14"/>
          <p:cNvSpPr txBox="1"/>
          <p:nvPr/>
        </p:nvSpPr>
        <p:spPr>
          <a:xfrm>
            <a:off x="8183879" y="4867023"/>
            <a:ext cx="3566160" cy="237744"/>
          </a:xfrm>
          <a:prstGeom prst="rect">
            <a:avLst/>
          </a:prstGeom>
          <a:noFill/>
        </p:spPr>
        <p:txBody>
          <a:bodyPr wrap="square" lIns="0" rIns="0" tIns="0" bIns="0" anchor="t"/>
          <a:lstStyle/>
          <a:p>
            <a:pPr algn="l"/>
            <a:r>
              <a:rPr sz="1050" b="1" i="0">
                <a:solidFill>
                  <a:srgbClr val="0E6E7C"/>
                </a:solidFill>
                <a:latin typeface="Calibri"/>
              </a:rPr>
              <a:t>Dashboard location:  Intelligence  &gt;  Sanctions</a:t>
            </a:r>
          </a:p>
        </p:txBody>
      </p:sp>
      <p:sp>
        <p:nvSpPr>
          <p:cNvPr id="16" name="Rounded Rectangle 15"/>
          <p:cNvSpPr/>
          <p:nvPr/>
        </p:nvSpPr>
        <p:spPr>
          <a:xfrm>
            <a:off x="8183879" y="5187063"/>
            <a:ext cx="3566160" cy="1168016"/>
          </a:xfrm>
          <a:prstGeom prst="roundRect">
            <a:avLst>
              <a:gd name="adj" fmla="val 8000"/>
            </a:avLst>
          </a:prstGeom>
          <a:solidFill>
            <a:srgbClr val="12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9327" y="5278503"/>
            <a:ext cx="3291840" cy="201168"/>
          </a:xfrm>
          <a:prstGeom prst="rect">
            <a:avLst/>
          </a:prstGeom>
          <a:noFill/>
        </p:spPr>
        <p:txBody>
          <a:bodyPr wrap="square" lIns="0" rIns="0" tIns="0" bIns="0" anchor="t"/>
          <a:lstStyle/>
          <a:p>
            <a:pPr algn="l"/>
            <a:r>
              <a:rPr sz="950" b="1" i="0">
                <a:solidFill>
                  <a:srgbClr val="1FA7B8"/>
                </a:solidFill>
                <a:latin typeface="Calibri"/>
              </a:rPr>
              <a:t>KEY PARAMETERS</a:t>
            </a:r>
          </a:p>
        </p:txBody>
      </p:sp>
      <p:sp>
        <p:nvSpPr>
          <p:cNvPr id="18" name="TextBox 17"/>
          <p:cNvSpPr txBox="1"/>
          <p:nvPr/>
        </p:nvSpPr>
        <p:spPr>
          <a:xfrm>
            <a:off x="8339327" y="5516247"/>
            <a:ext cx="3291840" cy="802256"/>
          </a:xfrm>
          <a:prstGeom prst="rect">
            <a:avLst/>
          </a:prstGeom>
          <a:noFill/>
        </p:spPr>
        <p:txBody>
          <a:bodyPr wrap="square" lIns="0" rIns="0" tIns="0" bIns="0"/>
          <a:lstStyle/>
          <a:p>
            <a:pPr>
              <a:spcAft>
                <a:spcPts val="200"/>
              </a:spcAft>
            </a:pPr>
            <a:r>
              <a:rPr sz="950" b="1" i="0">
                <a:solidFill>
                  <a:srgbClr val="FFFFFF"/>
                </a:solidFill>
                <a:latin typeface="Calibri"/>
              </a:rPr>
              <a:t>Confirmed</a:t>
            </a:r>
            <a:r>
              <a:rPr sz="950" b="0" i="0">
                <a:solidFill>
                  <a:srgbClr val="D5E0E8"/>
                </a:solidFill>
                <a:latin typeface="Calibri"/>
              </a:rPr>
              <a:t>  IMO match</a:t>
            </a:r>
          </a:p>
          <a:p>
            <a:pPr>
              <a:spcAft>
                <a:spcPts val="200"/>
              </a:spcAft>
            </a:pPr>
            <a:r>
              <a:rPr sz="950" b="1" i="0">
                <a:solidFill>
                  <a:srgbClr val="FFFFFF"/>
                </a:solidFill>
                <a:latin typeface="Calibri"/>
              </a:rPr>
              <a:t>Possible</a:t>
            </a:r>
            <a:r>
              <a:rPr sz="950" b="0" i="0">
                <a:solidFill>
                  <a:srgbClr val="D5E0E8"/>
                </a:solidFill>
                <a:latin typeface="Calibri"/>
              </a:rPr>
              <a:t>  MMSI match, vessel has no IMO</a:t>
            </a:r>
          </a:p>
          <a:p>
            <a:pPr>
              <a:spcAft>
                <a:spcPts val="200"/>
              </a:spcAft>
            </a:pPr>
            <a:r>
              <a:rPr sz="950" b="1" i="0">
                <a:solidFill>
                  <a:srgbClr val="FFFFFF"/>
                </a:solidFill>
                <a:latin typeface="Calibri"/>
              </a:rPr>
              <a:t>Index refresh</a:t>
            </a:r>
            <a:r>
              <a:rPr sz="950" b="0" i="0">
                <a:solidFill>
                  <a:srgbClr val="D5E0E8"/>
                </a:solidFill>
                <a:latin typeface="Calibri"/>
              </a:rPr>
              <a:t>  5 minutes</a:t>
            </a:r>
          </a:p>
          <a:p>
            <a:pPr>
              <a:spcAft>
                <a:spcPts val="200"/>
              </a:spcAft>
            </a:pPr>
            <a:r>
              <a:rPr sz="950" b="1" i="0">
                <a:solidFill>
                  <a:srgbClr val="FFFFFF"/>
                </a:solidFill>
                <a:latin typeface="Calibri"/>
              </a:rPr>
              <a:t>Effect</a:t>
            </a:r>
            <a:r>
              <a:rPr sz="950" b="0" i="0">
                <a:solidFill>
                  <a:srgbClr val="D5E0E8"/>
                </a:solidFill>
                <a:latin typeface="Calibri"/>
              </a:rPr>
              <a:t>  Ordering only, no score change</a:t>
            </a:r>
          </a:p>
        </p:txBody>
      </p:sp>
      <p:sp>
        <p:nvSpPr>
          <p:cNvPr id="19" name="TextBox 18"/>
          <p:cNvSpPr txBox="1"/>
          <p:nvPr/>
        </p:nvSpPr>
        <p:spPr>
          <a:xfrm>
            <a:off x="438912" y="6492240"/>
            <a:ext cx="5486400" cy="237744"/>
          </a:xfrm>
          <a:prstGeom prst="rect">
            <a:avLst/>
          </a:prstGeom>
          <a:noFill/>
        </p:spPr>
        <p:txBody>
          <a:bodyPr wrap="square" lIns="0" rIns="0" tIns="0" bIns="0" anchor="t"/>
          <a:lstStyle/>
          <a:p>
            <a:pPr algn="l"/>
            <a:r>
              <a:rPr sz="1000" b="1" i="0">
                <a:solidFill>
                  <a:srgbClr val="5C6874"/>
                </a:solidFill>
                <a:latin typeface="Calibri"/>
              </a:rPr>
              <a:t>MANTIS  |  Maritime Intelligence &amp; Intercept System</a:t>
            </a:r>
          </a:p>
        </p:txBody>
      </p:sp>
      <p:sp>
        <p:nvSpPr>
          <p:cNvPr id="20" name="TextBox 19"/>
          <p:cNvSpPr txBox="1"/>
          <p:nvPr/>
        </p:nvSpPr>
        <p:spPr>
          <a:xfrm>
            <a:off x="4754880" y="6492240"/>
            <a:ext cx="2743200" cy="237744"/>
          </a:xfrm>
          <a:prstGeom prst="rect">
            <a:avLst/>
          </a:prstGeom>
          <a:noFill/>
        </p:spPr>
        <p:txBody>
          <a:bodyPr wrap="square" lIns="0" rIns="0" tIns="0" bIns="0" anchor="t"/>
          <a:lstStyle/>
          <a:p>
            <a:pPr algn="ctr"/>
            <a:r>
              <a:rPr sz="1000" b="0" i="0">
                <a:solidFill>
                  <a:srgbClr val="5C6874"/>
                </a:solidFill>
                <a:latin typeface="Calibri"/>
              </a:rPr>
              <a:t>October 2026</a:t>
            </a:r>
          </a:p>
        </p:txBody>
      </p:sp>
      <p:sp>
        <p:nvSpPr>
          <p:cNvPr id="21" name="TextBox 20"/>
          <p:cNvSpPr txBox="1"/>
          <p:nvPr/>
        </p:nvSpPr>
        <p:spPr>
          <a:xfrm>
            <a:off x="10332720" y="6492240"/>
            <a:ext cx="1417320" cy="237744"/>
          </a:xfrm>
          <a:prstGeom prst="rect">
            <a:avLst/>
          </a:prstGeom>
          <a:noFill/>
        </p:spPr>
        <p:txBody>
          <a:bodyPr wrap="square" lIns="0" rIns="0" tIns="0" bIns="0" anchor="t"/>
          <a:lstStyle/>
          <a:p>
            <a:pPr algn="r"/>
            <a:r>
              <a:rPr sz="1000" b="0" i="0">
                <a:solidFill>
                  <a:srgbClr val="5C6874"/>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1FA7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56032"/>
            <a:ext cx="8229600" cy="219456"/>
          </a:xfrm>
          <a:prstGeom prst="rect">
            <a:avLst/>
          </a:prstGeom>
          <a:noFill/>
        </p:spPr>
        <p:txBody>
          <a:bodyPr wrap="square" lIns="0" rIns="0" tIns="0" bIns="0" anchor="t"/>
          <a:lstStyle/>
          <a:p>
            <a:pPr algn="l"/>
            <a:r>
              <a:rPr sz="1100" b="1" i="0">
                <a:solidFill>
                  <a:srgbClr val="0E6E7C"/>
                </a:solidFill>
                <a:latin typeface="Calibri"/>
              </a:rPr>
              <a:t>MODULE INTEGRATION</a:t>
            </a:r>
          </a:p>
        </p:txBody>
      </p:sp>
      <p:sp>
        <p:nvSpPr>
          <p:cNvPr id="5" name="TextBox 4"/>
          <p:cNvSpPr txBox="1"/>
          <p:nvPr/>
        </p:nvSpPr>
        <p:spPr>
          <a:xfrm>
            <a:off x="420624" y="457200"/>
            <a:ext cx="11338560" cy="457200"/>
          </a:xfrm>
          <a:prstGeom prst="rect">
            <a:avLst/>
          </a:prstGeom>
          <a:noFill/>
        </p:spPr>
        <p:txBody>
          <a:bodyPr wrap="square" lIns="0" rIns="0" tIns="0" bIns="0" anchor="t"/>
          <a:lstStyle/>
          <a:p>
            <a:pPr algn="l"/>
            <a:r>
              <a:rPr sz="2600" b="1" i="0">
                <a:solidFill>
                  <a:srgbClr val="0A1628"/>
                </a:solidFill>
                <a:latin typeface="Calibri"/>
              </a:rPr>
              <a:t>Every STS observation is enriched with the outputs of the other modules</a:t>
            </a:r>
          </a:p>
        </p:txBody>
      </p:sp>
      <p:sp>
        <p:nvSpPr>
          <p:cNvPr id="6" name="TextBox 5"/>
          <p:cNvSpPr txBox="1"/>
          <p:nvPr/>
        </p:nvSpPr>
        <p:spPr>
          <a:xfrm>
            <a:off x="438912" y="932688"/>
            <a:ext cx="11292840" cy="384048"/>
          </a:xfrm>
          <a:prstGeom prst="rect">
            <a:avLst/>
          </a:prstGeom>
          <a:noFill/>
        </p:spPr>
        <p:txBody>
          <a:bodyPr wrap="square" lIns="0" rIns="0" tIns="0" bIns="0" anchor="t"/>
          <a:lstStyle/>
          <a:p>
            <a:pPr algn="l"/>
            <a:r>
              <a:rPr sz="1350" b="0" i="0">
                <a:solidFill>
                  <a:srgbClr val="5C6874"/>
                </a:solidFill>
                <a:latin typeface="Calibri"/>
              </a:rPr>
              <a:t>The review-case pipeline checks each STS observation against the other data pipelines for the same vessels and the same time window.</a:t>
            </a:r>
          </a:p>
        </p:txBody>
      </p:sp>
      <p:sp>
        <p:nvSpPr>
          <p:cNvPr id="7" name="Rounded Rectangle 6"/>
          <p:cNvSpPr/>
          <p:nvPr/>
        </p:nvSpPr>
        <p:spPr>
          <a:xfrm>
            <a:off x="4480560" y="2880360"/>
            <a:ext cx="3200400" cy="1234440"/>
          </a:xfrm>
          <a:prstGeom prst="roundRect">
            <a:avLst>
              <a:gd name="adj" fmla="val 8000"/>
            </a:avLst>
          </a:prstGeom>
          <a:solidFill>
            <a:srgbClr val="12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0288" y="2953512"/>
            <a:ext cx="2980944" cy="274320"/>
          </a:xfrm>
          <a:prstGeom prst="rect">
            <a:avLst/>
          </a:prstGeom>
          <a:noFill/>
        </p:spPr>
        <p:txBody>
          <a:bodyPr wrap="square" lIns="0" rIns="0" tIns="0" bIns="0" anchor="t"/>
          <a:lstStyle/>
          <a:p>
            <a:pPr algn="l"/>
            <a:r>
              <a:rPr sz="1400" b="1" i="0">
                <a:solidFill>
                  <a:srgbClr val="FFFFFF"/>
                </a:solidFill>
                <a:latin typeface="Calibri"/>
              </a:rPr>
              <a:t>STS review case</a:t>
            </a:r>
          </a:p>
        </p:txBody>
      </p:sp>
      <p:sp>
        <p:nvSpPr>
          <p:cNvPr id="9" name="TextBox 8"/>
          <p:cNvSpPr txBox="1"/>
          <p:nvPr/>
        </p:nvSpPr>
        <p:spPr>
          <a:xfrm>
            <a:off x="4590288" y="3209544"/>
            <a:ext cx="2980944" cy="850392"/>
          </a:xfrm>
          <a:prstGeom prst="rect">
            <a:avLst/>
          </a:prstGeom>
          <a:noFill/>
        </p:spPr>
        <p:txBody>
          <a:bodyPr wrap="square" lIns="0" rIns="0" tIns="0" bIns="0" anchor="t"/>
          <a:lstStyle/>
          <a:p>
            <a:pPr algn="l"/>
            <a:r>
              <a:rPr sz="1250" b="0" i="0">
                <a:solidFill>
                  <a:srgbClr val="D5E0E8"/>
                </a:solidFill>
                <a:latin typeface="Calibri"/>
              </a:rPr>
              <a:t>One case per STS observation, refreshed until an analyst closes it.</a:t>
            </a:r>
          </a:p>
        </p:txBody>
      </p:sp>
      <p:sp>
        <p:nvSpPr>
          <p:cNvPr id="10" name="TextBox 9"/>
          <p:cNvSpPr txBox="1"/>
          <p:nvPr/>
        </p:nvSpPr>
        <p:spPr>
          <a:xfrm>
            <a:off x="438912" y="1508760"/>
            <a:ext cx="3611880" cy="219456"/>
          </a:xfrm>
          <a:prstGeom prst="rect">
            <a:avLst/>
          </a:prstGeom>
          <a:noFill/>
        </p:spPr>
        <p:txBody>
          <a:bodyPr wrap="square" lIns="0" rIns="0" tIns="0" bIns="0" anchor="t"/>
          <a:lstStyle/>
          <a:p>
            <a:pPr algn="l"/>
            <a:r>
              <a:rPr sz="1100" b="1" i="0">
                <a:solidFill>
                  <a:srgbClr val="1FA7B8"/>
                </a:solidFill>
                <a:latin typeface="Calibri"/>
              </a:rPr>
              <a:t>UNEXPLAINED SIGNALS</a:t>
            </a:r>
          </a:p>
        </p:txBody>
      </p:sp>
      <p:sp>
        <p:nvSpPr>
          <p:cNvPr id="11" name="TextBox 10"/>
          <p:cNvSpPr txBox="1"/>
          <p:nvPr/>
        </p:nvSpPr>
        <p:spPr>
          <a:xfrm>
            <a:off x="438912" y="1755648"/>
            <a:ext cx="3611880" cy="237744"/>
          </a:xfrm>
          <a:prstGeom prst="rect">
            <a:avLst/>
          </a:prstGeom>
          <a:noFill/>
        </p:spPr>
        <p:txBody>
          <a:bodyPr wrap="square" lIns="0" rIns="0" tIns="0" bIns="0" anchor="t"/>
          <a:lstStyle/>
          <a:p>
            <a:pPr algn="l"/>
            <a:r>
              <a:rPr sz="1100" b="0" i="0">
                <a:solidFill>
                  <a:srgbClr val="5C6874"/>
                </a:solidFill>
                <a:latin typeface="Calibri"/>
              </a:rPr>
              <a:t>At least one is required for notification</a:t>
            </a:r>
          </a:p>
        </p:txBody>
      </p:sp>
      <p:sp>
        <p:nvSpPr>
          <p:cNvPr id="12" name="Rounded Rectangle 11"/>
          <p:cNvSpPr/>
          <p:nvPr/>
        </p:nvSpPr>
        <p:spPr>
          <a:xfrm>
            <a:off x="438912" y="2103120"/>
            <a:ext cx="3611880" cy="786384"/>
          </a:xfrm>
          <a:prstGeom prst="roundRect">
            <a:avLst>
              <a:gd name="adj" fmla="val 8000"/>
            </a:avLst>
          </a:prstGeom>
          <a:solidFill>
            <a:srgbClr val="FFFFFF"/>
          </a:solidFill>
          <a:ln w="12700">
            <a:solidFill>
              <a:srgbClr val="E3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176272"/>
            <a:ext cx="3392424" cy="274320"/>
          </a:xfrm>
          <a:prstGeom prst="rect">
            <a:avLst/>
          </a:prstGeom>
          <a:noFill/>
        </p:spPr>
        <p:txBody>
          <a:bodyPr wrap="square" lIns="0" rIns="0" tIns="0" bIns="0" anchor="t"/>
          <a:lstStyle/>
          <a:p>
            <a:pPr algn="l"/>
            <a:r>
              <a:rPr sz="1200" b="1" i="0">
                <a:solidFill>
                  <a:srgbClr val="0A1628"/>
                </a:solidFill>
                <a:latin typeface="Calibri"/>
              </a:rPr>
              <a:t>Sanctions match</a:t>
            </a:r>
          </a:p>
        </p:txBody>
      </p:sp>
      <p:sp>
        <p:nvSpPr>
          <p:cNvPr id="14" name="TextBox 13"/>
          <p:cNvSpPr txBox="1"/>
          <p:nvPr/>
        </p:nvSpPr>
        <p:spPr>
          <a:xfrm>
            <a:off x="548640" y="2432303"/>
            <a:ext cx="3392424" cy="402336"/>
          </a:xfrm>
          <a:prstGeom prst="rect">
            <a:avLst/>
          </a:prstGeom>
          <a:noFill/>
        </p:spPr>
        <p:txBody>
          <a:bodyPr wrap="square" lIns="0" rIns="0" tIns="0" bIns="0" anchor="t"/>
          <a:lstStyle/>
          <a:p>
            <a:pPr algn="l"/>
            <a:r>
              <a:rPr sz="1050" b="0" i="0">
                <a:solidFill>
                  <a:srgbClr val="5C6874"/>
                </a:solidFill>
                <a:latin typeface="Calibri"/>
              </a:rPr>
              <a:t>A member matches the OFAC list. Also the first sort key.</a:t>
            </a:r>
          </a:p>
        </p:txBody>
      </p:sp>
      <p:sp>
        <p:nvSpPr>
          <p:cNvPr id="15" name="Rounded Rectangle 14"/>
          <p:cNvSpPr/>
          <p:nvPr/>
        </p:nvSpPr>
        <p:spPr>
          <a:xfrm>
            <a:off x="438912" y="2999232"/>
            <a:ext cx="3611880" cy="786384"/>
          </a:xfrm>
          <a:prstGeom prst="roundRect">
            <a:avLst>
              <a:gd name="adj" fmla="val 8000"/>
            </a:avLst>
          </a:prstGeom>
          <a:solidFill>
            <a:srgbClr val="FFFFFF"/>
          </a:solidFill>
          <a:ln w="12700">
            <a:solidFill>
              <a:srgbClr val="E3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072384"/>
            <a:ext cx="3392424" cy="274320"/>
          </a:xfrm>
          <a:prstGeom prst="rect">
            <a:avLst/>
          </a:prstGeom>
          <a:noFill/>
        </p:spPr>
        <p:txBody>
          <a:bodyPr wrap="square" lIns="0" rIns="0" tIns="0" bIns="0" anchor="t"/>
          <a:lstStyle/>
          <a:p>
            <a:pPr algn="l"/>
            <a:r>
              <a:rPr sz="1200" b="1" i="0">
                <a:solidFill>
                  <a:srgbClr val="0A1628"/>
                </a:solidFill>
                <a:latin typeface="Calibri"/>
              </a:rPr>
              <a:t>Outside anchorage</a:t>
            </a:r>
          </a:p>
        </p:txBody>
      </p:sp>
      <p:sp>
        <p:nvSpPr>
          <p:cNvPr id="17" name="TextBox 16"/>
          <p:cNvSpPr txBox="1"/>
          <p:nvPr/>
        </p:nvSpPr>
        <p:spPr>
          <a:xfrm>
            <a:off x="548640" y="3328415"/>
            <a:ext cx="3392424" cy="402336"/>
          </a:xfrm>
          <a:prstGeom prst="rect">
            <a:avLst/>
          </a:prstGeom>
          <a:noFill/>
        </p:spPr>
        <p:txBody>
          <a:bodyPr wrap="square" lIns="0" rIns="0" tIns="0" bIns="0" anchor="t"/>
          <a:lstStyle/>
          <a:p>
            <a:pPr algn="l"/>
            <a:r>
              <a:rPr sz="1050" b="0" i="0">
                <a:solidFill>
                  <a:srgbClr val="5C6874"/>
                </a:solidFill>
                <a:latin typeface="Calibri"/>
              </a:rPr>
              <a:t>Centre outside the original anchorage polygon.</a:t>
            </a:r>
          </a:p>
        </p:txBody>
      </p:sp>
      <p:sp>
        <p:nvSpPr>
          <p:cNvPr id="18" name="Rounded Rectangle 17"/>
          <p:cNvSpPr/>
          <p:nvPr/>
        </p:nvSpPr>
        <p:spPr>
          <a:xfrm>
            <a:off x="438912" y="3895344"/>
            <a:ext cx="3611880" cy="786384"/>
          </a:xfrm>
          <a:prstGeom prst="roundRect">
            <a:avLst>
              <a:gd name="adj" fmla="val 8000"/>
            </a:avLst>
          </a:prstGeom>
          <a:solidFill>
            <a:srgbClr val="FFFFFF"/>
          </a:solidFill>
          <a:ln w="12700">
            <a:solidFill>
              <a:srgbClr val="E3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968496"/>
            <a:ext cx="3392424" cy="274320"/>
          </a:xfrm>
          <a:prstGeom prst="rect">
            <a:avLst/>
          </a:prstGeom>
          <a:noFill/>
        </p:spPr>
        <p:txBody>
          <a:bodyPr wrap="square" lIns="0" rIns="0" tIns="0" bIns="0" anchor="t"/>
          <a:lstStyle/>
          <a:p>
            <a:pPr algn="l"/>
            <a:r>
              <a:rPr sz="1200" b="1" i="0">
                <a:solidFill>
                  <a:srgbClr val="0A1628"/>
                </a:solidFill>
                <a:latin typeface="Calibri"/>
              </a:rPr>
              <a:t>Dark overlap</a:t>
            </a:r>
          </a:p>
        </p:txBody>
      </p:sp>
      <p:sp>
        <p:nvSpPr>
          <p:cNvPr id="20" name="TextBox 19"/>
          <p:cNvSpPr txBox="1"/>
          <p:nvPr/>
        </p:nvSpPr>
        <p:spPr>
          <a:xfrm>
            <a:off x="548640" y="4224528"/>
            <a:ext cx="3392424" cy="402336"/>
          </a:xfrm>
          <a:prstGeom prst="rect">
            <a:avLst/>
          </a:prstGeom>
          <a:noFill/>
        </p:spPr>
        <p:txBody>
          <a:bodyPr wrap="square" lIns="0" rIns="0" tIns="0" bIns="0" anchor="t"/>
          <a:lstStyle/>
          <a:p>
            <a:pPr algn="l"/>
            <a:r>
              <a:rPr sz="1050" b="0" i="0">
                <a:solidFill>
                  <a:srgbClr val="5C6874"/>
                </a:solidFill>
                <a:latin typeface="Calibri"/>
              </a:rPr>
              <a:t>A cargo or tanker member has an open transmission gap.</a:t>
            </a:r>
          </a:p>
        </p:txBody>
      </p:sp>
      <p:sp>
        <p:nvSpPr>
          <p:cNvPr id="21" name="Rounded Rectangle 20"/>
          <p:cNvSpPr/>
          <p:nvPr/>
        </p:nvSpPr>
        <p:spPr>
          <a:xfrm>
            <a:off x="438912" y="4791456"/>
            <a:ext cx="3611880" cy="786384"/>
          </a:xfrm>
          <a:prstGeom prst="roundRect">
            <a:avLst>
              <a:gd name="adj" fmla="val 8000"/>
            </a:avLst>
          </a:prstGeom>
          <a:solidFill>
            <a:srgbClr val="FFFFFF"/>
          </a:solidFill>
          <a:ln w="12700">
            <a:solidFill>
              <a:srgbClr val="E3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864608"/>
            <a:ext cx="3392424" cy="274320"/>
          </a:xfrm>
          <a:prstGeom prst="rect">
            <a:avLst/>
          </a:prstGeom>
          <a:noFill/>
        </p:spPr>
        <p:txBody>
          <a:bodyPr wrap="square" lIns="0" rIns="0" tIns="0" bIns="0" anchor="t"/>
          <a:lstStyle/>
          <a:p>
            <a:pPr algn="l"/>
            <a:r>
              <a:rPr sz="1200" b="1" i="0">
                <a:solidFill>
                  <a:srgbClr val="0A1628"/>
                </a:solidFill>
                <a:latin typeface="Calibri"/>
              </a:rPr>
              <a:t>Illegal anchoring overlap</a:t>
            </a:r>
          </a:p>
        </p:txBody>
      </p:sp>
      <p:sp>
        <p:nvSpPr>
          <p:cNvPr id="23" name="TextBox 22"/>
          <p:cNvSpPr txBox="1"/>
          <p:nvPr/>
        </p:nvSpPr>
        <p:spPr>
          <a:xfrm>
            <a:off x="548640" y="5120640"/>
            <a:ext cx="3392424" cy="402336"/>
          </a:xfrm>
          <a:prstGeom prst="rect">
            <a:avLst/>
          </a:prstGeom>
          <a:noFill/>
        </p:spPr>
        <p:txBody>
          <a:bodyPr wrap="square" lIns="0" rIns="0" tIns="0" bIns="0" anchor="t"/>
          <a:lstStyle/>
          <a:p>
            <a:pPr algn="l"/>
            <a:r>
              <a:rPr sz="1050" b="0" i="0">
                <a:solidFill>
                  <a:srgbClr val="5C6874"/>
                </a:solidFill>
                <a:latin typeface="Calibri"/>
              </a:rPr>
              <a:t>A member passes the zone rule.</a:t>
            </a:r>
          </a:p>
        </p:txBody>
      </p:sp>
      <p:sp>
        <p:nvSpPr>
          <p:cNvPr id="24" name="TextBox 23"/>
          <p:cNvSpPr txBox="1"/>
          <p:nvPr/>
        </p:nvSpPr>
        <p:spPr>
          <a:xfrm>
            <a:off x="8138160" y="1508760"/>
            <a:ext cx="3611880" cy="219456"/>
          </a:xfrm>
          <a:prstGeom prst="rect">
            <a:avLst/>
          </a:prstGeom>
          <a:noFill/>
        </p:spPr>
        <p:txBody>
          <a:bodyPr wrap="square" lIns="0" rIns="0" tIns="0" bIns="0" anchor="t"/>
          <a:lstStyle/>
          <a:p>
            <a:pPr algn="l"/>
            <a:r>
              <a:rPr sz="1100" b="1" i="0">
                <a:solidFill>
                  <a:srgbClr val="C4A35A"/>
                </a:solidFill>
                <a:latin typeface="Calibri"/>
              </a:rPr>
              <a:t>LAWFUL EXPLANATIONS</a:t>
            </a:r>
          </a:p>
        </p:txBody>
      </p:sp>
      <p:sp>
        <p:nvSpPr>
          <p:cNvPr id="25" name="TextBox 24"/>
          <p:cNvSpPr txBox="1"/>
          <p:nvPr/>
        </p:nvSpPr>
        <p:spPr>
          <a:xfrm>
            <a:off x="8138160" y="1755648"/>
            <a:ext cx="3611880" cy="237744"/>
          </a:xfrm>
          <a:prstGeom prst="rect">
            <a:avLst/>
          </a:prstGeom>
          <a:noFill/>
        </p:spPr>
        <p:txBody>
          <a:bodyPr wrap="square" lIns="0" rIns="0" tIns="0" bIns="0" anchor="t"/>
          <a:lstStyle/>
          <a:p>
            <a:pPr algn="l"/>
            <a:r>
              <a:rPr sz="1100" b="0" i="0">
                <a:solidFill>
                  <a:srgbClr val="5C6874"/>
                </a:solidFill>
                <a:latin typeface="Calibri"/>
              </a:rPr>
              <a:t>Either one removes the case from notification</a:t>
            </a:r>
          </a:p>
        </p:txBody>
      </p:sp>
      <p:sp>
        <p:nvSpPr>
          <p:cNvPr id="26" name="Rounded Rectangle 25"/>
          <p:cNvSpPr/>
          <p:nvPr/>
        </p:nvSpPr>
        <p:spPr>
          <a:xfrm>
            <a:off x="8138160" y="2103120"/>
            <a:ext cx="3611880" cy="786384"/>
          </a:xfrm>
          <a:prstGeom prst="roundRect">
            <a:avLst>
              <a:gd name="adj" fmla="val 8000"/>
            </a:avLst>
          </a:prstGeom>
          <a:solidFill>
            <a:srgbClr val="FFFFFF"/>
          </a:solidFill>
          <a:ln w="12700">
            <a:solidFill>
              <a:srgbClr val="E3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47888" y="2176272"/>
            <a:ext cx="3392424" cy="274320"/>
          </a:xfrm>
          <a:prstGeom prst="rect">
            <a:avLst/>
          </a:prstGeom>
          <a:noFill/>
        </p:spPr>
        <p:txBody>
          <a:bodyPr wrap="square" lIns="0" rIns="0" tIns="0" bIns="0" anchor="t"/>
          <a:lstStyle/>
          <a:p>
            <a:pPr algn="l"/>
            <a:r>
              <a:rPr sz="1200" b="1" i="0">
                <a:solidFill>
                  <a:srgbClr val="0A1628"/>
                </a:solidFill>
                <a:latin typeface="Calibri"/>
              </a:rPr>
              <a:t>Dredge licence</a:t>
            </a:r>
          </a:p>
        </p:txBody>
      </p:sp>
      <p:sp>
        <p:nvSpPr>
          <p:cNvPr id="28" name="TextBox 27"/>
          <p:cNvSpPr txBox="1"/>
          <p:nvPr/>
        </p:nvSpPr>
        <p:spPr>
          <a:xfrm>
            <a:off x="8247888" y="2432303"/>
            <a:ext cx="3392424" cy="402336"/>
          </a:xfrm>
          <a:prstGeom prst="rect">
            <a:avLst/>
          </a:prstGeom>
          <a:noFill/>
        </p:spPr>
        <p:txBody>
          <a:bodyPr wrap="square" lIns="0" rIns="0" tIns="0" bIns="0" anchor="t"/>
          <a:lstStyle/>
          <a:p>
            <a:pPr algn="l"/>
            <a:r>
              <a:rPr sz="1050" b="0" i="0">
                <a:solidFill>
                  <a:srgbClr val="5C6874"/>
                </a:solidFill>
                <a:latin typeface="Calibri"/>
              </a:rPr>
              <a:t>In-force JKPTG licence covering the observation period.</a:t>
            </a:r>
          </a:p>
        </p:txBody>
      </p:sp>
      <p:sp>
        <p:nvSpPr>
          <p:cNvPr id="29" name="Rounded Rectangle 28"/>
          <p:cNvSpPr/>
          <p:nvPr/>
        </p:nvSpPr>
        <p:spPr>
          <a:xfrm>
            <a:off x="8138160" y="2999232"/>
            <a:ext cx="3611880" cy="786384"/>
          </a:xfrm>
          <a:prstGeom prst="roundRect">
            <a:avLst>
              <a:gd name="adj" fmla="val 8000"/>
            </a:avLst>
          </a:prstGeom>
          <a:solidFill>
            <a:srgbClr val="FFFFFF"/>
          </a:solidFill>
          <a:ln w="12700">
            <a:solidFill>
              <a:srgbClr val="E3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47888" y="3072384"/>
            <a:ext cx="3392424" cy="274320"/>
          </a:xfrm>
          <a:prstGeom prst="rect">
            <a:avLst/>
          </a:prstGeom>
          <a:noFill/>
        </p:spPr>
        <p:txBody>
          <a:bodyPr wrap="square" lIns="0" rIns="0" tIns="0" bIns="0" anchor="t"/>
          <a:lstStyle/>
          <a:p>
            <a:pPr algn="l"/>
            <a:r>
              <a:rPr sz="1200" b="1" i="0">
                <a:solidFill>
                  <a:srgbClr val="0A1628"/>
                </a:solidFill>
                <a:latin typeface="Calibri"/>
              </a:rPr>
              <a:t>Bunker vessel register</a:t>
            </a:r>
          </a:p>
        </p:txBody>
      </p:sp>
      <p:sp>
        <p:nvSpPr>
          <p:cNvPr id="31" name="TextBox 30"/>
          <p:cNvSpPr txBox="1"/>
          <p:nvPr/>
        </p:nvSpPr>
        <p:spPr>
          <a:xfrm>
            <a:off x="8247888" y="3328415"/>
            <a:ext cx="3392424" cy="402336"/>
          </a:xfrm>
          <a:prstGeom prst="rect">
            <a:avLst/>
          </a:prstGeom>
          <a:noFill/>
        </p:spPr>
        <p:txBody>
          <a:bodyPr wrap="square" lIns="0" rIns="0" tIns="0" bIns="0" anchor="t"/>
          <a:lstStyle/>
          <a:p>
            <a:pPr algn="l"/>
            <a:r>
              <a:rPr sz="1050" b="0" i="0">
                <a:solidFill>
                  <a:srgbClr val="5C6874"/>
                </a:solidFill>
                <a:latin typeface="Calibri"/>
              </a:rPr>
              <a:t>Field in place; populated once the register is supplied.</a:t>
            </a:r>
          </a:p>
        </p:txBody>
      </p:sp>
      <p:sp>
        <p:nvSpPr>
          <p:cNvPr id="32" name="TextBox 31"/>
          <p:cNvSpPr txBox="1"/>
          <p:nvPr/>
        </p:nvSpPr>
        <p:spPr>
          <a:xfrm>
            <a:off x="8138160" y="4023360"/>
            <a:ext cx="3611880" cy="219456"/>
          </a:xfrm>
          <a:prstGeom prst="rect">
            <a:avLst/>
          </a:prstGeom>
          <a:noFill/>
        </p:spPr>
        <p:txBody>
          <a:bodyPr wrap="square" lIns="0" rIns="0" tIns="0" bIns="0" anchor="t"/>
          <a:lstStyle/>
          <a:p>
            <a:pPr algn="l"/>
            <a:r>
              <a:rPr sz="1100" b="1" i="0">
                <a:solidFill>
                  <a:srgbClr val="0E6E7C"/>
                </a:solidFill>
                <a:latin typeface="Calibri"/>
              </a:rPr>
              <a:t>CONTEXT RECORDED ON THE CASE</a:t>
            </a:r>
          </a:p>
        </p:txBody>
      </p:sp>
      <p:sp>
        <p:nvSpPr>
          <p:cNvPr id="33" name="TextBox 32"/>
          <p:cNvSpPr txBox="1"/>
          <p:nvPr/>
        </p:nvSpPr>
        <p:spPr>
          <a:xfrm>
            <a:off x="8138160" y="4270248"/>
            <a:ext cx="3611880" cy="237744"/>
          </a:xfrm>
          <a:prstGeom prst="rect">
            <a:avLst/>
          </a:prstGeom>
          <a:noFill/>
        </p:spPr>
        <p:txBody>
          <a:bodyPr wrap="square" lIns="0" rIns="0" tIns="0" bIns="0" anchor="t"/>
          <a:lstStyle/>
          <a:p>
            <a:pPr algn="l"/>
            <a:r>
              <a:rPr sz="1100" b="0" i="0">
                <a:solidFill>
                  <a:srgbClr val="5C6874"/>
                </a:solidFill>
                <a:latin typeface="Calibri"/>
              </a:rPr>
              <a:t>Stored for the analyst; neither triggers notification</a:t>
            </a:r>
          </a:p>
        </p:txBody>
      </p:sp>
      <p:sp>
        <p:nvSpPr>
          <p:cNvPr id="34" name="Rounded Rectangle 33"/>
          <p:cNvSpPr/>
          <p:nvPr/>
        </p:nvSpPr>
        <p:spPr>
          <a:xfrm>
            <a:off x="8138160" y="4617720"/>
            <a:ext cx="3611880" cy="786384"/>
          </a:xfrm>
          <a:prstGeom prst="roundRect">
            <a:avLst>
              <a:gd name="adj" fmla="val 8000"/>
            </a:avLst>
          </a:prstGeom>
          <a:solidFill>
            <a:srgbClr val="FFFFFF"/>
          </a:solidFill>
          <a:ln w="12700">
            <a:solidFill>
              <a:srgbClr val="E3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47888" y="4690872"/>
            <a:ext cx="3392424" cy="274320"/>
          </a:xfrm>
          <a:prstGeom prst="rect">
            <a:avLst/>
          </a:prstGeom>
          <a:noFill/>
        </p:spPr>
        <p:txBody>
          <a:bodyPr wrap="square" lIns="0" rIns="0" tIns="0" bIns="0" anchor="t"/>
          <a:lstStyle/>
          <a:p>
            <a:pPr algn="l"/>
            <a:r>
              <a:rPr sz="1200" b="1" i="0">
                <a:solidFill>
                  <a:srgbClr val="0A1628"/>
                </a:solidFill>
                <a:latin typeface="Calibri"/>
              </a:rPr>
              <a:t>Loitering or anchor swing</a:t>
            </a:r>
          </a:p>
        </p:txBody>
      </p:sp>
      <p:sp>
        <p:nvSpPr>
          <p:cNvPr id="36" name="TextBox 35"/>
          <p:cNvSpPr txBox="1"/>
          <p:nvPr/>
        </p:nvSpPr>
        <p:spPr>
          <a:xfrm>
            <a:off x="8247888" y="4946904"/>
            <a:ext cx="3392424" cy="402336"/>
          </a:xfrm>
          <a:prstGeom prst="rect">
            <a:avLst/>
          </a:prstGeom>
          <a:noFill/>
        </p:spPr>
        <p:txBody>
          <a:bodyPr wrap="square" lIns="0" rIns="0" tIns="0" bIns="0" anchor="t"/>
          <a:lstStyle/>
          <a:p>
            <a:pPr algn="l"/>
            <a:r>
              <a:rPr sz="1050" b="0" i="0">
                <a:solidFill>
                  <a:srgbClr val="5C6874"/>
                </a:solidFill>
                <a:latin typeface="Calibri"/>
              </a:rPr>
              <a:t>Overlapping the observation window.</a:t>
            </a:r>
          </a:p>
        </p:txBody>
      </p:sp>
      <p:sp>
        <p:nvSpPr>
          <p:cNvPr id="37" name="Rounded Rectangle 36"/>
          <p:cNvSpPr/>
          <p:nvPr/>
        </p:nvSpPr>
        <p:spPr>
          <a:xfrm>
            <a:off x="8138160" y="5486400"/>
            <a:ext cx="3611880" cy="786384"/>
          </a:xfrm>
          <a:prstGeom prst="roundRect">
            <a:avLst>
              <a:gd name="adj" fmla="val 8000"/>
            </a:avLst>
          </a:prstGeom>
          <a:solidFill>
            <a:srgbClr val="FFFFFF"/>
          </a:solidFill>
          <a:ln w="12700">
            <a:solidFill>
              <a:srgbClr val="E3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47888" y="5559552"/>
            <a:ext cx="3392424" cy="274320"/>
          </a:xfrm>
          <a:prstGeom prst="rect">
            <a:avLst/>
          </a:prstGeom>
          <a:noFill/>
        </p:spPr>
        <p:txBody>
          <a:bodyPr wrap="square" lIns="0" rIns="0" tIns="0" bIns="0" anchor="t"/>
          <a:lstStyle/>
          <a:p>
            <a:pPr algn="l"/>
            <a:r>
              <a:rPr sz="1200" b="1" i="0">
                <a:solidFill>
                  <a:srgbClr val="0A1628"/>
                </a:solidFill>
                <a:latin typeface="Calibri"/>
              </a:rPr>
              <a:t>Position anomaly</a:t>
            </a:r>
          </a:p>
        </p:txBody>
      </p:sp>
      <p:sp>
        <p:nvSpPr>
          <p:cNvPr id="39" name="TextBox 38"/>
          <p:cNvSpPr txBox="1"/>
          <p:nvPr/>
        </p:nvSpPr>
        <p:spPr>
          <a:xfrm>
            <a:off x="8247888" y="5815584"/>
            <a:ext cx="3392424" cy="402336"/>
          </a:xfrm>
          <a:prstGeom prst="rect">
            <a:avLst/>
          </a:prstGeom>
          <a:noFill/>
        </p:spPr>
        <p:txBody>
          <a:bodyPr wrap="square" lIns="0" rIns="0" tIns="0" bIns="0" anchor="t"/>
          <a:lstStyle/>
          <a:p>
            <a:pPr algn="l"/>
            <a:r>
              <a:rPr sz="1050" b="0" i="0">
                <a:solidFill>
                  <a:srgbClr val="5C6874"/>
                </a:solidFill>
                <a:latin typeface="Calibri"/>
              </a:rPr>
              <a:t>A stored daily anomaly inside the observation window.</a:t>
            </a:r>
          </a:p>
        </p:txBody>
      </p:sp>
      <p:cxnSp>
        <p:nvCxnSpPr>
          <p:cNvPr id="40" name="Connector 39"/>
          <p:cNvCxnSpPr/>
          <p:nvPr/>
        </p:nvCxnSpPr>
        <p:spPr>
          <a:xfrm>
            <a:off x="4069080" y="3493008"/>
            <a:ext cx="384048" cy="0"/>
          </a:xfrm>
          <a:prstGeom prst="line">
            <a:avLst/>
          </a:prstGeom>
          <a:ln w="22225">
            <a:solidFill>
              <a:srgbClr val="1FA7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7708392" y="2743200"/>
            <a:ext cx="402335" cy="457200"/>
          </a:xfrm>
          <a:prstGeom prst="line">
            <a:avLst/>
          </a:prstGeom>
          <a:ln w="22225">
            <a:solidFill>
              <a:srgbClr val="C4A3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7708392" y="3840480"/>
            <a:ext cx="402335" cy="1170432"/>
          </a:xfrm>
          <a:prstGeom prst="line">
            <a:avLst/>
          </a:prstGeom>
          <a:ln w="22225">
            <a:solidFill>
              <a:srgbClr val="0E6E7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38912" y="6492240"/>
            <a:ext cx="5486400" cy="237744"/>
          </a:xfrm>
          <a:prstGeom prst="rect">
            <a:avLst/>
          </a:prstGeom>
          <a:noFill/>
        </p:spPr>
        <p:txBody>
          <a:bodyPr wrap="square" lIns="0" rIns="0" tIns="0" bIns="0" anchor="t"/>
          <a:lstStyle/>
          <a:p>
            <a:pPr algn="l"/>
            <a:r>
              <a:rPr sz="1000" b="1" i="0">
                <a:solidFill>
                  <a:srgbClr val="5C6874"/>
                </a:solidFill>
                <a:latin typeface="Calibri"/>
              </a:rPr>
              <a:t>MANTIS  |  Maritime Intelligence &amp; Intercept System</a:t>
            </a:r>
          </a:p>
        </p:txBody>
      </p:sp>
      <p:sp>
        <p:nvSpPr>
          <p:cNvPr id="44" name="TextBox 43"/>
          <p:cNvSpPr txBox="1"/>
          <p:nvPr/>
        </p:nvSpPr>
        <p:spPr>
          <a:xfrm>
            <a:off x="4754880" y="6492240"/>
            <a:ext cx="2743200" cy="237744"/>
          </a:xfrm>
          <a:prstGeom prst="rect">
            <a:avLst/>
          </a:prstGeom>
          <a:noFill/>
        </p:spPr>
        <p:txBody>
          <a:bodyPr wrap="square" lIns="0" rIns="0" tIns="0" bIns="0" anchor="t"/>
          <a:lstStyle/>
          <a:p>
            <a:pPr algn="ctr"/>
            <a:r>
              <a:rPr sz="1000" b="0" i="0">
                <a:solidFill>
                  <a:srgbClr val="5C6874"/>
                </a:solidFill>
                <a:latin typeface="Calibri"/>
              </a:rPr>
              <a:t>October 2026</a:t>
            </a:r>
          </a:p>
        </p:txBody>
      </p:sp>
      <p:sp>
        <p:nvSpPr>
          <p:cNvPr id="45" name="TextBox 44"/>
          <p:cNvSpPr txBox="1"/>
          <p:nvPr/>
        </p:nvSpPr>
        <p:spPr>
          <a:xfrm>
            <a:off x="10332720" y="6492240"/>
            <a:ext cx="1417320" cy="237744"/>
          </a:xfrm>
          <a:prstGeom prst="rect">
            <a:avLst/>
          </a:prstGeom>
          <a:noFill/>
        </p:spPr>
        <p:txBody>
          <a:bodyPr wrap="square" lIns="0" rIns="0" tIns="0" bIns="0" anchor="t"/>
          <a:lstStyle/>
          <a:p>
            <a:pPr algn="r"/>
            <a:r>
              <a:rPr sz="1000" b="0" i="0">
                <a:solidFill>
                  <a:srgbClr val="5C6874"/>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1FA7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56032"/>
            <a:ext cx="8229600" cy="219456"/>
          </a:xfrm>
          <a:prstGeom prst="rect">
            <a:avLst/>
          </a:prstGeom>
          <a:noFill/>
        </p:spPr>
        <p:txBody>
          <a:bodyPr wrap="square" lIns="0" rIns="0" tIns="0" bIns="0" anchor="t"/>
          <a:lstStyle/>
          <a:p>
            <a:pPr algn="l"/>
            <a:r>
              <a:rPr sz="1100" b="1" i="0">
                <a:solidFill>
                  <a:srgbClr val="0E6E7C"/>
                </a:solidFill>
                <a:latin typeface="Calibri"/>
              </a:rPr>
              <a:t>NOTIFICATION AND REVIEW</a:t>
            </a:r>
          </a:p>
        </p:txBody>
      </p:sp>
      <p:sp>
        <p:nvSpPr>
          <p:cNvPr id="5" name="TextBox 4"/>
          <p:cNvSpPr txBox="1"/>
          <p:nvPr/>
        </p:nvSpPr>
        <p:spPr>
          <a:xfrm>
            <a:off x="420624" y="457200"/>
            <a:ext cx="11338560" cy="457200"/>
          </a:xfrm>
          <a:prstGeom prst="rect">
            <a:avLst/>
          </a:prstGeom>
          <a:noFill/>
        </p:spPr>
        <p:txBody>
          <a:bodyPr wrap="square" lIns="0" rIns="0" tIns="0" bIns="0" anchor="t"/>
          <a:lstStyle/>
          <a:p>
            <a:pPr algn="l"/>
            <a:r>
              <a:rPr sz="2600" b="1" i="0">
                <a:solidFill>
                  <a:srgbClr val="0A1628"/>
                </a:solidFill>
                <a:latin typeface="Calibri"/>
              </a:rPr>
              <a:t>From STS observation to verified classification</a:t>
            </a:r>
          </a:p>
        </p:txBody>
      </p:sp>
      <p:sp>
        <p:nvSpPr>
          <p:cNvPr id="6" name="TextBox 5"/>
          <p:cNvSpPr txBox="1"/>
          <p:nvPr/>
        </p:nvSpPr>
        <p:spPr>
          <a:xfrm>
            <a:off x="438912" y="932688"/>
            <a:ext cx="11292840" cy="384048"/>
          </a:xfrm>
          <a:prstGeom prst="rect">
            <a:avLst/>
          </a:prstGeom>
          <a:noFill/>
        </p:spPr>
        <p:txBody>
          <a:bodyPr wrap="square" lIns="0" rIns="0" tIns="0" bIns="0" anchor="t"/>
          <a:lstStyle/>
          <a:p>
            <a:pPr algn="l"/>
            <a:r>
              <a:rPr sz="1350" b="0" i="0">
                <a:solidFill>
                  <a:srgbClr val="5C6874"/>
                </a:solidFill>
                <a:latin typeface="Calibri"/>
              </a:rPr>
              <a:t>Notification is delivered through the REST API today. The dashboard view of the review queue is the next integration step.</a:t>
            </a:r>
          </a:p>
        </p:txBody>
      </p:sp>
      <p:sp>
        <p:nvSpPr>
          <p:cNvPr id="7" name="Rounded Rectangle 6"/>
          <p:cNvSpPr/>
          <p:nvPr/>
        </p:nvSpPr>
        <p:spPr>
          <a:xfrm>
            <a:off x="438912" y="1508760"/>
            <a:ext cx="2011680" cy="868680"/>
          </a:xfrm>
          <a:prstGeom prst="roundRect">
            <a:avLst>
              <a:gd name="adj" fmla="val 8000"/>
            </a:avLst>
          </a:prstGeom>
          <a:solidFill>
            <a:srgbClr val="FFFFFF"/>
          </a:solidFill>
          <a:ln w="12700">
            <a:solidFill>
              <a:srgbClr val="E3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81912"/>
            <a:ext cx="1792224" cy="274320"/>
          </a:xfrm>
          <a:prstGeom prst="rect">
            <a:avLst/>
          </a:prstGeom>
          <a:noFill/>
        </p:spPr>
        <p:txBody>
          <a:bodyPr wrap="square" lIns="0" rIns="0" tIns="0" bIns="0" anchor="t"/>
          <a:lstStyle/>
          <a:p>
            <a:pPr algn="l"/>
            <a:r>
              <a:rPr sz="1250" b="1" i="0">
                <a:solidFill>
                  <a:srgbClr val="0A1628"/>
                </a:solidFill>
                <a:latin typeface="Calibri"/>
              </a:rPr>
              <a:t>STS observation</a:t>
            </a:r>
          </a:p>
        </p:txBody>
      </p:sp>
      <p:sp>
        <p:nvSpPr>
          <p:cNvPr id="9" name="TextBox 8"/>
          <p:cNvSpPr txBox="1"/>
          <p:nvPr/>
        </p:nvSpPr>
        <p:spPr>
          <a:xfrm>
            <a:off x="548640" y="1837943"/>
            <a:ext cx="1792224" cy="484632"/>
          </a:xfrm>
          <a:prstGeom prst="rect">
            <a:avLst/>
          </a:prstGeom>
          <a:noFill/>
        </p:spPr>
        <p:txBody>
          <a:bodyPr wrap="square" lIns="0" rIns="0" tIns="0" bIns="0" anchor="t"/>
          <a:lstStyle/>
          <a:p>
            <a:pPr algn="l"/>
            <a:r>
              <a:rPr sz="1100" b="0" i="0">
                <a:solidFill>
                  <a:srgbClr val="5C6874"/>
                </a:solidFill>
                <a:latin typeface="Calibri"/>
              </a:rPr>
              <a:t>Proximity pipeline, every 30 s</a:t>
            </a:r>
          </a:p>
        </p:txBody>
      </p:sp>
      <p:cxnSp>
        <p:nvCxnSpPr>
          <p:cNvPr id="10" name="Connector 9"/>
          <p:cNvCxnSpPr/>
          <p:nvPr/>
        </p:nvCxnSpPr>
        <p:spPr>
          <a:xfrm>
            <a:off x="2468880" y="1938528"/>
            <a:ext cx="237744" cy="0"/>
          </a:xfrm>
          <a:prstGeom prst="line">
            <a:avLst/>
          </a:prstGeom>
          <a:ln w="22225">
            <a:solidFill>
              <a:srgbClr val="1FA7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724912" y="1508760"/>
            <a:ext cx="2011680" cy="868680"/>
          </a:xfrm>
          <a:prstGeom prst="roundRect">
            <a:avLst>
              <a:gd name="adj" fmla="val 8000"/>
            </a:avLst>
          </a:prstGeom>
          <a:solidFill>
            <a:srgbClr val="FFFFFF"/>
          </a:solidFill>
          <a:ln w="12700">
            <a:solidFill>
              <a:srgbClr val="E3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34640" y="1581912"/>
            <a:ext cx="1792224" cy="274320"/>
          </a:xfrm>
          <a:prstGeom prst="rect">
            <a:avLst/>
          </a:prstGeom>
          <a:noFill/>
        </p:spPr>
        <p:txBody>
          <a:bodyPr wrap="square" lIns="0" rIns="0" tIns="0" bIns="0" anchor="t"/>
          <a:lstStyle/>
          <a:p>
            <a:pPr algn="l"/>
            <a:r>
              <a:rPr sz="1250" b="1" i="0">
                <a:solidFill>
                  <a:srgbClr val="0A1628"/>
                </a:solidFill>
                <a:latin typeface="Calibri"/>
              </a:rPr>
              <a:t>Review case</a:t>
            </a:r>
          </a:p>
        </p:txBody>
      </p:sp>
      <p:sp>
        <p:nvSpPr>
          <p:cNvPr id="13" name="TextBox 12"/>
          <p:cNvSpPr txBox="1"/>
          <p:nvPr/>
        </p:nvSpPr>
        <p:spPr>
          <a:xfrm>
            <a:off x="2834640" y="1837943"/>
            <a:ext cx="1792224" cy="484632"/>
          </a:xfrm>
          <a:prstGeom prst="rect">
            <a:avLst/>
          </a:prstGeom>
          <a:noFill/>
        </p:spPr>
        <p:txBody>
          <a:bodyPr wrap="square" lIns="0" rIns="0" tIns="0" bIns="0" anchor="t"/>
          <a:lstStyle/>
          <a:p>
            <a:pPr algn="l"/>
            <a:r>
              <a:rPr sz="1100" b="0" i="0">
                <a:solidFill>
                  <a:srgbClr val="5C6874"/>
                </a:solidFill>
                <a:latin typeface="Calibri"/>
              </a:rPr>
              <a:t>Enriched every 15 min</a:t>
            </a:r>
          </a:p>
        </p:txBody>
      </p:sp>
      <p:cxnSp>
        <p:nvCxnSpPr>
          <p:cNvPr id="14" name="Connector 13"/>
          <p:cNvCxnSpPr/>
          <p:nvPr/>
        </p:nvCxnSpPr>
        <p:spPr>
          <a:xfrm>
            <a:off x="4754880" y="1938528"/>
            <a:ext cx="237744" cy="0"/>
          </a:xfrm>
          <a:prstGeom prst="line">
            <a:avLst/>
          </a:prstGeom>
          <a:ln w="22225">
            <a:solidFill>
              <a:srgbClr val="1FA7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010912" y="1508760"/>
            <a:ext cx="2011680" cy="868680"/>
          </a:xfrm>
          <a:prstGeom prst="roundRect">
            <a:avLst>
              <a:gd name="adj" fmla="val 8000"/>
            </a:avLst>
          </a:prstGeom>
          <a:solidFill>
            <a:srgbClr val="12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0" y="1581912"/>
            <a:ext cx="1792224" cy="274320"/>
          </a:xfrm>
          <a:prstGeom prst="rect">
            <a:avLst/>
          </a:prstGeom>
          <a:noFill/>
        </p:spPr>
        <p:txBody>
          <a:bodyPr wrap="square" lIns="0" rIns="0" tIns="0" bIns="0" anchor="t"/>
          <a:lstStyle/>
          <a:p>
            <a:pPr algn="l"/>
            <a:r>
              <a:rPr sz="1250" b="1" i="0">
                <a:solidFill>
                  <a:srgbClr val="FFFFFF"/>
                </a:solidFill>
                <a:latin typeface="Calibri"/>
              </a:rPr>
              <a:t>Notification</a:t>
            </a:r>
          </a:p>
        </p:txBody>
      </p:sp>
      <p:sp>
        <p:nvSpPr>
          <p:cNvPr id="17" name="TextBox 16"/>
          <p:cNvSpPr txBox="1"/>
          <p:nvPr/>
        </p:nvSpPr>
        <p:spPr>
          <a:xfrm>
            <a:off x="5120640" y="1837943"/>
            <a:ext cx="1792224" cy="484632"/>
          </a:xfrm>
          <a:prstGeom prst="rect">
            <a:avLst/>
          </a:prstGeom>
          <a:noFill/>
        </p:spPr>
        <p:txBody>
          <a:bodyPr wrap="square" lIns="0" rIns="0" tIns="0" bIns="0" anchor="t"/>
          <a:lstStyle/>
          <a:p>
            <a:pPr algn="l"/>
            <a:r>
              <a:rPr sz="1100" b="0" i="0">
                <a:solidFill>
                  <a:srgbClr val="D5E0E8"/>
                </a:solidFill>
                <a:latin typeface="Calibri"/>
              </a:rPr>
              <a:t>Unexplained cases only</a:t>
            </a:r>
          </a:p>
        </p:txBody>
      </p:sp>
      <p:cxnSp>
        <p:nvCxnSpPr>
          <p:cNvPr id="18" name="Connector 17"/>
          <p:cNvCxnSpPr/>
          <p:nvPr/>
        </p:nvCxnSpPr>
        <p:spPr>
          <a:xfrm>
            <a:off x="7040880" y="1938528"/>
            <a:ext cx="237744" cy="0"/>
          </a:xfrm>
          <a:prstGeom prst="line">
            <a:avLst/>
          </a:prstGeom>
          <a:ln w="22225">
            <a:solidFill>
              <a:srgbClr val="1FA7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296912" y="1508760"/>
            <a:ext cx="2011680" cy="868680"/>
          </a:xfrm>
          <a:prstGeom prst="roundRect">
            <a:avLst>
              <a:gd name="adj" fmla="val 8000"/>
            </a:avLst>
          </a:prstGeom>
          <a:solidFill>
            <a:srgbClr val="12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06640" y="1581912"/>
            <a:ext cx="1792224" cy="274320"/>
          </a:xfrm>
          <a:prstGeom prst="rect">
            <a:avLst/>
          </a:prstGeom>
          <a:noFill/>
        </p:spPr>
        <p:txBody>
          <a:bodyPr wrap="square" lIns="0" rIns="0" tIns="0" bIns="0" anchor="t"/>
          <a:lstStyle/>
          <a:p>
            <a:pPr algn="l"/>
            <a:r>
              <a:rPr sz="1250" b="1" i="0">
                <a:solidFill>
                  <a:srgbClr val="FFFFFF"/>
                </a:solidFill>
                <a:latin typeface="Calibri"/>
              </a:rPr>
              <a:t>Analyst review</a:t>
            </a:r>
          </a:p>
        </p:txBody>
      </p:sp>
      <p:sp>
        <p:nvSpPr>
          <p:cNvPr id="21" name="TextBox 20"/>
          <p:cNvSpPr txBox="1"/>
          <p:nvPr/>
        </p:nvSpPr>
        <p:spPr>
          <a:xfrm>
            <a:off x="7406640" y="1837943"/>
            <a:ext cx="1792224" cy="484632"/>
          </a:xfrm>
          <a:prstGeom prst="rect">
            <a:avLst/>
          </a:prstGeom>
          <a:noFill/>
        </p:spPr>
        <p:txBody>
          <a:bodyPr wrap="square" lIns="0" rIns="0" tIns="0" bIns="0" anchor="t"/>
          <a:lstStyle/>
          <a:p>
            <a:pPr algn="l"/>
            <a:r>
              <a:rPr sz="1100" b="0" i="0">
                <a:solidFill>
                  <a:srgbClr val="D5E0E8"/>
                </a:solidFill>
                <a:latin typeface="Calibri"/>
              </a:rPr>
              <a:t>Class, reviewer, time, notes</a:t>
            </a:r>
          </a:p>
        </p:txBody>
      </p:sp>
      <p:cxnSp>
        <p:nvCxnSpPr>
          <p:cNvPr id="22" name="Connector 21"/>
          <p:cNvCxnSpPr/>
          <p:nvPr/>
        </p:nvCxnSpPr>
        <p:spPr>
          <a:xfrm>
            <a:off x="9326880" y="1938528"/>
            <a:ext cx="237744" cy="0"/>
          </a:xfrm>
          <a:prstGeom prst="line">
            <a:avLst/>
          </a:prstGeom>
          <a:ln w="22225">
            <a:solidFill>
              <a:srgbClr val="1FA7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582912" y="1508760"/>
            <a:ext cx="2011680" cy="868680"/>
          </a:xfrm>
          <a:prstGeom prst="roundRect">
            <a:avLst>
              <a:gd name="adj" fmla="val 8000"/>
            </a:avLst>
          </a:prstGeom>
          <a:solidFill>
            <a:srgbClr val="FFFFFF"/>
          </a:solidFill>
          <a:ln w="12700">
            <a:solidFill>
              <a:srgbClr val="E3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0" y="1581912"/>
            <a:ext cx="1792224" cy="274320"/>
          </a:xfrm>
          <a:prstGeom prst="rect">
            <a:avLst/>
          </a:prstGeom>
          <a:noFill/>
        </p:spPr>
        <p:txBody>
          <a:bodyPr wrap="square" lIns="0" rIns="0" tIns="0" bIns="0" anchor="t"/>
          <a:lstStyle/>
          <a:p>
            <a:pPr algn="l"/>
            <a:r>
              <a:rPr sz="1250" b="1" i="0">
                <a:solidFill>
                  <a:srgbClr val="0A1628"/>
                </a:solidFill>
                <a:latin typeface="Calibri"/>
              </a:rPr>
              <a:t>Labelled dataset</a:t>
            </a:r>
          </a:p>
        </p:txBody>
      </p:sp>
      <p:sp>
        <p:nvSpPr>
          <p:cNvPr id="25" name="TextBox 24"/>
          <p:cNvSpPr txBox="1"/>
          <p:nvPr/>
        </p:nvSpPr>
        <p:spPr>
          <a:xfrm>
            <a:off x="9692640" y="1837943"/>
            <a:ext cx="1792224" cy="484632"/>
          </a:xfrm>
          <a:prstGeom prst="rect">
            <a:avLst/>
          </a:prstGeom>
          <a:noFill/>
        </p:spPr>
        <p:txBody>
          <a:bodyPr wrap="square" lIns="0" rIns="0" tIns="0" bIns="0" anchor="t"/>
          <a:lstStyle/>
          <a:p>
            <a:pPr algn="l"/>
            <a:r>
              <a:rPr sz="1100" b="0" i="0">
                <a:solidFill>
                  <a:srgbClr val="5C6874"/>
                </a:solidFill>
                <a:latin typeface="Calibri"/>
              </a:rPr>
              <a:t>Input to the modelling phase</a:t>
            </a:r>
          </a:p>
        </p:txBody>
      </p:sp>
      <p:sp>
        <p:nvSpPr>
          <p:cNvPr id="26" name="TextBox 25"/>
          <p:cNvSpPr txBox="1"/>
          <p:nvPr/>
        </p:nvSpPr>
        <p:spPr>
          <a:xfrm>
            <a:off x="438912" y="2697480"/>
            <a:ext cx="5486400" cy="201168"/>
          </a:xfrm>
          <a:prstGeom prst="rect">
            <a:avLst/>
          </a:prstGeom>
          <a:noFill/>
        </p:spPr>
        <p:txBody>
          <a:bodyPr wrap="square" lIns="0" rIns="0" tIns="0" bIns="0" anchor="t"/>
          <a:lstStyle/>
          <a:p>
            <a:pPr algn="l"/>
            <a:r>
              <a:rPr sz="1050" b="1" i="0">
                <a:solidFill>
                  <a:srgbClr val="0E6E7C"/>
                </a:solidFill>
                <a:latin typeface="Calibri"/>
              </a:rPr>
              <a:t>NOTIFICATION RULE (ALL CONDITIONS APPLY)</a:t>
            </a:r>
          </a:p>
        </p:txBody>
      </p:sp>
      <p:sp>
        <p:nvSpPr>
          <p:cNvPr id="27" name="Rectangle 26"/>
          <p:cNvSpPr/>
          <p:nvPr/>
        </p:nvSpPr>
        <p:spPr>
          <a:xfrm>
            <a:off x="438912" y="2944368"/>
            <a:ext cx="5486400" cy="18288"/>
          </a:xfrm>
          <a:prstGeom prst="rect">
            <a:avLst/>
          </a:prstGeom>
          <a:solidFill>
            <a:srgbClr val="E3D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912" y="3063240"/>
            <a:ext cx="5486400" cy="2011680"/>
          </a:xfrm>
          <a:prstGeom prst="rect">
            <a:avLst/>
          </a:prstGeom>
          <a:noFill/>
        </p:spPr>
        <p:txBody>
          <a:bodyPr wrap="square" lIns="0" rIns="0" tIns="0" bIns="0"/>
          <a:lstStyle/>
          <a:p>
            <a:pPr>
              <a:spcAft>
                <a:spcPts val="400"/>
              </a:spcAft>
            </a:pPr>
            <a:r>
              <a:rPr sz="1200" b="1" i="0">
                <a:solidFill>
                  <a:srgbClr val="0E6E7C"/>
                </a:solidFill>
                <a:latin typeface="Calibri"/>
              </a:rPr>
              <a:t>1.  </a:t>
            </a:r>
            <a:r>
              <a:rPr sz="1200" b="0" i="0">
                <a:solidFill>
                  <a:srgbClr val="243140"/>
                </a:solidFill>
                <a:latin typeface="Calibri"/>
              </a:rPr>
              <a:t>Case status is unreviewed.</a:t>
            </a:r>
          </a:p>
          <a:p>
            <a:pPr>
              <a:spcAft>
                <a:spcPts val="400"/>
              </a:spcAft>
            </a:pPr>
            <a:r>
              <a:rPr sz="1200" b="1" i="0">
                <a:solidFill>
                  <a:srgbClr val="0E6E7C"/>
                </a:solidFill>
                <a:latin typeface="Calibri"/>
              </a:rPr>
              <a:t>2.  </a:t>
            </a:r>
            <a:r>
              <a:rPr sz="1200" b="0" i="0">
                <a:solidFill>
                  <a:srgbClr val="243140"/>
                </a:solidFill>
                <a:latin typeface="Calibri"/>
              </a:rPr>
              <a:t>Suspicion score is 4.5 or higher.</a:t>
            </a:r>
          </a:p>
          <a:p>
            <a:pPr>
              <a:spcAft>
                <a:spcPts val="400"/>
              </a:spcAft>
            </a:pPr>
            <a:r>
              <a:rPr sz="1200" b="1" i="0">
                <a:solidFill>
                  <a:srgbClr val="0E6E7C"/>
                </a:solidFill>
                <a:latin typeface="Calibri"/>
              </a:rPr>
              <a:t>3.  </a:t>
            </a:r>
            <a:r>
              <a:rPr sz="1200" b="0" i="0">
                <a:solidFill>
                  <a:srgbClr val="243140"/>
                </a:solidFill>
                <a:latin typeface="Calibri"/>
              </a:rPr>
              <a:t>No in-force dredge licence on the pair.</a:t>
            </a:r>
          </a:p>
          <a:p>
            <a:pPr>
              <a:spcAft>
                <a:spcPts val="400"/>
              </a:spcAft>
            </a:pPr>
            <a:r>
              <a:rPr sz="1200" b="1" i="0">
                <a:solidFill>
                  <a:srgbClr val="0E6E7C"/>
                </a:solidFill>
                <a:latin typeface="Calibri"/>
              </a:rPr>
              <a:t>4.  </a:t>
            </a:r>
            <a:r>
              <a:rPr sz="1200" b="0" i="0">
                <a:solidFill>
                  <a:srgbClr val="243140"/>
                </a:solidFill>
                <a:latin typeface="Calibri"/>
              </a:rPr>
              <a:t>No bunker register match.</a:t>
            </a:r>
          </a:p>
          <a:p>
            <a:pPr>
              <a:spcAft>
                <a:spcPts val="400"/>
              </a:spcAft>
            </a:pPr>
            <a:r>
              <a:rPr sz="1200" b="1" i="0">
                <a:solidFill>
                  <a:srgbClr val="0E6E7C"/>
                </a:solidFill>
                <a:latin typeface="Calibri"/>
              </a:rPr>
              <a:t>5.  </a:t>
            </a:r>
            <a:r>
              <a:rPr sz="1200" b="0" i="0">
                <a:solidFill>
                  <a:srgbClr val="243140"/>
                </a:solidFill>
                <a:latin typeface="Calibri"/>
              </a:rPr>
              <a:t>At least one unexplained signal: sanctions match, outside anchorage, dark overlap or illegal anchoring overlap.</a:t>
            </a:r>
          </a:p>
        </p:txBody>
      </p:sp>
      <p:sp>
        <p:nvSpPr>
          <p:cNvPr id="29" name="TextBox 28"/>
          <p:cNvSpPr txBox="1"/>
          <p:nvPr/>
        </p:nvSpPr>
        <p:spPr>
          <a:xfrm>
            <a:off x="438912" y="4846320"/>
            <a:ext cx="5486400" cy="274320"/>
          </a:xfrm>
          <a:prstGeom prst="rect">
            <a:avLst/>
          </a:prstGeom>
          <a:noFill/>
        </p:spPr>
        <p:txBody>
          <a:bodyPr wrap="square" lIns="0" rIns="0" tIns="0" bIns="0" anchor="t"/>
          <a:lstStyle/>
          <a:p>
            <a:pPr algn="l"/>
            <a:r>
              <a:rPr sz="1200" b="0" i="0">
                <a:solidFill>
                  <a:srgbClr val="5C6874"/>
                </a:solidFill>
                <a:latin typeface="Calibri"/>
              </a:rPr>
              <a:t>Sanctioned cases are listed first, then by suspicion score.</a:t>
            </a:r>
          </a:p>
        </p:txBody>
      </p:sp>
      <p:sp>
        <p:nvSpPr>
          <p:cNvPr id="30" name="TextBox 29"/>
          <p:cNvSpPr txBox="1"/>
          <p:nvPr/>
        </p:nvSpPr>
        <p:spPr>
          <a:xfrm>
            <a:off x="6355080" y="2697480"/>
            <a:ext cx="5394960" cy="201168"/>
          </a:xfrm>
          <a:prstGeom prst="rect">
            <a:avLst/>
          </a:prstGeom>
          <a:noFill/>
        </p:spPr>
        <p:txBody>
          <a:bodyPr wrap="square" lIns="0" rIns="0" tIns="0" bIns="0" anchor="t"/>
          <a:lstStyle/>
          <a:p>
            <a:pPr algn="l"/>
            <a:r>
              <a:rPr sz="1050" b="1" i="0">
                <a:solidFill>
                  <a:srgbClr val="0E6E7C"/>
                </a:solidFill>
                <a:latin typeface="Calibri"/>
              </a:rPr>
              <a:t>ANALYST DECISION</a:t>
            </a:r>
          </a:p>
        </p:txBody>
      </p:sp>
      <p:sp>
        <p:nvSpPr>
          <p:cNvPr id="31" name="Rectangle 30"/>
          <p:cNvSpPr/>
          <p:nvPr/>
        </p:nvSpPr>
        <p:spPr>
          <a:xfrm>
            <a:off x="6355080" y="2944368"/>
            <a:ext cx="5394960" cy="18288"/>
          </a:xfrm>
          <a:prstGeom prst="rect">
            <a:avLst/>
          </a:prstGeom>
          <a:solidFill>
            <a:srgbClr val="E3D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5080" y="3063240"/>
            <a:ext cx="5394960" cy="2286000"/>
          </a:xfrm>
          <a:prstGeom prst="rect">
            <a:avLst/>
          </a:prstGeom>
          <a:noFill/>
        </p:spPr>
        <p:txBody>
          <a:bodyPr wrap="square" lIns="0" rIns="0" tIns="0" bIns="0"/>
          <a:lstStyle/>
          <a:p>
            <a:pPr>
              <a:spcAft>
                <a:spcPts val="700"/>
              </a:spcAft>
            </a:pPr>
            <a:r>
              <a:rPr sz="1200" b="1" i="0">
                <a:solidFill>
                  <a:srgbClr val="162333"/>
                </a:solidFill>
                <a:latin typeface="Calibri"/>
              </a:rPr>
              <a:t>Classes.</a:t>
            </a:r>
            <a:r>
              <a:rPr sz="1200" b="0" i="0">
                <a:solidFill>
                  <a:srgbClr val="243140"/>
                </a:solidFill>
                <a:latin typeface="Calibri"/>
              </a:rPr>
              <a:t>  Illicit transfer, bunkering, dredging, other lawful activity, or uncertain.</a:t>
            </a:r>
          </a:p>
          <a:p>
            <a:pPr>
              <a:spcAft>
                <a:spcPts val="700"/>
              </a:spcAft>
            </a:pPr>
            <a:r>
              <a:rPr sz="1200" b="1" i="0">
                <a:solidFill>
                  <a:srgbClr val="162333"/>
                </a:solidFill>
                <a:latin typeface="Calibri"/>
              </a:rPr>
              <a:t>Recorded with the class.</a:t>
            </a:r>
            <a:r>
              <a:rPr sz="1200" b="0" i="0">
                <a:solidFill>
                  <a:srgbClr val="243140"/>
                </a:solidFill>
                <a:latin typeface="Calibri"/>
              </a:rPr>
              <a:t>  Reviewer, timestamp and notes. Once a case is reviewed, the pipeline no longer updates it.</a:t>
            </a:r>
          </a:p>
          <a:p>
            <a:pPr>
              <a:spcAft>
                <a:spcPts val="700"/>
              </a:spcAft>
            </a:pPr>
            <a:r>
              <a:rPr sz="1200" b="1" i="0">
                <a:solidFill>
                  <a:srgbClr val="162333"/>
                </a:solidFill>
                <a:latin typeface="Calibri"/>
              </a:rPr>
              <a:t>Unreviewed report.</a:t>
            </a:r>
            <a:r>
              <a:rPr sz="1200" b="0" i="0">
                <a:solidFill>
                  <a:srgbClr val="243140"/>
                </a:solidFill>
                <a:latin typeface="Calibri"/>
              </a:rPr>
              <a:t>  Lists every open case with an optional date range, so investigations that take days or weeks can be found again and closed.</a:t>
            </a:r>
          </a:p>
        </p:txBody>
      </p:sp>
      <p:sp>
        <p:nvSpPr>
          <p:cNvPr id="33" name="Rounded Rectangle 32"/>
          <p:cNvSpPr/>
          <p:nvPr/>
        </p:nvSpPr>
        <p:spPr>
          <a:xfrm>
            <a:off x="438912" y="5486400"/>
            <a:ext cx="11311128" cy="841248"/>
          </a:xfrm>
          <a:prstGeom prst="roundRect">
            <a:avLst>
              <a:gd name="adj" fmla="val 8000"/>
            </a:avLst>
          </a:prstGeom>
          <a:solidFill>
            <a:srgbClr val="E8F4F6"/>
          </a:solidFill>
          <a:ln w="12700">
            <a:solidFill>
              <a:srgbClr val="1FA7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1792" y="5577840"/>
            <a:ext cx="1828800" cy="219456"/>
          </a:xfrm>
          <a:prstGeom prst="rect">
            <a:avLst/>
          </a:prstGeom>
          <a:noFill/>
        </p:spPr>
        <p:txBody>
          <a:bodyPr wrap="square" lIns="0" rIns="0" tIns="0" bIns="0" anchor="t"/>
          <a:lstStyle/>
          <a:p>
            <a:pPr algn="l"/>
            <a:r>
              <a:rPr sz="1000" b="1" i="0">
                <a:solidFill>
                  <a:srgbClr val="0E6E7C"/>
                </a:solidFill>
                <a:latin typeface="Calibri"/>
              </a:rPr>
              <a:t>API ENDPOINTS</a:t>
            </a:r>
          </a:p>
        </p:txBody>
      </p:sp>
      <p:sp>
        <p:nvSpPr>
          <p:cNvPr id="35" name="TextBox 34"/>
          <p:cNvSpPr txBox="1"/>
          <p:nvPr/>
        </p:nvSpPr>
        <p:spPr>
          <a:xfrm>
            <a:off x="621792" y="5815584"/>
            <a:ext cx="5486400" cy="502920"/>
          </a:xfrm>
          <a:prstGeom prst="rect">
            <a:avLst/>
          </a:prstGeom>
          <a:noFill/>
        </p:spPr>
        <p:txBody>
          <a:bodyPr wrap="square" lIns="0" rIns="0" tIns="0" bIns="0" anchor="t"/>
          <a:lstStyle/>
          <a:p>
            <a:pPr algn="l"/>
            <a:r>
              <a:rPr sz="1100" b="0" i="0">
                <a:solidFill>
                  <a:srgbClr val="162333"/>
                </a:solidFill>
                <a:latin typeface="Calibri"/>
              </a:rPr>
              <a:t>GET /mantis/sts-review      notification queue</a:t>
            </a:r>
            <a:br/>
            <a:r>
              <a:rPr sz="1100" b="0" i="0">
                <a:solidFill>
                  <a:srgbClr val="162333"/>
                </a:solidFill>
                <a:latin typeface="Calibri"/>
              </a:rPr>
              <a:t>GET /mantis/sts-review/unreviewed?from=&amp;to=      unreviewed report</a:t>
            </a:r>
          </a:p>
        </p:txBody>
      </p:sp>
      <p:sp>
        <p:nvSpPr>
          <p:cNvPr id="36" name="TextBox 35"/>
          <p:cNvSpPr txBox="1"/>
          <p:nvPr/>
        </p:nvSpPr>
        <p:spPr>
          <a:xfrm>
            <a:off x="6355080" y="5815584"/>
            <a:ext cx="5212080" cy="274320"/>
          </a:xfrm>
          <a:prstGeom prst="rect">
            <a:avLst/>
          </a:prstGeom>
          <a:noFill/>
        </p:spPr>
        <p:txBody>
          <a:bodyPr wrap="square" lIns="0" rIns="0" tIns="0" bIns="0" anchor="t"/>
          <a:lstStyle/>
          <a:p>
            <a:pPr algn="l"/>
            <a:r>
              <a:rPr sz="1100" b="0" i="0">
                <a:solidFill>
                  <a:srgbClr val="162333"/>
                </a:solidFill>
                <a:latin typeface="Calibri"/>
              </a:rPr>
              <a:t>POST /mantis/sts-review/{caseId}/verify      analyst decision</a:t>
            </a:r>
          </a:p>
        </p:txBody>
      </p:sp>
      <p:sp>
        <p:nvSpPr>
          <p:cNvPr id="37" name="TextBox 36"/>
          <p:cNvSpPr txBox="1"/>
          <p:nvPr/>
        </p:nvSpPr>
        <p:spPr>
          <a:xfrm>
            <a:off x="438912" y="6492240"/>
            <a:ext cx="5486400" cy="237744"/>
          </a:xfrm>
          <a:prstGeom prst="rect">
            <a:avLst/>
          </a:prstGeom>
          <a:noFill/>
        </p:spPr>
        <p:txBody>
          <a:bodyPr wrap="square" lIns="0" rIns="0" tIns="0" bIns="0" anchor="t"/>
          <a:lstStyle/>
          <a:p>
            <a:pPr algn="l"/>
            <a:r>
              <a:rPr sz="1000" b="1" i="0">
                <a:solidFill>
                  <a:srgbClr val="5C6874"/>
                </a:solidFill>
                <a:latin typeface="Calibri"/>
              </a:rPr>
              <a:t>MANTIS  |  Maritime Intelligence &amp; Intercept System</a:t>
            </a:r>
          </a:p>
        </p:txBody>
      </p:sp>
      <p:sp>
        <p:nvSpPr>
          <p:cNvPr id="38" name="TextBox 37"/>
          <p:cNvSpPr txBox="1"/>
          <p:nvPr/>
        </p:nvSpPr>
        <p:spPr>
          <a:xfrm>
            <a:off x="4754880" y="6492240"/>
            <a:ext cx="2743200" cy="237744"/>
          </a:xfrm>
          <a:prstGeom prst="rect">
            <a:avLst/>
          </a:prstGeom>
          <a:noFill/>
        </p:spPr>
        <p:txBody>
          <a:bodyPr wrap="square" lIns="0" rIns="0" tIns="0" bIns="0" anchor="t"/>
          <a:lstStyle/>
          <a:p>
            <a:pPr algn="ctr"/>
            <a:r>
              <a:rPr sz="1000" b="0" i="0">
                <a:solidFill>
                  <a:srgbClr val="5C6874"/>
                </a:solidFill>
                <a:latin typeface="Calibri"/>
              </a:rPr>
              <a:t>October 2026</a:t>
            </a:r>
          </a:p>
        </p:txBody>
      </p:sp>
      <p:sp>
        <p:nvSpPr>
          <p:cNvPr id="39" name="TextBox 38"/>
          <p:cNvSpPr txBox="1"/>
          <p:nvPr/>
        </p:nvSpPr>
        <p:spPr>
          <a:xfrm>
            <a:off x="10332720" y="6492240"/>
            <a:ext cx="1417320" cy="237744"/>
          </a:xfrm>
          <a:prstGeom prst="rect">
            <a:avLst/>
          </a:prstGeom>
          <a:noFill/>
        </p:spPr>
        <p:txBody>
          <a:bodyPr wrap="square" lIns="0" rIns="0" tIns="0" bIns="0" anchor="t"/>
          <a:lstStyle/>
          <a:p>
            <a:pPr algn="r"/>
            <a:r>
              <a:rPr sz="1000" b="0" i="0">
                <a:solidFill>
                  <a:srgbClr val="5C6874"/>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1FA7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56032"/>
            <a:ext cx="8229600" cy="219456"/>
          </a:xfrm>
          <a:prstGeom prst="rect">
            <a:avLst/>
          </a:prstGeom>
          <a:noFill/>
        </p:spPr>
        <p:txBody>
          <a:bodyPr wrap="square" lIns="0" rIns="0" tIns="0" bIns="0" anchor="t"/>
          <a:lstStyle/>
          <a:p>
            <a:pPr algn="l"/>
            <a:r>
              <a:rPr sz="1100" b="1" i="0">
                <a:solidFill>
                  <a:srgbClr val="0E6E7C"/>
                </a:solidFill>
                <a:latin typeface="Calibri"/>
              </a:rPr>
              <a:t>ROADMAP</a:t>
            </a:r>
          </a:p>
        </p:txBody>
      </p:sp>
      <p:sp>
        <p:nvSpPr>
          <p:cNvPr id="5" name="TextBox 4"/>
          <p:cNvSpPr txBox="1"/>
          <p:nvPr/>
        </p:nvSpPr>
        <p:spPr>
          <a:xfrm>
            <a:off x="420624" y="457200"/>
            <a:ext cx="11338560" cy="457200"/>
          </a:xfrm>
          <a:prstGeom prst="rect">
            <a:avLst/>
          </a:prstGeom>
          <a:noFill/>
        </p:spPr>
        <p:txBody>
          <a:bodyPr wrap="square" lIns="0" rIns="0" tIns="0" bIns="0" anchor="t"/>
          <a:lstStyle/>
          <a:p>
            <a:pPr algn="l"/>
            <a:r>
              <a:rPr sz="2600" b="1" i="0">
                <a:solidFill>
                  <a:srgbClr val="0A1628"/>
                </a:solidFill>
                <a:latin typeface="Calibri"/>
              </a:rPr>
              <a:t>From validated data to a machine-learning model</a:t>
            </a:r>
          </a:p>
        </p:txBody>
      </p:sp>
      <p:sp>
        <p:nvSpPr>
          <p:cNvPr id="6" name="TextBox 5"/>
          <p:cNvSpPr txBox="1"/>
          <p:nvPr/>
        </p:nvSpPr>
        <p:spPr>
          <a:xfrm>
            <a:off x="438912" y="932688"/>
            <a:ext cx="11292840" cy="384048"/>
          </a:xfrm>
          <a:prstGeom prst="rect">
            <a:avLst/>
          </a:prstGeom>
          <a:noFill/>
        </p:spPr>
        <p:txBody>
          <a:bodyPr wrap="square" lIns="0" rIns="0" tIns="0" bIns="0" anchor="t"/>
          <a:lstStyle/>
          <a:p>
            <a:pPr algn="l"/>
            <a:r>
              <a:rPr sz="1350" b="0" i="0">
                <a:solidFill>
                  <a:srgbClr val="5C6874"/>
                </a:solidFill>
                <a:latin typeface="Calibri"/>
              </a:rPr>
              <a:t>A reliable model needs verified outcomes to learn from. The current phase is building that record.</a:t>
            </a:r>
          </a:p>
        </p:txBody>
      </p:sp>
      <p:sp>
        <p:nvSpPr>
          <p:cNvPr id="7" name="Rounded Rectangle 6"/>
          <p:cNvSpPr/>
          <p:nvPr/>
        </p:nvSpPr>
        <p:spPr>
          <a:xfrm>
            <a:off x="438912" y="1508760"/>
            <a:ext cx="3639312" cy="3246120"/>
          </a:xfrm>
          <a:prstGeom prst="roundRect">
            <a:avLst>
              <a:gd name="adj" fmla="val 8000"/>
            </a:avLst>
          </a:prstGeom>
          <a:solidFill>
            <a:srgbClr val="12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 y="1664208"/>
            <a:ext cx="1645920" cy="219456"/>
          </a:xfrm>
          <a:prstGeom prst="rect">
            <a:avLst/>
          </a:prstGeom>
          <a:noFill/>
        </p:spPr>
        <p:txBody>
          <a:bodyPr wrap="square" lIns="0" rIns="0" tIns="0" bIns="0" anchor="t"/>
          <a:lstStyle/>
          <a:p>
            <a:pPr algn="l"/>
            <a:r>
              <a:rPr sz="1100" b="1" i="0">
                <a:solidFill>
                  <a:srgbClr val="1FA7B8"/>
                </a:solidFill>
                <a:latin typeface="Calibri"/>
              </a:rPr>
              <a:t>PHASE 1</a:t>
            </a:r>
          </a:p>
        </p:txBody>
      </p:sp>
      <p:sp>
        <p:nvSpPr>
          <p:cNvPr id="9" name="TextBox 8"/>
          <p:cNvSpPr txBox="1"/>
          <p:nvPr/>
        </p:nvSpPr>
        <p:spPr>
          <a:xfrm>
            <a:off x="2176272" y="1664208"/>
            <a:ext cx="1691640" cy="219456"/>
          </a:xfrm>
          <a:prstGeom prst="rect">
            <a:avLst/>
          </a:prstGeom>
          <a:noFill/>
        </p:spPr>
        <p:txBody>
          <a:bodyPr wrap="square" lIns="0" rIns="0" tIns="0" bIns="0" anchor="t"/>
          <a:lstStyle/>
          <a:p>
            <a:pPr algn="r"/>
            <a:r>
              <a:rPr sz="1100" b="1" i="0">
                <a:solidFill>
                  <a:srgbClr val="C4A35A"/>
                </a:solidFill>
                <a:latin typeface="Calibri"/>
              </a:rPr>
              <a:t>Current</a:t>
            </a:r>
          </a:p>
        </p:txBody>
      </p:sp>
      <p:sp>
        <p:nvSpPr>
          <p:cNvPr id="10" name="TextBox 9"/>
          <p:cNvSpPr txBox="1"/>
          <p:nvPr/>
        </p:nvSpPr>
        <p:spPr>
          <a:xfrm>
            <a:off x="667512" y="1938528"/>
            <a:ext cx="3200400" cy="365760"/>
          </a:xfrm>
          <a:prstGeom prst="rect">
            <a:avLst/>
          </a:prstGeom>
          <a:noFill/>
        </p:spPr>
        <p:txBody>
          <a:bodyPr wrap="square" lIns="0" rIns="0" tIns="0" bIns="0" anchor="t"/>
          <a:lstStyle/>
          <a:p>
            <a:pPr algn="l"/>
            <a:r>
              <a:rPr sz="1700" b="1" i="0">
                <a:solidFill>
                  <a:srgbClr val="FFFFFF"/>
                </a:solidFill>
                <a:latin typeface="Calibri"/>
              </a:rPr>
              <a:t>Data collection and validation</a:t>
            </a:r>
          </a:p>
        </p:txBody>
      </p:sp>
      <p:sp>
        <p:nvSpPr>
          <p:cNvPr id="11" name="TextBox 10"/>
          <p:cNvSpPr txBox="1"/>
          <p:nvPr/>
        </p:nvSpPr>
        <p:spPr>
          <a:xfrm>
            <a:off x="667512" y="2423160"/>
            <a:ext cx="3200400" cy="2240280"/>
          </a:xfrm>
          <a:prstGeom prst="rect">
            <a:avLst/>
          </a:prstGeom>
          <a:noFill/>
        </p:spPr>
        <p:txBody>
          <a:bodyPr wrap="square" lIns="0" rIns="0" tIns="0" bIns="0"/>
          <a:lstStyle/>
          <a:p>
            <a:pPr>
              <a:spcAft>
                <a:spcPts val="700"/>
              </a:spcAft>
            </a:pPr>
            <a:r>
              <a:rPr sz="1200" b="0" i="0">
                <a:solidFill>
                  <a:srgbClr val="D5E0E8"/>
                </a:solidFill>
                <a:latin typeface="Calibri"/>
              </a:rPr>
              <a:t>All six modules and their data pipelines in production.</a:t>
            </a:r>
          </a:p>
          <a:p>
            <a:pPr>
              <a:spcAft>
                <a:spcPts val="700"/>
              </a:spcAft>
            </a:pPr>
            <a:r>
              <a:rPr sz="1200" b="0" i="0">
                <a:solidFill>
                  <a:srgbClr val="D5E0E8"/>
                </a:solidFill>
                <a:latin typeface="Calibri"/>
              </a:rPr>
              <a:t>Every STS observation converted into an enriched review case.</a:t>
            </a:r>
          </a:p>
          <a:p>
            <a:pPr>
              <a:spcAft>
                <a:spcPts val="700"/>
              </a:spcAft>
            </a:pPr>
            <a:r>
              <a:rPr sz="1200" b="0" i="0">
                <a:solidFill>
                  <a:srgbClr val="D5E0E8"/>
                </a:solidFill>
                <a:latin typeface="Calibri"/>
              </a:rPr>
              <a:t>Analysts classify notified cases and close older ones through the unreviewed report.</a:t>
            </a:r>
          </a:p>
        </p:txBody>
      </p:sp>
      <p:sp>
        <p:nvSpPr>
          <p:cNvPr id="12" name="Rounded Rectangle 11"/>
          <p:cNvSpPr/>
          <p:nvPr/>
        </p:nvSpPr>
        <p:spPr>
          <a:xfrm>
            <a:off x="4261104" y="1508760"/>
            <a:ext cx="3639312" cy="3246120"/>
          </a:xfrm>
          <a:prstGeom prst="roundRect">
            <a:avLst>
              <a:gd name="adj" fmla="val 8000"/>
            </a:avLst>
          </a:prstGeom>
          <a:solidFill>
            <a:srgbClr val="FFFFFF"/>
          </a:solidFill>
          <a:ln w="12700">
            <a:solidFill>
              <a:srgbClr val="E3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9704" y="1664208"/>
            <a:ext cx="1645920" cy="219456"/>
          </a:xfrm>
          <a:prstGeom prst="rect">
            <a:avLst/>
          </a:prstGeom>
          <a:noFill/>
        </p:spPr>
        <p:txBody>
          <a:bodyPr wrap="square" lIns="0" rIns="0" tIns="0" bIns="0" anchor="t"/>
          <a:lstStyle/>
          <a:p>
            <a:pPr algn="l"/>
            <a:r>
              <a:rPr sz="1100" b="1" i="0">
                <a:solidFill>
                  <a:srgbClr val="0E6E7C"/>
                </a:solidFill>
                <a:latin typeface="Calibri"/>
              </a:rPr>
              <a:t>PHASE 2</a:t>
            </a:r>
          </a:p>
        </p:txBody>
      </p:sp>
      <p:sp>
        <p:nvSpPr>
          <p:cNvPr id="14" name="TextBox 13"/>
          <p:cNvSpPr txBox="1"/>
          <p:nvPr/>
        </p:nvSpPr>
        <p:spPr>
          <a:xfrm>
            <a:off x="5998464" y="1664208"/>
            <a:ext cx="1691640" cy="219456"/>
          </a:xfrm>
          <a:prstGeom prst="rect">
            <a:avLst/>
          </a:prstGeom>
          <a:noFill/>
        </p:spPr>
        <p:txBody>
          <a:bodyPr wrap="square" lIns="0" rIns="0" tIns="0" bIns="0" anchor="t"/>
          <a:lstStyle/>
          <a:p>
            <a:pPr algn="r"/>
            <a:r>
              <a:rPr sz="1100" b="1" i="0">
                <a:solidFill>
                  <a:srgbClr val="C4A35A"/>
                </a:solidFill>
                <a:latin typeface="Calibri"/>
              </a:rPr>
              <a:t>Next</a:t>
            </a:r>
          </a:p>
        </p:txBody>
      </p:sp>
      <p:sp>
        <p:nvSpPr>
          <p:cNvPr id="15" name="TextBox 14"/>
          <p:cNvSpPr txBox="1"/>
          <p:nvPr/>
        </p:nvSpPr>
        <p:spPr>
          <a:xfrm>
            <a:off x="4489704" y="1938528"/>
            <a:ext cx="3200400" cy="365760"/>
          </a:xfrm>
          <a:prstGeom prst="rect">
            <a:avLst/>
          </a:prstGeom>
          <a:noFill/>
        </p:spPr>
        <p:txBody>
          <a:bodyPr wrap="square" lIns="0" rIns="0" tIns="0" bIns="0" anchor="t"/>
          <a:lstStyle/>
          <a:p>
            <a:pPr algn="l"/>
            <a:r>
              <a:rPr sz="1700" b="1" i="0">
                <a:solidFill>
                  <a:srgbClr val="0A1628"/>
                </a:solidFill>
                <a:latin typeface="Calibri"/>
              </a:rPr>
              <a:t>Labelled dataset</a:t>
            </a:r>
          </a:p>
        </p:txBody>
      </p:sp>
      <p:sp>
        <p:nvSpPr>
          <p:cNvPr id="16" name="TextBox 15"/>
          <p:cNvSpPr txBox="1"/>
          <p:nvPr/>
        </p:nvSpPr>
        <p:spPr>
          <a:xfrm>
            <a:off x="4489704" y="2423160"/>
            <a:ext cx="3200400" cy="2240280"/>
          </a:xfrm>
          <a:prstGeom prst="rect">
            <a:avLst/>
          </a:prstGeom>
          <a:noFill/>
        </p:spPr>
        <p:txBody>
          <a:bodyPr wrap="square" lIns="0" rIns="0" tIns="0" bIns="0"/>
          <a:lstStyle/>
          <a:p>
            <a:pPr>
              <a:spcAft>
                <a:spcPts val="700"/>
              </a:spcAft>
            </a:pPr>
            <a:r>
              <a:rPr sz="1200" b="0" i="0">
                <a:solidFill>
                  <a:srgbClr val="243140"/>
                </a:solidFill>
                <a:latin typeface="Calibri"/>
              </a:rPr>
              <a:t>Dashboard view of the review queue.</a:t>
            </a:r>
          </a:p>
          <a:p>
            <a:pPr>
              <a:spcAft>
                <a:spcPts val="700"/>
              </a:spcAft>
            </a:pPr>
            <a:r>
              <a:rPr sz="1200" b="0" i="0">
                <a:solidFill>
                  <a:srgbClr val="243140"/>
                </a:solidFill>
                <a:latin typeface="Calibri"/>
              </a:rPr>
              <a:t>Bunker vessel register integrated as a lawful explanation, expected within three months.</a:t>
            </a:r>
          </a:p>
          <a:p>
            <a:pPr>
              <a:spcAft>
                <a:spcPts val="700"/>
              </a:spcAft>
            </a:pPr>
            <a:r>
              <a:rPr sz="1200" b="0" i="0">
                <a:solidFill>
                  <a:srgbClr val="243140"/>
                </a:solidFill>
                <a:latin typeface="Calibri"/>
              </a:rPr>
              <a:t>Export of reviewed cases with their features and the analyst class.</a:t>
            </a:r>
          </a:p>
        </p:txBody>
      </p:sp>
      <p:sp>
        <p:nvSpPr>
          <p:cNvPr id="17" name="Rounded Rectangle 16"/>
          <p:cNvSpPr/>
          <p:nvPr/>
        </p:nvSpPr>
        <p:spPr>
          <a:xfrm>
            <a:off x="8083296" y="1508760"/>
            <a:ext cx="3639312" cy="3246120"/>
          </a:xfrm>
          <a:prstGeom prst="roundRect">
            <a:avLst>
              <a:gd name="adj" fmla="val 8000"/>
            </a:avLst>
          </a:prstGeom>
          <a:solidFill>
            <a:srgbClr val="FFFFFF"/>
          </a:solidFill>
          <a:ln w="12700">
            <a:solidFill>
              <a:srgbClr val="E3DD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11896" y="1664208"/>
            <a:ext cx="1645920" cy="219456"/>
          </a:xfrm>
          <a:prstGeom prst="rect">
            <a:avLst/>
          </a:prstGeom>
          <a:noFill/>
        </p:spPr>
        <p:txBody>
          <a:bodyPr wrap="square" lIns="0" rIns="0" tIns="0" bIns="0" anchor="t"/>
          <a:lstStyle/>
          <a:p>
            <a:pPr algn="l"/>
            <a:r>
              <a:rPr sz="1100" b="1" i="0">
                <a:solidFill>
                  <a:srgbClr val="0E6E7C"/>
                </a:solidFill>
                <a:latin typeface="Calibri"/>
              </a:rPr>
              <a:t>PHASE 3</a:t>
            </a:r>
          </a:p>
        </p:txBody>
      </p:sp>
      <p:sp>
        <p:nvSpPr>
          <p:cNvPr id="19" name="TextBox 18"/>
          <p:cNvSpPr txBox="1"/>
          <p:nvPr/>
        </p:nvSpPr>
        <p:spPr>
          <a:xfrm>
            <a:off x="9820656" y="1664208"/>
            <a:ext cx="1691640" cy="219456"/>
          </a:xfrm>
          <a:prstGeom prst="rect">
            <a:avLst/>
          </a:prstGeom>
          <a:noFill/>
        </p:spPr>
        <p:txBody>
          <a:bodyPr wrap="square" lIns="0" rIns="0" tIns="0" bIns="0" anchor="t"/>
          <a:lstStyle/>
          <a:p>
            <a:pPr algn="r"/>
            <a:r>
              <a:rPr sz="1100" b="1" i="0">
                <a:solidFill>
                  <a:srgbClr val="C4A35A"/>
                </a:solidFill>
                <a:latin typeface="Calibri"/>
              </a:rPr>
              <a:t>After phase 2</a:t>
            </a:r>
          </a:p>
        </p:txBody>
      </p:sp>
      <p:sp>
        <p:nvSpPr>
          <p:cNvPr id="20" name="TextBox 19"/>
          <p:cNvSpPr txBox="1"/>
          <p:nvPr/>
        </p:nvSpPr>
        <p:spPr>
          <a:xfrm>
            <a:off x="8311896" y="1938528"/>
            <a:ext cx="3200400" cy="365760"/>
          </a:xfrm>
          <a:prstGeom prst="rect">
            <a:avLst/>
          </a:prstGeom>
          <a:noFill/>
        </p:spPr>
        <p:txBody>
          <a:bodyPr wrap="square" lIns="0" rIns="0" tIns="0" bIns="0" anchor="t"/>
          <a:lstStyle/>
          <a:p>
            <a:pPr algn="l"/>
            <a:r>
              <a:rPr sz="1700" b="1" i="0">
                <a:solidFill>
                  <a:srgbClr val="0A1628"/>
                </a:solidFill>
                <a:latin typeface="Calibri"/>
              </a:rPr>
              <a:t>Model development</a:t>
            </a:r>
          </a:p>
        </p:txBody>
      </p:sp>
      <p:sp>
        <p:nvSpPr>
          <p:cNvPr id="21" name="TextBox 20"/>
          <p:cNvSpPr txBox="1"/>
          <p:nvPr/>
        </p:nvSpPr>
        <p:spPr>
          <a:xfrm>
            <a:off x="8311896" y="2423160"/>
            <a:ext cx="3200400" cy="2240280"/>
          </a:xfrm>
          <a:prstGeom prst="rect">
            <a:avLst/>
          </a:prstGeom>
          <a:noFill/>
        </p:spPr>
        <p:txBody>
          <a:bodyPr wrap="square" lIns="0" rIns="0" tIns="0" bIns="0"/>
          <a:lstStyle/>
          <a:p>
            <a:pPr>
              <a:spcAft>
                <a:spcPts val="700"/>
              </a:spcAft>
            </a:pPr>
            <a:r>
              <a:rPr sz="1200" b="0" i="0">
                <a:solidFill>
                  <a:srgbClr val="243140"/>
                </a:solidFill>
                <a:latin typeface="Calibri"/>
              </a:rPr>
              <a:t>Supervised model trained on analyst classes, never on the notification itself.</a:t>
            </a:r>
          </a:p>
          <a:p>
            <a:pPr>
              <a:spcAft>
                <a:spcPts val="700"/>
              </a:spcAft>
            </a:pPr>
            <a:r>
              <a:rPr sz="1200" b="0" i="0">
                <a:solidFill>
                  <a:srgbClr val="243140"/>
                </a:solidFill>
                <a:latin typeface="Calibri"/>
              </a:rPr>
              <a:t>Evaluated against reviewed cases held out from training.</a:t>
            </a:r>
          </a:p>
          <a:p>
            <a:pPr>
              <a:spcAft>
                <a:spcPts val="700"/>
              </a:spcAft>
            </a:pPr>
            <a:r>
              <a:rPr sz="1200" b="0" i="0">
                <a:solidFill>
                  <a:srgbClr val="243140"/>
                </a:solidFill>
                <a:latin typeface="Calibri"/>
              </a:rPr>
              <a:t>Model output added as a ranking signal; the analyst remains the decision-maker.</a:t>
            </a:r>
          </a:p>
        </p:txBody>
      </p:sp>
      <p:sp>
        <p:nvSpPr>
          <p:cNvPr id="22" name="TextBox 21"/>
          <p:cNvSpPr txBox="1"/>
          <p:nvPr/>
        </p:nvSpPr>
        <p:spPr>
          <a:xfrm>
            <a:off x="438912" y="4956048"/>
            <a:ext cx="6766560" cy="201168"/>
          </a:xfrm>
          <a:prstGeom prst="rect">
            <a:avLst/>
          </a:prstGeom>
          <a:noFill/>
        </p:spPr>
        <p:txBody>
          <a:bodyPr wrap="square" lIns="0" rIns="0" tIns="0" bIns="0" anchor="t"/>
          <a:lstStyle/>
          <a:p>
            <a:pPr algn="l"/>
            <a:r>
              <a:rPr sz="1050" b="1" i="0">
                <a:solidFill>
                  <a:srgbClr val="0E6E7C"/>
                </a:solidFill>
                <a:latin typeface="Calibri"/>
              </a:rPr>
              <a:t>FEATURES AVAILABLE TO THE MODEL</a:t>
            </a:r>
          </a:p>
        </p:txBody>
      </p:sp>
      <p:sp>
        <p:nvSpPr>
          <p:cNvPr id="23" name="Rectangle 22"/>
          <p:cNvSpPr/>
          <p:nvPr/>
        </p:nvSpPr>
        <p:spPr>
          <a:xfrm>
            <a:off x="438912" y="5202936"/>
            <a:ext cx="6766560" cy="18288"/>
          </a:xfrm>
          <a:prstGeom prst="rect">
            <a:avLst/>
          </a:prstGeom>
          <a:solidFill>
            <a:srgbClr val="E3D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8912" y="5303520"/>
            <a:ext cx="6766560" cy="1005840"/>
          </a:xfrm>
          <a:prstGeom prst="rect">
            <a:avLst/>
          </a:prstGeom>
          <a:noFill/>
        </p:spPr>
        <p:txBody>
          <a:bodyPr wrap="square" lIns="0" rIns="0" tIns="0" bIns="0" anchor="t"/>
          <a:lstStyle/>
          <a:p>
            <a:pPr algn="l"/>
            <a:r>
              <a:rPr sz="1200" b="0" i="0">
                <a:solidFill>
                  <a:srgbClr val="243140"/>
                </a:solidFill>
                <a:latin typeface="Calibri"/>
              </a:rPr>
              <a:t>Duration, distance, vessel count and vessel composition, kept as separate inputs. Vessel types, sanctions match, anchorage position, dark and illegal-anchoring overlap, loitering and position anomalies, dredge licence and bunker register match.</a:t>
            </a:r>
          </a:p>
        </p:txBody>
      </p:sp>
      <p:sp>
        <p:nvSpPr>
          <p:cNvPr id="25" name="TextBox 24"/>
          <p:cNvSpPr txBox="1"/>
          <p:nvPr/>
        </p:nvSpPr>
        <p:spPr>
          <a:xfrm>
            <a:off x="7498079" y="4956048"/>
            <a:ext cx="4251960" cy="201168"/>
          </a:xfrm>
          <a:prstGeom prst="rect">
            <a:avLst/>
          </a:prstGeom>
          <a:noFill/>
        </p:spPr>
        <p:txBody>
          <a:bodyPr wrap="square" lIns="0" rIns="0" tIns="0" bIns="0" anchor="t"/>
          <a:lstStyle/>
          <a:p>
            <a:pPr algn="l"/>
            <a:r>
              <a:rPr sz="1050" b="1" i="0">
                <a:solidFill>
                  <a:srgbClr val="0E6E7C"/>
                </a:solidFill>
                <a:latin typeface="Calibri"/>
              </a:rPr>
              <a:t>CONDITIONS TO START PHASE 3</a:t>
            </a:r>
          </a:p>
        </p:txBody>
      </p:sp>
      <p:sp>
        <p:nvSpPr>
          <p:cNvPr id="26" name="Rectangle 25"/>
          <p:cNvSpPr/>
          <p:nvPr/>
        </p:nvSpPr>
        <p:spPr>
          <a:xfrm>
            <a:off x="7498079" y="5202936"/>
            <a:ext cx="4251960" cy="18288"/>
          </a:xfrm>
          <a:prstGeom prst="rect">
            <a:avLst/>
          </a:prstGeom>
          <a:solidFill>
            <a:srgbClr val="E3DD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79" y="5303520"/>
            <a:ext cx="4251960" cy="1005840"/>
          </a:xfrm>
          <a:prstGeom prst="rect">
            <a:avLst/>
          </a:prstGeom>
          <a:noFill/>
        </p:spPr>
        <p:txBody>
          <a:bodyPr wrap="square" lIns="0" rIns="0" tIns="0" bIns="0"/>
          <a:lstStyle/>
          <a:p>
            <a:pPr>
              <a:spcAft>
                <a:spcPts val="300"/>
              </a:spcAft>
            </a:pPr>
            <a:r>
              <a:rPr sz="1200" b="0" i="0">
                <a:solidFill>
                  <a:srgbClr val="243140"/>
                </a:solidFill>
                <a:latin typeface="Calibri"/>
              </a:rPr>
              <a:t>All five classes represented in volume.</a:t>
            </a:r>
          </a:p>
          <a:p>
            <a:pPr>
              <a:spcAft>
                <a:spcPts val="300"/>
              </a:spcAft>
            </a:pPr>
            <a:r>
              <a:rPr sz="1200" b="0" i="0">
                <a:solidFill>
                  <a:srgbClr val="243140"/>
                </a:solidFill>
                <a:latin typeface="Calibri"/>
              </a:rPr>
              <a:t>A written classification guide applied consistently across reviewers.</a:t>
            </a:r>
          </a:p>
          <a:p>
            <a:pPr>
              <a:spcAft>
                <a:spcPts val="300"/>
              </a:spcAft>
            </a:pPr>
            <a:r>
              <a:rPr sz="1200" b="0" i="0">
                <a:solidFill>
                  <a:srgbClr val="243140"/>
                </a:solidFill>
                <a:latin typeface="Calibri"/>
              </a:rPr>
              <a:t>Dataset built from reviewed cases only.</a:t>
            </a:r>
          </a:p>
        </p:txBody>
      </p:sp>
      <p:sp>
        <p:nvSpPr>
          <p:cNvPr id="28" name="TextBox 27"/>
          <p:cNvSpPr txBox="1"/>
          <p:nvPr/>
        </p:nvSpPr>
        <p:spPr>
          <a:xfrm>
            <a:off x="438912" y="6492240"/>
            <a:ext cx="5486400" cy="237744"/>
          </a:xfrm>
          <a:prstGeom prst="rect">
            <a:avLst/>
          </a:prstGeom>
          <a:noFill/>
        </p:spPr>
        <p:txBody>
          <a:bodyPr wrap="square" lIns="0" rIns="0" tIns="0" bIns="0" anchor="t"/>
          <a:lstStyle/>
          <a:p>
            <a:pPr algn="l"/>
            <a:r>
              <a:rPr sz="1000" b="1" i="0">
                <a:solidFill>
                  <a:srgbClr val="5C6874"/>
                </a:solidFill>
                <a:latin typeface="Calibri"/>
              </a:rPr>
              <a:t>MANTIS  |  Maritime Intelligence &amp; Intercept System</a:t>
            </a:r>
          </a:p>
        </p:txBody>
      </p:sp>
      <p:sp>
        <p:nvSpPr>
          <p:cNvPr id="29" name="TextBox 28"/>
          <p:cNvSpPr txBox="1"/>
          <p:nvPr/>
        </p:nvSpPr>
        <p:spPr>
          <a:xfrm>
            <a:off x="4754880" y="6492240"/>
            <a:ext cx="2743200" cy="237744"/>
          </a:xfrm>
          <a:prstGeom prst="rect">
            <a:avLst/>
          </a:prstGeom>
          <a:noFill/>
        </p:spPr>
        <p:txBody>
          <a:bodyPr wrap="square" lIns="0" rIns="0" tIns="0" bIns="0" anchor="t"/>
          <a:lstStyle/>
          <a:p>
            <a:pPr algn="ctr"/>
            <a:r>
              <a:rPr sz="1000" b="0" i="0">
                <a:solidFill>
                  <a:srgbClr val="5C6874"/>
                </a:solidFill>
                <a:latin typeface="Calibri"/>
              </a:rPr>
              <a:t>October 2026</a:t>
            </a:r>
          </a:p>
        </p:txBody>
      </p:sp>
      <p:sp>
        <p:nvSpPr>
          <p:cNvPr id="30" name="TextBox 29"/>
          <p:cNvSpPr txBox="1"/>
          <p:nvPr/>
        </p:nvSpPr>
        <p:spPr>
          <a:xfrm>
            <a:off x="10332720" y="6492240"/>
            <a:ext cx="1417320" cy="237744"/>
          </a:xfrm>
          <a:prstGeom prst="rect">
            <a:avLst/>
          </a:prstGeom>
          <a:noFill/>
        </p:spPr>
        <p:txBody>
          <a:bodyPr wrap="square" lIns="0" rIns="0" tIns="0" bIns="0" anchor="t"/>
          <a:lstStyle/>
          <a:p>
            <a:pPr algn="r"/>
            <a:r>
              <a:rPr sz="1000" b="0" i="0">
                <a:solidFill>
                  <a:srgbClr val="5C6874"/>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1FA7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97280"/>
            <a:ext cx="10058400" cy="274320"/>
          </a:xfrm>
          <a:prstGeom prst="rect">
            <a:avLst/>
          </a:prstGeom>
          <a:noFill/>
        </p:spPr>
        <p:txBody>
          <a:bodyPr wrap="square" lIns="0" rIns="0" tIns="0" bIns="0" anchor="t"/>
          <a:lstStyle/>
          <a:p>
            <a:pPr algn="l"/>
            <a:r>
              <a:rPr sz="1300" b="1" i="0">
                <a:solidFill>
                  <a:srgbClr val="1FA7B8"/>
                </a:solidFill>
                <a:latin typeface="Calibri"/>
              </a:rPr>
              <a:t>SUMMARY</a:t>
            </a:r>
          </a:p>
        </p:txBody>
      </p:sp>
      <p:sp>
        <p:nvSpPr>
          <p:cNvPr id="5" name="TextBox 4"/>
          <p:cNvSpPr txBox="1"/>
          <p:nvPr/>
        </p:nvSpPr>
        <p:spPr>
          <a:xfrm>
            <a:off x="621792" y="1463040"/>
            <a:ext cx="10515600" cy="1371600"/>
          </a:xfrm>
          <a:prstGeom prst="rect">
            <a:avLst/>
          </a:prstGeom>
          <a:noFill/>
        </p:spPr>
        <p:txBody>
          <a:bodyPr wrap="square" lIns="0" rIns="0" tIns="0" bIns="0" anchor="t"/>
          <a:lstStyle/>
          <a:p>
            <a:pPr algn="l"/>
            <a:r>
              <a:rPr sz="3600" b="1" i="0">
                <a:solidFill>
                  <a:srgbClr val="FFFFFF"/>
                </a:solidFill>
                <a:latin typeface="Calibri"/>
              </a:rPr>
              <a:t>Current phase:</a:t>
            </a:r>
            <a:br/>
            <a:r>
              <a:rPr sz="3600" b="1" i="0">
                <a:solidFill>
                  <a:srgbClr val="FFFFFF"/>
                </a:solidFill>
                <a:latin typeface="Calibri"/>
              </a:rPr>
              <a:t>data collection and validation</a:t>
            </a:r>
          </a:p>
        </p:txBody>
      </p:sp>
      <p:sp>
        <p:nvSpPr>
          <p:cNvPr id="6" name="TextBox 5"/>
          <p:cNvSpPr txBox="1"/>
          <p:nvPr/>
        </p:nvSpPr>
        <p:spPr>
          <a:xfrm>
            <a:off x="640080" y="3246120"/>
            <a:ext cx="10424160" cy="2194560"/>
          </a:xfrm>
          <a:prstGeom prst="rect">
            <a:avLst/>
          </a:prstGeom>
          <a:noFill/>
        </p:spPr>
        <p:txBody>
          <a:bodyPr wrap="square" lIns="0" rIns="0" tIns="0" bIns="0"/>
          <a:lstStyle/>
          <a:p>
            <a:pPr>
              <a:spcAft>
                <a:spcPts val="1000"/>
              </a:spcAft>
            </a:pPr>
            <a:r>
              <a:rPr sz="1600" b="0" i="0">
                <a:solidFill>
                  <a:srgbClr val="D5E0E8"/>
                </a:solidFill>
                <a:latin typeface="Calibri"/>
              </a:rPr>
              <a:t>MANTIS is in production across six analytics modules, with sanctions screening applied to every result.</a:t>
            </a:r>
          </a:p>
          <a:p>
            <a:pPr>
              <a:spcAft>
                <a:spcPts val="1000"/>
              </a:spcAft>
            </a:pPr>
            <a:r>
              <a:rPr sz="1600" b="0" i="0">
                <a:solidFill>
                  <a:srgbClr val="D5E0E8"/>
                </a:solidFill>
                <a:latin typeface="Calibri"/>
              </a:rPr>
              <a:t>Each STS observation is enriched with the outputs of the other modules. Cases that remain unexplained are raised for analyst review, and the analyst's classification is stored with the case.</a:t>
            </a:r>
          </a:p>
          <a:p>
            <a:pPr>
              <a:spcAft>
                <a:spcPts val="1000"/>
              </a:spcAft>
            </a:pPr>
            <a:r>
              <a:rPr sz="1600" b="0" i="0">
                <a:solidFill>
                  <a:srgbClr val="D5E0E8"/>
                </a:solidFill>
                <a:latin typeface="Calibri"/>
              </a:rPr>
              <a:t>Those classifications are the ground truth for the machine-learning phase. A model trained only on rule-based alerts would reproduce the existing rules, so model development begins once the reviewed dataset meets the phase 3 conditions.</a:t>
            </a:r>
          </a:p>
        </p:txBody>
      </p:sp>
      <p:sp>
        <p:nvSpPr>
          <p:cNvPr id="7" name="Rectangle 6"/>
          <p:cNvSpPr/>
          <p:nvPr/>
        </p:nvSpPr>
        <p:spPr>
          <a:xfrm>
            <a:off x="640080" y="5669280"/>
            <a:ext cx="12801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6492240"/>
            <a:ext cx="5486400" cy="237744"/>
          </a:xfrm>
          <a:prstGeom prst="rect">
            <a:avLst/>
          </a:prstGeom>
          <a:noFill/>
        </p:spPr>
        <p:txBody>
          <a:bodyPr wrap="square" lIns="0" rIns="0" tIns="0" bIns="0" anchor="t"/>
          <a:lstStyle/>
          <a:p>
            <a:pPr algn="l"/>
            <a:r>
              <a:rPr sz="1000" b="1" i="0">
                <a:solidFill>
                  <a:srgbClr val="8A97A3"/>
                </a:solidFill>
                <a:latin typeface="Calibri"/>
              </a:rPr>
              <a:t>MANTIS  |  Maritime Intelligence &amp; Intercept System</a:t>
            </a:r>
          </a:p>
        </p:txBody>
      </p:sp>
      <p:sp>
        <p:nvSpPr>
          <p:cNvPr id="9" name="TextBox 8"/>
          <p:cNvSpPr txBox="1"/>
          <p:nvPr/>
        </p:nvSpPr>
        <p:spPr>
          <a:xfrm>
            <a:off x="4754880" y="6492240"/>
            <a:ext cx="2743200" cy="237744"/>
          </a:xfrm>
          <a:prstGeom prst="rect">
            <a:avLst/>
          </a:prstGeom>
          <a:noFill/>
        </p:spPr>
        <p:txBody>
          <a:bodyPr wrap="square" lIns="0" rIns="0" tIns="0" bIns="0" anchor="t"/>
          <a:lstStyle/>
          <a:p>
            <a:pPr algn="ctr"/>
            <a:r>
              <a:rPr sz="1000" b="0" i="0">
                <a:solidFill>
                  <a:srgbClr val="8A97A3"/>
                </a:solidFill>
                <a:latin typeface="Calibri"/>
              </a:rPr>
              <a:t>October 2026</a:t>
            </a:r>
          </a:p>
        </p:txBody>
      </p:sp>
      <p:sp>
        <p:nvSpPr>
          <p:cNvPr id="10" name="TextBox 9"/>
          <p:cNvSpPr txBox="1"/>
          <p:nvPr/>
        </p:nvSpPr>
        <p:spPr>
          <a:xfrm>
            <a:off x="10332720" y="6492240"/>
            <a:ext cx="1417320" cy="237744"/>
          </a:xfrm>
          <a:prstGeom prst="rect">
            <a:avLst/>
          </a:prstGeom>
          <a:noFill/>
        </p:spPr>
        <p:txBody>
          <a:bodyPr wrap="square" lIns="0" rIns="0" tIns="0" bIns="0" anchor="t"/>
          <a:lstStyle/>
          <a:p>
            <a:pPr algn="r"/>
            <a:r>
              <a:rPr sz="1000" b="0" i="0">
                <a:solidFill>
                  <a:srgbClr val="8A97A3"/>
                </a:solidFill>
                <a:latin typeface="Calibri"/>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MANTIS - Maritime Intelligence &amp; Intercept System</dc:title>
  <dc:subject>Platform architecture, analytics modules and data roadmap</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